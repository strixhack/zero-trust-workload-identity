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1" r:id="rId29"/>
    <p:sldId id="275" r:id="rId21"/>
    <p:sldId id="282" r:id="rId30"/>
    <p:sldId id="283" r:id="rId3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3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C7293"/>
          </a:solidFill>
          <a:ln/>
        </p:spPr>
      </p:sp>
      <p:pic>
        <p:nvPicPr>
          <p:cNvPr id="3" name="Image 0" descr="preencoded.png"/>
          <p:cNvPicPr>
            <a:picLocks noChangeAspect="1"/>
          </p:cNvPicPr>
          <p:nvPr/>
        </p:nvPicPr>
        <p:blipFill>
          <a:blip r:embed="rId1"/>
          <a:stretch>
            <a:fillRect/>
          </a:stretch>
        </p:blipFill>
        <p:spPr>
          <a:xfrm>
            <a:off x="502920" y="457200"/>
            <a:ext cx="1005840" cy="1005840"/>
          </a:xfrm>
          <a:prstGeom prst="rect">
            <a:avLst/>
          </a:prstGeom>
        </p:spPr>
      </p:pic>
      <p:sp>
        <p:nvSpPr>
          <p:cNvPr id="4" name="Text 1"/>
          <p:cNvSpPr/>
          <p:nvPr/>
        </p:nvSpPr>
        <p:spPr>
          <a:xfrm>
            <a:off x="365760" y="1554480"/>
            <a:ext cx="8412480" cy="1280160"/>
          </a:xfrm>
          <a:prstGeom prst="rect">
            <a:avLst/>
          </a:prstGeom>
          <a:noFill/>
          <a:ln/>
        </p:spPr>
        <p:txBody>
          <a:bodyPr wrap="square" lIns="0" tIns="0" rIns="0" bIns="0" rtlCol="0" anchor="ctr"/>
          <a:lstStyle/>
          <a:p>
            <a:pPr algn="l" indent="0" marL="0">
              <a:buNone/>
            </a:pPr>
            <a:r>
              <a:rPr lang="en-US" sz="3800" b="1" dirty="0">
                <a:solidFill>
                  <a:srgbClr val="FFFFFF"/>
                </a:solidFill>
                <a:latin typeface="Calibri" pitchFamily="34" charset="0"/>
                <a:ea typeface="Calibri" pitchFamily="34" charset="-122"/>
                <a:cs typeface="Calibri" pitchFamily="34" charset="-120"/>
              </a:rPr>
              <a:t>Zero Trust Beyond BeyondCorp</a:t>
            </a:r>
            <a:endParaRPr lang="en-US" sz="3800" dirty="0"/>
          </a:p>
        </p:txBody>
      </p:sp>
      <p:sp>
        <p:nvSpPr>
          <p:cNvPr id="5" name="Text 2"/>
          <p:cNvSpPr/>
          <p:nvPr/>
        </p:nvSpPr>
        <p:spPr>
          <a:xfrm>
            <a:off x="365760" y="2834640"/>
            <a:ext cx="8412480" cy="502920"/>
          </a:xfrm>
          <a:prstGeom prst="rect">
            <a:avLst/>
          </a:prstGeom>
          <a:noFill/>
          <a:ln/>
        </p:spPr>
        <p:txBody>
          <a:bodyPr wrap="square" lIns="0" tIns="0" rIns="0" bIns="0" rtlCol="0" anchor="ctr"/>
          <a:lstStyle/>
          <a:p>
            <a:pPr algn="l" indent="0" marL="0">
              <a:buNone/>
            </a:pPr>
            <a:r>
              <a:rPr lang="en-US" sz="1800" dirty="0">
                <a:solidFill>
                  <a:srgbClr val="9ECAE1"/>
                </a:solidFill>
                <a:latin typeface="Calibri" pitchFamily="34" charset="0"/>
                <a:ea typeface="Calibri" pitchFamily="34" charset="-122"/>
                <a:cs typeface="Calibri" pitchFamily="34" charset="-120"/>
              </a:rPr>
              <a:t>Identity-Aware Workload-to-Workload Communication</a:t>
            </a:r>
            <a:endParaRPr lang="en-US" sz="1800" dirty="0"/>
          </a:p>
        </p:txBody>
      </p:sp>
      <p:sp>
        <p:nvSpPr>
          <p:cNvPr id="6" name="Text 3"/>
          <p:cNvSpPr/>
          <p:nvPr/>
        </p:nvSpPr>
        <p:spPr>
          <a:xfrm>
            <a:off x="365760" y="3337560"/>
            <a:ext cx="8412480" cy="365760"/>
          </a:xfrm>
          <a:prstGeom prst="rect">
            <a:avLst/>
          </a:prstGeom>
          <a:noFill/>
          <a:ln/>
        </p:spPr>
        <p:txBody>
          <a:bodyPr wrap="square" lIns="0" tIns="0" rIns="0" bIns="0" rtlCol="0" anchor="ctr"/>
          <a:lstStyle/>
          <a:p>
            <a:pPr algn="l" indent="0" marL="0">
              <a:buNone/>
            </a:pPr>
            <a:r>
              <a:rPr lang="en-US" sz="1300" dirty="0">
                <a:solidFill>
                  <a:srgbClr val="6EA8C0"/>
                </a:solidFill>
                <a:latin typeface="Calibri" pitchFamily="34" charset="0"/>
                <a:ea typeface="Calibri" pitchFamily="34" charset="-122"/>
                <a:cs typeface="Calibri" pitchFamily="34" charset="-120"/>
              </a:rPr>
              <a:t>SPIFFE/SPIRE · Workload Identity Federation · Service Mesh Security</a:t>
            </a:r>
            <a:endParaRPr lang="en-US" sz="1300" dirty="0"/>
          </a:p>
        </p:txBody>
      </p:sp>
      <p:sp>
        <p:nvSpPr>
          <p:cNvPr id="7" name="Text 4"/>
          <p:cNvSpPr/>
          <p:nvPr/>
        </p:nvSpPr>
        <p:spPr>
          <a:xfrm>
            <a:off x="365760" y="4526280"/>
            <a:ext cx="8412480" cy="320040"/>
          </a:xfrm>
          <a:prstGeom prst="rect">
            <a:avLst/>
          </a:prstGeom>
          <a:noFill/>
          <a:ln/>
        </p:spPr>
        <p:txBody>
          <a:bodyPr wrap="square" lIns="0" tIns="0" rIns="0" bIns="0" rtlCol="0" anchor="ctr"/>
          <a:lstStyle/>
          <a:p>
            <a:pPr algn="l" indent="0" marL="0">
              <a:buNone/>
            </a:pPr>
            <a:r>
              <a:rPr lang="en-US" sz="1100" dirty="0">
                <a:solidFill>
                  <a:srgbClr val="4A7A94"/>
                </a:solidFill>
                <a:latin typeface="Calibri" pitchFamily="34" charset="0"/>
                <a:ea typeface="Calibri" pitchFamily="34" charset="-122"/>
                <a:cs typeface="Calibri" pitchFamily="34" charset="-120"/>
              </a:rPr>
              <a:t>Master's Theoretical Presentation  ·  Security Faculty</a:t>
            </a:r>
            <a:endParaRPr lang="en-US" sz="1100" dirty="0"/>
          </a:p>
        </p:txBody>
      </p:sp>
      <p:sp>
        <p:nvSpPr>
          <p:cNvPr id="8" name="Shape 5"/>
          <p:cNvSpPr/>
          <p:nvPr/>
        </p:nvSpPr>
        <p:spPr>
          <a:xfrm>
            <a:off x="7315200" y="-457200"/>
            <a:ext cx="2560320" cy="2560320"/>
          </a:xfrm>
          <a:prstGeom prst="ellipse">
            <a:avLst/>
          </a:prstGeom>
          <a:solidFill>
            <a:srgbClr val="065A82">
              <a:alpha val="25000"/>
            </a:srgbClr>
          </a:solidFill>
          <a:ln/>
        </p:spPr>
      </p:sp>
      <p:sp>
        <p:nvSpPr>
          <p:cNvPr id="9" name="Shape 6"/>
          <p:cNvSpPr/>
          <p:nvPr/>
        </p:nvSpPr>
        <p:spPr>
          <a:xfrm>
            <a:off x="7772400" y="731520"/>
            <a:ext cx="1645920" cy="1645920"/>
          </a:xfrm>
          <a:prstGeom prst="ellipse">
            <a:avLst/>
          </a:prstGeom>
          <a:solidFill>
            <a:srgbClr val="1C7293">
              <a:alpha val="3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indent="0" marL="0">
              <a:buNone/>
            </a:pPr>
            <a:r>
              <a:rPr lang="en-US" sz="3000" b="1" dirty="0">
                <a:solidFill>
                  <a:srgbClr val="0B1E3F"/>
                </a:solidFill>
                <a:latin typeface="Calibri" pitchFamily="34" charset="0"/>
                <a:ea typeface="Calibri" pitchFamily="34" charset="-122"/>
                <a:cs typeface="Calibri" pitchFamily="34" charset="-120"/>
              </a:rPr>
              <a:t>Presentation Roadmap</a:t>
            </a:r>
            <a:endParaRPr lang="en-US" sz="3000" dirty="0"/>
          </a:p>
        </p:txBody>
      </p:sp>
      <p:sp>
        <p:nvSpPr>
          <p:cNvPr id="3" name="Text 1"/>
          <p:cNvSpPr/>
          <p:nvPr/>
        </p:nvSpPr>
        <p:spPr>
          <a:xfrm>
            <a:off x="457200" y="777240"/>
            <a:ext cx="8229600" cy="27432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40 minutes  ·  25 slides</a:t>
            </a:r>
            <a:endParaRPr lang="en-US" sz="1300" dirty="0"/>
          </a:p>
        </p:txBody>
      </p:sp>
      <p:sp>
        <p:nvSpPr>
          <p:cNvPr id="4" name="Shape 2"/>
          <p:cNvSpPr/>
          <p:nvPr/>
        </p:nvSpPr>
        <p:spPr>
          <a:xfrm>
            <a:off x="320040" y="1234440"/>
            <a:ext cx="2651760" cy="1005840"/>
          </a:xfrm>
          <a:prstGeom prst="rect">
            <a:avLst/>
          </a:prstGeom>
          <a:solidFill>
            <a:srgbClr val="0B1E3F"/>
          </a:solidFill>
          <a:ln/>
          <a:effectLst>
            <a:outerShdw sx="100000" sy="100000" kx="0" ky="0" algn="bl" rotWithShape="0" blurRad="101600" dist="38100" dir="8100000">
              <a:srgbClr val="000000">
                <a:alpha val="12000"/>
              </a:srgbClr>
            </a:outerShdw>
          </a:effectLst>
        </p:spPr>
      </p:sp>
      <p:pic>
        <p:nvPicPr>
          <p:cNvPr id="5" name="Image 0" descr="preencoded.png"/>
          <p:cNvPicPr>
            <a:picLocks noChangeAspect="1"/>
          </p:cNvPicPr>
          <p:nvPr/>
        </p:nvPicPr>
        <p:blipFill>
          <a:blip r:embed="rId1"/>
          <a:stretch>
            <a:fillRect/>
          </a:stretch>
        </p:blipFill>
        <p:spPr>
          <a:xfrm>
            <a:off x="429768" y="1490472"/>
            <a:ext cx="411480" cy="411480"/>
          </a:xfrm>
          <a:prstGeom prst="rect">
            <a:avLst/>
          </a:prstGeom>
        </p:spPr>
      </p:pic>
      <p:sp>
        <p:nvSpPr>
          <p:cNvPr id="6" name="Text 3"/>
          <p:cNvSpPr/>
          <p:nvPr/>
        </p:nvSpPr>
        <p:spPr>
          <a:xfrm>
            <a:off x="868680" y="1325880"/>
            <a:ext cx="502920" cy="274320"/>
          </a:xfrm>
          <a:prstGeom prst="rect">
            <a:avLst/>
          </a:prstGeom>
          <a:noFill/>
          <a:ln/>
        </p:spPr>
        <p:txBody>
          <a:bodyPr wrap="square" lIns="0" tIns="0" rIns="0" bIns="0" rtlCol="0" anchor="ctr"/>
          <a:lstStyle/>
          <a:p>
            <a:pPr indent="0" marL="0">
              <a:buNone/>
            </a:pPr>
            <a:r>
              <a:rPr lang="en-US" sz="1000" b="1" dirty="0">
                <a:solidFill>
                  <a:srgbClr val="AAAAAA"/>
                </a:solidFill>
                <a:latin typeface="Calibri" pitchFamily="34" charset="0"/>
                <a:ea typeface="Calibri" pitchFamily="34" charset="-122"/>
                <a:cs typeface="Calibri" pitchFamily="34" charset="-120"/>
              </a:rPr>
              <a:t>01</a:t>
            </a:r>
            <a:endParaRPr lang="en-US" sz="1000" dirty="0"/>
          </a:p>
        </p:txBody>
      </p:sp>
      <p:sp>
        <p:nvSpPr>
          <p:cNvPr id="7" name="Text 4"/>
          <p:cNvSpPr/>
          <p:nvPr/>
        </p:nvSpPr>
        <p:spPr>
          <a:xfrm>
            <a:off x="868680" y="1554480"/>
            <a:ext cx="192024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Standards &amp; Context</a:t>
            </a:r>
            <a:endParaRPr lang="en-US" sz="1200" dirty="0"/>
          </a:p>
        </p:txBody>
      </p:sp>
      <p:sp>
        <p:nvSpPr>
          <p:cNvPr id="8" name="Text 5"/>
          <p:cNvSpPr/>
          <p:nvPr/>
        </p:nvSpPr>
        <p:spPr>
          <a:xfrm>
            <a:off x="868680" y="1920240"/>
            <a:ext cx="1920240" cy="237744"/>
          </a:xfrm>
          <a:prstGeom prst="rect">
            <a:avLst/>
          </a:prstGeom>
          <a:noFill/>
          <a:ln/>
        </p:spPr>
        <p:txBody>
          <a:bodyPr wrap="square" lIns="0" tIns="0" rIns="0" bIns="0" rtlCol="0" anchor="ctr"/>
          <a:lstStyle/>
          <a:p>
            <a:pPr indent="0" marL="0">
              <a:buNone/>
            </a:pPr>
            <a:r>
              <a:rPr lang="en-US" sz="1000" dirty="0">
                <a:solidFill>
                  <a:srgbClr val="CCDDEE"/>
                </a:solidFill>
                <a:latin typeface="Calibri" pitchFamily="34" charset="0"/>
                <a:ea typeface="Calibri" pitchFamily="34" charset="-122"/>
                <a:cs typeface="Calibri" pitchFamily="34" charset="-120"/>
              </a:rPr>
              <a:t>5 min</a:t>
            </a:r>
            <a:endParaRPr lang="en-US" sz="1000" dirty="0"/>
          </a:p>
        </p:txBody>
      </p:sp>
      <p:sp>
        <p:nvSpPr>
          <p:cNvPr id="9" name="Shape 6"/>
          <p:cNvSpPr/>
          <p:nvPr/>
        </p:nvSpPr>
        <p:spPr>
          <a:xfrm>
            <a:off x="3291840" y="1234440"/>
            <a:ext cx="2651760" cy="1005840"/>
          </a:xfrm>
          <a:prstGeom prst="rect">
            <a:avLst/>
          </a:prstGeom>
          <a:solidFill>
            <a:srgbClr val="0B1E3F"/>
          </a:solidFill>
          <a:ln/>
          <a:effectLst>
            <a:outerShdw sx="100000" sy="100000" kx="0" ky="0" algn="bl" rotWithShape="0" blurRad="101600" dist="38100" dir="8100000">
              <a:srgbClr val="000000">
                <a:alpha val="12000"/>
              </a:srgbClr>
            </a:outerShdw>
          </a:effectLst>
        </p:spPr>
      </p:sp>
      <p:pic>
        <p:nvPicPr>
          <p:cNvPr id="10" name="Image 1" descr="preencoded.png"/>
          <p:cNvPicPr>
            <a:picLocks noChangeAspect="1"/>
          </p:cNvPicPr>
          <p:nvPr/>
        </p:nvPicPr>
        <p:blipFill>
          <a:blip r:embed="rId2"/>
          <a:stretch>
            <a:fillRect/>
          </a:stretch>
        </p:blipFill>
        <p:spPr>
          <a:xfrm>
            <a:off x="3401568" y="1490472"/>
            <a:ext cx="411480" cy="411480"/>
          </a:xfrm>
          <a:prstGeom prst="rect">
            <a:avLst/>
          </a:prstGeom>
        </p:spPr>
      </p:pic>
      <p:sp>
        <p:nvSpPr>
          <p:cNvPr id="11" name="Text 7"/>
          <p:cNvSpPr/>
          <p:nvPr/>
        </p:nvSpPr>
        <p:spPr>
          <a:xfrm>
            <a:off x="3840480" y="1325880"/>
            <a:ext cx="502920" cy="274320"/>
          </a:xfrm>
          <a:prstGeom prst="rect">
            <a:avLst/>
          </a:prstGeom>
          <a:noFill/>
          <a:ln/>
        </p:spPr>
        <p:txBody>
          <a:bodyPr wrap="square" lIns="0" tIns="0" rIns="0" bIns="0" rtlCol="0" anchor="ctr"/>
          <a:lstStyle/>
          <a:p>
            <a:pPr indent="0" marL="0">
              <a:buNone/>
            </a:pPr>
            <a:r>
              <a:rPr lang="en-US" sz="1000" b="1" dirty="0">
                <a:solidFill>
                  <a:srgbClr val="AAAAAA"/>
                </a:solidFill>
                <a:latin typeface="Calibri" pitchFamily="34" charset="0"/>
                <a:ea typeface="Calibri" pitchFamily="34" charset="-122"/>
                <a:cs typeface="Calibri" pitchFamily="34" charset="-120"/>
              </a:rPr>
              <a:t>02</a:t>
            </a:r>
            <a:endParaRPr lang="en-US" sz="1000" dirty="0"/>
          </a:p>
        </p:txBody>
      </p:sp>
      <p:sp>
        <p:nvSpPr>
          <p:cNvPr id="12" name="Text 8"/>
          <p:cNvSpPr/>
          <p:nvPr/>
        </p:nvSpPr>
        <p:spPr>
          <a:xfrm>
            <a:off x="3840480" y="1554480"/>
            <a:ext cx="192024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BeyondCorp Limitations</a:t>
            </a:r>
            <a:endParaRPr lang="en-US" sz="1200" dirty="0"/>
          </a:p>
        </p:txBody>
      </p:sp>
      <p:sp>
        <p:nvSpPr>
          <p:cNvPr id="13" name="Text 9"/>
          <p:cNvSpPr/>
          <p:nvPr/>
        </p:nvSpPr>
        <p:spPr>
          <a:xfrm>
            <a:off x="3840480" y="1920240"/>
            <a:ext cx="1920240" cy="237744"/>
          </a:xfrm>
          <a:prstGeom prst="rect">
            <a:avLst/>
          </a:prstGeom>
          <a:noFill/>
          <a:ln/>
        </p:spPr>
        <p:txBody>
          <a:bodyPr wrap="square" lIns="0" tIns="0" rIns="0" bIns="0" rtlCol="0" anchor="ctr"/>
          <a:lstStyle/>
          <a:p>
            <a:pPr indent="0" marL="0">
              <a:buNone/>
            </a:pPr>
            <a:r>
              <a:rPr lang="en-US" sz="1000" dirty="0">
                <a:solidFill>
                  <a:srgbClr val="CCDDEE"/>
                </a:solidFill>
                <a:latin typeface="Calibri" pitchFamily="34" charset="0"/>
                <a:ea typeface="Calibri" pitchFamily="34" charset="-122"/>
                <a:cs typeface="Calibri" pitchFamily="34" charset="-120"/>
              </a:rPr>
              <a:t>4 min</a:t>
            </a:r>
            <a:endParaRPr lang="en-US" sz="1000" dirty="0"/>
          </a:p>
        </p:txBody>
      </p:sp>
      <p:sp>
        <p:nvSpPr>
          <p:cNvPr id="14" name="Shape 10"/>
          <p:cNvSpPr/>
          <p:nvPr/>
        </p:nvSpPr>
        <p:spPr>
          <a:xfrm>
            <a:off x="6263640" y="1234440"/>
            <a:ext cx="2651760" cy="1005840"/>
          </a:xfrm>
          <a:prstGeom prst="rect">
            <a:avLst/>
          </a:prstGeom>
          <a:solidFill>
            <a:srgbClr val="0B1E3F"/>
          </a:solidFill>
          <a:ln/>
          <a:effectLst>
            <a:outerShdw sx="100000" sy="100000" kx="0" ky="0" algn="bl" rotWithShape="0" blurRad="101600" dist="38100" dir="8100000">
              <a:srgbClr val="000000">
                <a:alpha val="12000"/>
              </a:srgbClr>
            </a:outerShdw>
          </a:effectLst>
        </p:spPr>
      </p:sp>
      <p:pic>
        <p:nvPicPr>
          <p:cNvPr id="15" name="Image 2" descr="preencoded.png"/>
          <p:cNvPicPr>
            <a:picLocks noChangeAspect="1"/>
          </p:cNvPicPr>
          <p:nvPr/>
        </p:nvPicPr>
        <p:blipFill>
          <a:blip r:embed="rId3"/>
          <a:stretch>
            <a:fillRect/>
          </a:stretch>
        </p:blipFill>
        <p:spPr>
          <a:xfrm>
            <a:off x="6373368" y="1490472"/>
            <a:ext cx="411480" cy="411480"/>
          </a:xfrm>
          <a:prstGeom prst="rect">
            <a:avLst/>
          </a:prstGeom>
        </p:spPr>
      </p:pic>
      <p:sp>
        <p:nvSpPr>
          <p:cNvPr id="16" name="Text 11"/>
          <p:cNvSpPr/>
          <p:nvPr/>
        </p:nvSpPr>
        <p:spPr>
          <a:xfrm>
            <a:off x="6812280" y="1325880"/>
            <a:ext cx="502920" cy="274320"/>
          </a:xfrm>
          <a:prstGeom prst="rect">
            <a:avLst/>
          </a:prstGeom>
          <a:noFill/>
          <a:ln/>
        </p:spPr>
        <p:txBody>
          <a:bodyPr wrap="square" lIns="0" tIns="0" rIns="0" bIns="0" rtlCol="0" anchor="ctr"/>
          <a:lstStyle/>
          <a:p>
            <a:pPr indent="0" marL="0">
              <a:buNone/>
            </a:pPr>
            <a:r>
              <a:rPr lang="en-US" sz="1000" b="1" dirty="0">
                <a:solidFill>
                  <a:srgbClr val="AAAAAA"/>
                </a:solidFill>
                <a:latin typeface="Calibri" pitchFamily="34" charset="0"/>
                <a:ea typeface="Calibri" pitchFamily="34" charset="-122"/>
                <a:cs typeface="Calibri" pitchFamily="34" charset="-120"/>
              </a:rPr>
              <a:t>03</a:t>
            </a:r>
            <a:endParaRPr lang="en-US" sz="1000" dirty="0"/>
          </a:p>
        </p:txBody>
      </p:sp>
      <p:sp>
        <p:nvSpPr>
          <p:cNvPr id="17" name="Text 12"/>
          <p:cNvSpPr/>
          <p:nvPr/>
        </p:nvSpPr>
        <p:spPr>
          <a:xfrm>
            <a:off x="6812280" y="1554480"/>
            <a:ext cx="192024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SPIFFE/SPIRE Primitives</a:t>
            </a:r>
            <a:endParaRPr lang="en-US" sz="1200" dirty="0"/>
          </a:p>
        </p:txBody>
      </p:sp>
      <p:sp>
        <p:nvSpPr>
          <p:cNvPr id="18" name="Text 13"/>
          <p:cNvSpPr/>
          <p:nvPr/>
        </p:nvSpPr>
        <p:spPr>
          <a:xfrm>
            <a:off x="6812280" y="1920240"/>
            <a:ext cx="1920240" cy="237744"/>
          </a:xfrm>
          <a:prstGeom prst="rect">
            <a:avLst/>
          </a:prstGeom>
          <a:noFill/>
          <a:ln/>
        </p:spPr>
        <p:txBody>
          <a:bodyPr wrap="square" lIns="0" tIns="0" rIns="0" bIns="0" rtlCol="0" anchor="ctr"/>
          <a:lstStyle/>
          <a:p>
            <a:pPr indent="0" marL="0">
              <a:buNone/>
            </a:pPr>
            <a:r>
              <a:rPr lang="en-US" sz="1000" dirty="0">
                <a:solidFill>
                  <a:srgbClr val="CCDDEE"/>
                </a:solidFill>
                <a:latin typeface="Calibri" pitchFamily="34" charset="0"/>
                <a:ea typeface="Calibri" pitchFamily="34" charset="-122"/>
                <a:cs typeface="Calibri" pitchFamily="34" charset="-120"/>
              </a:rPr>
              <a:t>6 min</a:t>
            </a:r>
            <a:endParaRPr lang="en-US" sz="1000" dirty="0"/>
          </a:p>
        </p:txBody>
      </p:sp>
      <p:sp>
        <p:nvSpPr>
          <p:cNvPr id="19" name="Shape 14"/>
          <p:cNvSpPr/>
          <p:nvPr/>
        </p:nvSpPr>
        <p:spPr>
          <a:xfrm>
            <a:off x="320040" y="2606040"/>
            <a:ext cx="2651760" cy="1005840"/>
          </a:xfrm>
          <a:prstGeom prst="rect">
            <a:avLst/>
          </a:prstGeom>
          <a:solidFill>
            <a:srgbClr val="065A82"/>
          </a:solidFill>
          <a:ln/>
          <a:effectLst>
            <a:outerShdw sx="100000" sy="100000" kx="0" ky="0" algn="bl" rotWithShape="0" blurRad="101600" dist="38100" dir="8100000">
              <a:srgbClr val="000000">
                <a:alpha val="12000"/>
              </a:srgbClr>
            </a:outerShdw>
          </a:effectLst>
        </p:spPr>
      </p:sp>
      <p:pic>
        <p:nvPicPr>
          <p:cNvPr id="20" name="Image 3" descr="preencoded.png"/>
          <p:cNvPicPr>
            <a:picLocks noChangeAspect="1"/>
          </p:cNvPicPr>
          <p:nvPr/>
        </p:nvPicPr>
        <p:blipFill>
          <a:blip r:embed="rId4"/>
          <a:stretch>
            <a:fillRect/>
          </a:stretch>
        </p:blipFill>
        <p:spPr>
          <a:xfrm>
            <a:off x="429768" y="2862072"/>
            <a:ext cx="411480" cy="411480"/>
          </a:xfrm>
          <a:prstGeom prst="rect">
            <a:avLst/>
          </a:prstGeom>
        </p:spPr>
      </p:pic>
      <p:sp>
        <p:nvSpPr>
          <p:cNvPr id="21" name="Text 15"/>
          <p:cNvSpPr/>
          <p:nvPr/>
        </p:nvSpPr>
        <p:spPr>
          <a:xfrm>
            <a:off x="868680" y="2697480"/>
            <a:ext cx="502920" cy="274320"/>
          </a:xfrm>
          <a:prstGeom prst="rect">
            <a:avLst/>
          </a:prstGeom>
          <a:noFill/>
          <a:ln/>
        </p:spPr>
        <p:txBody>
          <a:bodyPr wrap="square" lIns="0" tIns="0" rIns="0" bIns="0" rtlCol="0" anchor="ctr"/>
          <a:lstStyle/>
          <a:p>
            <a:pPr indent="0" marL="0">
              <a:buNone/>
            </a:pPr>
            <a:r>
              <a:rPr lang="en-US" sz="1000" b="1" dirty="0">
                <a:solidFill>
                  <a:srgbClr val="AAAAAA"/>
                </a:solidFill>
                <a:latin typeface="Calibri" pitchFamily="34" charset="0"/>
                <a:ea typeface="Calibri" pitchFamily="34" charset="-122"/>
                <a:cs typeface="Calibri" pitchFamily="34" charset="-120"/>
              </a:rPr>
              <a:t>04</a:t>
            </a:r>
            <a:endParaRPr lang="en-US" sz="1000" dirty="0"/>
          </a:p>
        </p:txBody>
      </p:sp>
      <p:sp>
        <p:nvSpPr>
          <p:cNvPr id="22" name="Text 16"/>
          <p:cNvSpPr/>
          <p:nvPr/>
        </p:nvSpPr>
        <p:spPr>
          <a:xfrm>
            <a:off x="868680" y="2926080"/>
            <a:ext cx="192024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Attestation &amp; SVIDs</a:t>
            </a:r>
            <a:endParaRPr lang="en-US" sz="1200" dirty="0"/>
          </a:p>
        </p:txBody>
      </p:sp>
      <p:sp>
        <p:nvSpPr>
          <p:cNvPr id="23" name="Text 17"/>
          <p:cNvSpPr/>
          <p:nvPr/>
        </p:nvSpPr>
        <p:spPr>
          <a:xfrm>
            <a:off x="868680" y="3291840"/>
            <a:ext cx="1920240" cy="237744"/>
          </a:xfrm>
          <a:prstGeom prst="rect">
            <a:avLst/>
          </a:prstGeom>
          <a:noFill/>
          <a:ln/>
        </p:spPr>
        <p:txBody>
          <a:bodyPr wrap="square" lIns="0" tIns="0" rIns="0" bIns="0" rtlCol="0" anchor="ctr"/>
          <a:lstStyle/>
          <a:p>
            <a:pPr indent="0" marL="0">
              <a:buNone/>
            </a:pPr>
            <a:r>
              <a:rPr lang="en-US" sz="1000" dirty="0">
                <a:solidFill>
                  <a:srgbClr val="CCDDEE"/>
                </a:solidFill>
                <a:latin typeface="Calibri" pitchFamily="34" charset="0"/>
                <a:ea typeface="Calibri" pitchFamily="34" charset="-122"/>
                <a:cs typeface="Calibri" pitchFamily="34" charset="-120"/>
              </a:rPr>
              <a:t>5 min</a:t>
            </a:r>
            <a:endParaRPr lang="en-US" sz="1000" dirty="0"/>
          </a:p>
        </p:txBody>
      </p:sp>
      <p:sp>
        <p:nvSpPr>
          <p:cNvPr id="24" name="Shape 18"/>
          <p:cNvSpPr/>
          <p:nvPr/>
        </p:nvSpPr>
        <p:spPr>
          <a:xfrm>
            <a:off x="3291840" y="2606040"/>
            <a:ext cx="2651760" cy="1005840"/>
          </a:xfrm>
          <a:prstGeom prst="rect">
            <a:avLst/>
          </a:prstGeom>
          <a:solidFill>
            <a:srgbClr val="065A82"/>
          </a:solidFill>
          <a:ln/>
          <a:effectLst>
            <a:outerShdw sx="100000" sy="100000" kx="0" ky="0" algn="bl" rotWithShape="0" blurRad="101600" dist="38100" dir="8100000">
              <a:srgbClr val="000000">
                <a:alpha val="12000"/>
              </a:srgbClr>
            </a:outerShdw>
          </a:effectLst>
        </p:spPr>
      </p:sp>
      <p:pic>
        <p:nvPicPr>
          <p:cNvPr id="25" name="Image 4" descr="preencoded.png"/>
          <p:cNvPicPr>
            <a:picLocks noChangeAspect="1"/>
          </p:cNvPicPr>
          <p:nvPr/>
        </p:nvPicPr>
        <p:blipFill>
          <a:blip r:embed="rId5"/>
          <a:stretch>
            <a:fillRect/>
          </a:stretch>
        </p:blipFill>
        <p:spPr>
          <a:xfrm>
            <a:off x="3401568" y="2862072"/>
            <a:ext cx="411480" cy="411480"/>
          </a:xfrm>
          <a:prstGeom prst="rect">
            <a:avLst/>
          </a:prstGeom>
        </p:spPr>
      </p:pic>
      <p:sp>
        <p:nvSpPr>
          <p:cNvPr id="26" name="Text 19"/>
          <p:cNvSpPr/>
          <p:nvPr/>
        </p:nvSpPr>
        <p:spPr>
          <a:xfrm>
            <a:off x="3840480" y="2697480"/>
            <a:ext cx="502920" cy="274320"/>
          </a:xfrm>
          <a:prstGeom prst="rect">
            <a:avLst/>
          </a:prstGeom>
          <a:noFill/>
          <a:ln/>
        </p:spPr>
        <p:txBody>
          <a:bodyPr wrap="square" lIns="0" tIns="0" rIns="0" bIns="0" rtlCol="0" anchor="ctr"/>
          <a:lstStyle/>
          <a:p>
            <a:pPr indent="0" marL="0">
              <a:buNone/>
            </a:pPr>
            <a:r>
              <a:rPr lang="en-US" sz="1000" b="1" dirty="0">
                <a:solidFill>
                  <a:srgbClr val="AAAAAA"/>
                </a:solidFill>
                <a:latin typeface="Calibri" pitchFamily="34" charset="0"/>
                <a:ea typeface="Calibri" pitchFamily="34" charset="-122"/>
                <a:cs typeface="Calibri" pitchFamily="34" charset="-120"/>
              </a:rPr>
              <a:t>05</a:t>
            </a:r>
            <a:endParaRPr lang="en-US" sz="1000" dirty="0"/>
          </a:p>
        </p:txBody>
      </p:sp>
      <p:sp>
        <p:nvSpPr>
          <p:cNvPr id="27" name="Text 20"/>
          <p:cNvSpPr/>
          <p:nvPr/>
        </p:nvSpPr>
        <p:spPr>
          <a:xfrm>
            <a:off x="3840480" y="2926080"/>
            <a:ext cx="192024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Cross-Cloud Federation</a:t>
            </a:r>
            <a:endParaRPr lang="en-US" sz="1200" dirty="0"/>
          </a:p>
        </p:txBody>
      </p:sp>
      <p:sp>
        <p:nvSpPr>
          <p:cNvPr id="28" name="Text 21"/>
          <p:cNvSpPr/>
          <p:nvPr/>
        </p:nvSpPr>
        <p:spPr>
          <a:xfrm>
            <a:off x="3840480" y="3291840"/>
            <a:ext cx="1920240" cy="237744"/>
          </a:xfrm>
          <a:prstGeom prst="rect">
            <a:avLst/>
          </a:prstGeom>
          <a:noFill/>
          <a:ln/>
        </p:spPr>
        <p:txBody>
          <a:bodyPr wrap="square" lIns="0" tIns="0" rIns="0" bIns="0" rtlCol="0" anchor="ctr"/>
          <a:lstStyle/>
          <a:p>
            <a:pPr indent="0" marL="0">
              <a:buNone/>
            </a:pPr>
            <a:r>
              <a:rPr lang="en-US" sz="1000" dirty="0">
                <a:solidFill>
                  <a:srgbClr val="CCDDEE"/>
                </a:solidFill>
                <a:latin typeface="Calibri" pitchFamily="34" charset="0"/>
                <a:ea typeface="Calibri" pitchFamily="34" charset="-122"/>
                <a:cs typeface="Calibri" pitchFamily="34" charset="-120"/>
              </a:rPr>
              <a:t>5 min</a:t>
            </a:r>
            <a:endParaRPr lang="en-US" sz="1000" dirty="0"/>
          </a:p>
        </p:txBody>
      </p:sp>
      <p:sp>
        <p:nvSpPr>
          <p:cNvPr id="29" name="Shape 22"/>
          <p:cNvSpPr/>
          <p:nvPr/>
        </p:nvSpPr>
        <p:spPr>
          <a:xfrm>
            <a:off x="6263640" y="2606040"/>
            <a:ext cx="2651760" cy="1005840"/>
          </a:xfrm>
          <a:prstGeom prst="rect">
            <a:avLst/>
          </a:prstGeom>
          <a:solidFill>
            <a:srgbClr val="065A82"/>
          </a:solidFill>
          <a:ln/>
          <a:effectLst>
            <a:outerShdw sx="100000" sy="100000" kx="0" ky="0" algn="bl" rotWithShape="0" blurRad="101600" dist="38100" dir="8100000">
              <a:srgbClr val="000000">
                <a:alpha val="12000"/>
              </a:srgbClr>
            </a:outerShdw>
          </a:effectLst>
        </p:spPr>
      </p:sp>
      <p:pic>
        <p:nvPicPr>
          <p:cNvPr id="30" name="Image 5" descr="preencoded.png"/>
          <p:cNvPicPr>
            <a:picLocks noChangeAspect="1"/>
          </p:cNvPicPr>
          <p:nvPr/>
        </p:nvPicPr>
        <p:blipFill>
          <a:blip r:embed="rId6"/>
          <a:stretch>
            <a:fillRect/>
          </a:stretch>
        </p:blipFill>
        <p:spPr>
          <a:xfrm>
            <a:off x="6373368" y="2862072"/>
            <a:ext cx="411480" cy="411480"/>
          </a:xfrm>
          <a:prstGeom prst="rect">
            <a:avLst/>
          </a:prstGeom>
        </p:spPr>
      </p:pic>
      <p:sp>
        <p:nvSpPr>
          <p:cNvPr id="31" name="Text 23"/>
          <p:cNvSpPr/>
          <p:nvPr/>
        </p:nvSpPr>
        <p:spPr>
          <a:xfrm>
            <a:off x="6812280" y="2697480"/>
            <a:ext cx="502920" cy="274320"/>
          </a:xfrm>
          <a:prstGeom prst="rect">
            <a:avLst/>
          </a:prstGeom>
          <a:noFill/>
          <a:ln/>
        </p:spPr>
        <p:txBody>
          <a:bodyPr wrap="square" lIns="0" tIns="0" rIns="0" bIns="0" rtlCol="0" anchor="ctr"/>
          <a:lstStyle/>
          <a:p>
            <a:pPr indent="0" marL="0">
              <a:buNone/>
            </a:pPr>
            <a:r>
              <a:rPr lang="en-US" sz="1000" b="1" dirty="0">
                <a:solidFill>
                  <a:srgbClr val="AAAAAA"/>
                </a:solidFill>
                <a:latin typeface="Calibri" pitchFamily="34" charset="0"/>
                <a:ea typeface="Calibri" pitchFamily="34" charset="-122"/>
                <a:cs typeface="Calibri" pitchFamily="34" charset="-120"/>
              </a:rPr>
              <a:t>06</a:t>
            </a:r>
            <a:endParaRPr lang="en-US" sz="1000" dirty="0"/>
          </a:p>
        </p:txBody>
      </p:sp>
      <p:sp>
        <p:nvSpPr>
          <p:cNvPr id="32" name="Text 24"/>
          <p:cNvSpPr/>
          <p:nvPr/>
        </p:nvSpPr>
        <p:spPr>
          <a:xfrm>
            <a:off x="6812280" y="2926080"/>
            <a:ext cx="192024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Short-Lived Credentials</a:t>
            </a:r>
            <a:endParaRPr lang="en-US" sz="1200" dirty="0"/>
          </a:p>
        </p:txBody>
      </p:sp>
      <p:sp>
        <p:nvSpPr>
          <p:cNvPr id="33" name="Text 25"/>
          <p:cNvSpPr/>
          <p:nvPr/>
        </p:nvSpPr>
        <p:spPr>
          <a:xfrm>
            <a:off x="6812280" y="3291840"/>
            <a:ext cx="1920240" cy="237744"/>
          </a:xfrm>
          <a:prstGeom prst="rect">
            <a:avLst/>
          </a:prstGeom>
          <a:noFill/>
          <a:ln/>
        </p:spPr>
        <p:txBody>
          <a:bodyPr wrap="square" lIns="0" tIns="0" rIns="0" bIns="0" rtlCol="0" anchor="ctr"/>
          <a:lstStyle/>
          <a:p>
            <a:pPr indent="0" marL="0">
              <a:buNone/>
            </a:pPr>
            <a:r>
              <a:rPr lang="en-US" sz="1000" dirty="0">
                <a:solidFill>
                  <a:srgbClr val="CCDDEE"/>
                </a:solidFill>
                <a:latin typeface="Calibri" pitchFamily="34" charset="0"/>
                <a:ea typeface="Calibri" pitchFamily="34" charset="-122"/>
                <a:cs typeface="Calibri" pitchFamily="34" charset="-120"/>
              </a:rPr>
              <a:t>4 min</a:t>
            </a:r>
            <a:endParaRPr lang="en-US" sz="1000" dirty="0"/>
          </a:p>
        </p:txBody>
      </p:sp>
      <p:sp>
        <p:nvSpPr>
          <p:cNvPr id="34" name="Shape 26"/>
          <p:cNvSpPr/>
          <p:nvPr/>
        </p:nvSpPr>
        <p:spPr>
          <a:xfrm>
            <a:off x="320040" y="3977640"/>
            <a:ext cx="2651760" cy="1005840"/>
          </a:xfrm>
          <a:prstGeom prst="rect">
            <a:avLst/>
          </a:prstGeom>
          <a:solidFill>
            <a:srgbClr val="E63946"/>
          </a:solidFill>
          <a:ln/>
          <a:effectLst>
            <a:outerShdw sx="100000" sy="100000" kx="0" ky="0" algn="bl" rotWithShape="0" blurRad="101600" dist="38100" dir="8100000">
              <a:srgbClr val="000000">
                <a:alpha val="12000"/>
              </a:srgbClr>
            </a:outerShdw>
          </a:effectLst>
        </p:spPr>
      </p:sp>
      <p:pic>
        <p:nvPicPr>
          <p:cNvPr id="35" name="Image 6" descr="preencoded.png"/>
          <p:cNvPicPr>
            <a:picLocks noChangeAspect="1"/>
          </p:cNvPicPr>
          <p:nvPr/>
        </p:nvPicPr>
        <p:blipFill>
          <a:blip r:embed="rId7"/>
          <a:stretch>
            <a:fillRect/>
          </a:stretch>
        </p:blipFill>
        <p:spPr>
          <a:xfrm>
            <a:off x="429768" y="4233672"/>
            <a:ext cx="411480" cy="411480"/>
          </a:xfrm>
          <a:prstGeom prst="rect">
            <a:avLst/>
          </a:prstGeom>
        </p:spPr>
      </p:pic>
      <p:sp>
        <p:nvSpPr>
          <p:cNvPr id="36" name="Text 27"/>
          <p:cNvSpPr/>
          <p:nvPr/>
        </p:nvSpPr>
        <p:spPr>
          <a:xfrm>
            <a:off x="868680" y="4069080"/>
            <a:ext cx="502920" cy="274320"/>
          </a:xfrm>
          <a:prstGeom prst="rect">
            <a:avLst/>
          </a:prstGeom>
          <a:noFill/>
          <a:ln/>
        </p:spPr>
        <p:txBody>
          <a:bodyPr wrap="square" lIns="0" tIns="0" rIns="0" bIns="0" rtlCol="0" anchor="ctr"/>
          <a:lstStyle/>
          <a:p>
            <a:pPr indent="0" marL="0">
              <a:buNone/>
            </a:pPr>
            <a:r>
              <a:rPr lang="en-US" sz="1000" b="1" dirty="0">
                <a:solidFill>
                  <a:srgbClr val="AAAAAA"/>
                </a:solidFill>
                <a:latin typeface="Calibri" pitchFamily="34" charset="0"/>
                <a:ea typeface="Calibri" pitchFamily="34" charset="-122"/>
                <a:cs typeface="Calibri" pitchFamily="34" charset="-120"/>
              </a:rPr>
              <a:t>07</a:t>
            </a:r>
            <a:endParaRPr lang="en-US" sz="1000" dirty="0"/>
          </a:p>
        </p:txBody>
      </p:sp>
      <p:sp>
        <p:nvSpPr>
          <p:cNvPr id="37" name="Text 28"/>
          <p:cNvSpPr/>
          <p:nvPr/>
        </p:nvSpPr>
        <p:spPr>
          <a:xfrm>
            <a:off x="868680" y="4297680"/>
            <a:ext cx="192024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Failure Modes</a:t>
            </a:r>
            <a:endParaRPr lang="en-US" sz="1200" dirty="0"/>
          </a:p>
        </p:txBody>
      </p:sp>
      <p:sp>
        <p:nvSpPr>
          <p:cNvPr id="38" name="Text 29"/>
          <p:cNvSpPr/>
          <p:nvPr/>
        </p:nvSpPr>
        <p:spPr>
          <a:xfrm>
            <a:off x="868680" y="4663440"/>
            <a:ext cx="1920240" cy="237744"/>
          </a:xfrm>
          <a:prstGeom prst="rect">
            <a:avLst/>
          </a:prstGeom>
          <a:noFill/>
          <a:ln/>
        </p:spPr>
        <p:txBody>
          <a:bodyPr wrap="square" lIns="0" tIns="0" rIns="0" bIns="0" rtlCol="0" anchor="ctr"/>
          <a:lstStyle/>
          <a:p>
            <a:pPr indent="0" marL="0">
              <a:buNone/>
            </a:pPr>
            <a:r>
              <a:rPr lang="en-US" sz="1000" dirty="0">
                <a:solidFill>
                  <a:srgbClr val="CCDDEE"/>
                </a:solidFill>
                <a:latin typeface="Calibri" pitchFamily="34" charset="0"/>
                <a:ea typeface="Calibri" pitchFamily="34" charset="-122"/>
                <a:cs typeface="Calibri" pitchFamily="34" charset="-120"/>
              </a:rPr>
              <a:t>6 min</a:t>
            </a:r>
            <a:endParaRPr lang="en-US" sz="1000" dirty="0"/>
          </a:p>
        </p:txBody>
      </p:sp>
      <p:sp>
        <p:nvSpPr>
          <p:cNvPr id="39" name="Shape 30"/>
          <p:cNvSpPr/>
          <p:nvPr/>
        </p:nvSpPr>
        <p:spPr>
          <a:xfrm>
            <a:off x="3291840" y="3977640"/>
            <a:ext cx="2651760" cy="1005840"/>
          </a:xfrm>
          <a:prstGeom prst="rect">
            <a:avLst/>
          </a:prstGeom>
          <a:solidFill>
            <a:srgbClr val="1C7293"/>
          </a:solidFill>
          <a:ln/>
          <a:effectLst>
            <a:outerShdw sx="100000" sy="100000" kx="0" ky="0" algn="bl" rotWithShape="0" blurRad="101600" dist="38100" dir="8100000">
              <a:srgbClr val="000000">
                <a:alpha val="12000"/>
              </a:srgbClr>
            </a:outerShdw>
          </a:effectLst>
        </p:spPr>
      </p:sp>
      <p:pic>
        <p:nvPicPr>
          <p:cNvPr id="40" name="Image 7" descr="preencoded.png"/>
          <p:cNvPicPr>
            <a:picLocks noChangeAspect="1"/>
          </p:cNvPicPr>
          <p:nvPr/>
        </p:nvPicPr>
        <p:blipFill>
          <a:blip r:embed="rId8"/>
          <a:stretch>
            <a:fillRect/>
          </a:stretch>
        </p:blipFill>
        <p:spPr>
          <a:xfrm>
            <a:off x="3401568" y="4233672"/>
            <a:ext cx="411480" cy="411480"/>
          </a:xfrm>
          <a:prstGeom prst="rect">
            <a:avLst/>
          </a:prstGeom>
        </p:spPr>
      </p:pic>
      <p:sp>
        <p:nvSpPr>
          <p:cNvPr id="41" name="Text 31"/>
          <p:cNvSpPr/>
          <p:nvPr/>
        </p:nvSpPr>
        <p:spPr>
          <a:xfrm>
            <a:off x="3840480" y="4069080"/>
            <a:ext cx="502920" cy="274320"/>
          </a:xfrm>
          <a:prstGeom prst="rect">
            <a:avLst/>
          </a:prstGeom>
          <a:noFill/>
          <a:ln/>
        </p:spPr>
        <p:txBody>
          <a:bodyPr wrap="square" lIns="0" tIns="0" rIns="0" bIns="0" rtlCol="0" anchor="ctr"/>
          <a:lstStyle/>
          <a:p>
            <a:pPr indent="0" marL="0">
              <a:buNone/>
            </a:pPr>
            <a:r>
              <a:rPr lang="en-US" sz="1000" b="1" dirty="0">
                <a:solidFill>
                  <a:srgbClr val="AAAAAA"/>
                </a:solidFill>
                <a:latin typeface="Calibri" pitchFamily="34" charset="0"/>
                <a:ea typeface="Calibri" pitchFamily="34" charset="-122"/>
                <a:cs typeface="Calibri" pitchFamily="34" charset="-120"/>
              </a:rPr>
              <a:t>08</a:t>
            </a:r>
            <a:endParaRPr lang="en-US" sz="1000" dirty="0"/>
          </a:p>
        </p:txBody>
      </p:sp>
      <p:sp>
        <p:nvSpPr>
          <p:cNvPr id="42" name="Text 32"/>
          <p:cNvSpPr/>
          <p:nvPr/>
        </p:nvSpPr>
        <p:spPr>
          <a:xfrm>
            <a:off x="3840480" y="4297680"/>
            <a:ext cx="192024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Literature &amp; Research Gap</a:t>
            </a:r>
            <a:endParaRPr lang="en-US" sz="1200" dirty="0"/>
          </a:p>
        </p:txBody>
      </p:sp>
      <p:sp>
        <p:nvSpPr>
          <p:cNvPr id="43" name="Text 33"/>
          <p:cNvSpPr/>
          <p:nvPr/>
        </p:nvSpPr>
        <p:spPr>
          <a:xfrm>
            <a:off x="3840480" y="4663440"/>
            <a:ext cx="1920240" cy="237744"/>
          </a:xfrm>
          <a:prstGeom prst="rect">
            <a:avLst/>
          </a:prstGeom>
          <a:noFill/>
          <a:ln/>
        </p:spPr>
        <p:txBody>
          <a:bodyPr wrap="square" lIns="0" tIns="0" rIns="0" bIns="0" rtlCol="0" anchor="ctr"/>
          <a:lstStyle/>
          <a:p>
            <a:pPr indent="0" marL="0">
              <a:buNone/>
            </a:pPr>
            <a:r>
              <a:rPr lang="en-US" sz="1000" dirty="0">
                <a:solidFill>
                  <a:srgbClr val="CCDDEE"/>
                </a:solidFill>
                <a:latin typeface="Calibri" pitchFamily="34" charset="0"/>
                <a:ea typeface="Calibri" pitchFamily="34" charset="-122"/>
                <a:cs typeface="Calibri" pitchFamily="34" charset="-120"/>
              </a:rPr>
              <a:t>3 min</a:t>
            </a:r>
            <a:endParaRPr lang="en-US" sz="1000" dirty="0"/>
          </a:p>
        </p:txBody>
      </p:sp>
      <p:sp>
        <p:nvSpPr>
          <p:cNvPr id="44" name="Shape 34"/>
          <p:cNvSpPr/>
          <p:nvPr/>
        </p:nvSpPr>
        <p:spPr>
          <a:xfrm>
            <a:off x="6263640" y="3977640"/>
            <a:ext cx="2651760" cy="1005840"/>
          </a:xfrm>
          <a:prstGeom prst="rect">
            <a:avLst/>
          </a:prstGeom>
          <a:solidFill>
            <a:srgbClr val="1C7293"/>
          </a:solidFill>
          <a:ln/>
          <a:effectLst>
            <a:outerShdw sx="100000" sy="100000" kx="0" ky="0" algn="bl" rotWithShape="0" blurRad="101600" dist="38100" dir="8100000">
              <a:srgbClr val="000000">
                <a:alpha val="12000"/>
              </a:srgbClr>
            </a:outerShdw>
          </a:effectLst>
        </p:spPr>
      </p:sp>
      <p:pic>
        <p:nvPicPr>
          <p:cNvPr id="45" name="Image 8" descr="preencoded.png"/>
          <p:cNvPicPr>
            <a:picLocks noChangeAspect="1"/>
          </p:cNvPicPr>
          <p:nvPr/>
        </p:nvPicPr>
        <p:blipFill>
          <a:blip r:embed="rId9"/>
          <a:stretch>
            <a:fillRect/>
          </a:stretch>
        </p:blipFill>
        <p:spPr>
          <a:xfrm>
            <a:off x="6373368" y="4233672"/>
            <a:ext cx="411480" cy="411480"/>
          </a:xfrm>
          <a:prstGeom prst="rect">
            <a:avLst/>
          </a:prstGeom>
        </p:spPr>
      </p:pic>
      <p:sp>
        <p:nvSpPr>
          <p:cNvPr id="46" name="Text 35"/>
          <p:cNvSpPr/>
          <p:nvPr/>
        </p:nvSpPr>
        <p:spPr>
          <a:xfrm>
            <a:off x="6812280" y="4069080"/>
            <a:ext cx="502920" cy="274320"/>
          </a:xfrm>
          <a:prstGeom prst="rect">
            <a:avLst/>
          </a:prstGeom>
          <a:noFill/>
          <a:ln/>
        </p:spPr>
        <p:txBody>
          <a:bodyPr wrap="square" lIns="0" tIns="0" rIns="0" bIns="0" rtlCol="0" anchor="ctr"/>
          <a:lstStyle/>
          <a:p>
            <a:pPr indent="0" marL="0">
              <a:buNone/>
            </a:pPr>
            <a:r>
              <a:rPr lang="en-US" sz="1000" b="1" dirty="0">
                <a:solidFill>
                  <a:srgbClr val="AAAAAA"/>
                </a:solidFill>
                <a:latin typeface="Calibri" pitchFamily="34" charset="0"/>
                <a:ea typeface="Calibri" pitchFamily="34" charset="-122"/>
                <a:cs typeface="Calibri" pitchFamily="34" charset="-120"/>
              </a:rPr>
              <a:t>09</a:t>
            </a:r>
            <a:endParaRPr lang="en-US" sz="1000" dirty="0"/>
          </a:p>
        </p:txBody>
      </p:sp>
      <p:sp>
        <p:nvSpPr>
          <p:cNvPr id="47" name="Text 36"/>
          <p:cNvSpPr/>
          <p:nvPr/>
        </p:nvSpPr>
        <p:spPr>
          <a:xfrm>
            <a:off x="6812280" y="4297680"/>
            <a:ext cx="192024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Thesis &amp; Takeaways</a:t>
            </a:r>
            <a:endParaRPr lang="en-US" sz="1200" dirty="0"/>
          </a:p>
        </p:txBody>
      </p:sp>
      <p:sp>
        <p:nvSpPr>
          <p:cNvPr id="48" name="Text 37"/>
          <p:cNvSpPr/>
          <p:nvPr/>
        </p:nvSpPr>
        <p:spPr>
          <a:xfrm>
            <a:off x="6812280" y="4663440"/>
            <a:ext cx="1920240" cy="237744"/>
          </a:xfrm>
          <a:prstGeom prst="rect">
            <a:avLst/>
          </a:prstGeom>
          <a:noFill/>
          <a:ln/>
        </p:spPr>
        <p:txBody>
          <a:bodyPr wrap="square" lIns="0" tIns="0" rIns="0" bIns="0" rtlCol="0" anchor="ctr"/>
          <a:lstStyle/>
          <a:p>
            <a:pPr indent="0" marL="0">
              <a:buNone/>
            </a:pPr>
            <a:r>
              <a:rPr lang="en-US" sz="1000" dirty="0">
                <a:solidFill>
                  <a:srgbClr val="CCDDEE"/>
                </a:solidFill>
                <a:latin typeface="Calibri" pitchFamily="34" charset="0"/>
                <a:ea typeface="Calibri" pitchFamily="34" charset="-122"/>
                <a:cs typeface="Calibri" pitchFamily="34" charset="-120"/>
              </a:rPr>
              <a:t>2 min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indent="0" marL="0">
              <a:buNone/>
            </a:pPr>
            <a:r>
              <a:rPr lang="en-US" sz="3000" b="1" dirty="0">
                <a:solidFill>
                  <a:srgbClr val="0B1E3F"/>
                </a:solidFill>
                <a:latin typeface="Calibri" pitchFamily="34" charset="0"/>
                <a:ea typeface="Calibri" pitchFamily="34" charset="-122"/>
                <a:cs typeface="Calibri" pitchFamily="34" charset="-120"/>
              </a:rPr>
              <a:t>NIST Standards Lineage</a:t>
            </a:r>
            <a:endParaRPr lang="en-US" sz="3000" dirty="0"/>
          </a:p>
        </p:txBody>
      </p:sp>
      <p:sp>
        <p:nvSpPr>
          <p:cNvPr id="3" name="Text 1"/>
          <p:cNvSpPr/>
          <p:nvPr/>
        </p:nvSpPr>
        <p:spPr>
          <a:xfrm>
            <a:off x="457200" y="685800"/>
            <a:ext cx="8229600" cy="27432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The regulatory backbone of Zero Trust workload identity</a:t>
            </a:r>
            <a:endParaRPr lang="en-US" sz="1300" dirty="0"/>
          </a:p>
        </p:txBody>
      </p:sp>
      <p:sp>
        <p:nvSpPr>
          <p:cNvPr id="4" name="Shape 2"/>
          <p:cNvSpPr/>
          <p:nvPr/>
        </p:nvSpPr>
        <p:spPr>
          <a:xfrm>
            <a:off x="320040" y="1097280"/>
            <a:ext cx="8503920" cy="109728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5" name="Shape 3"/>
          <p:cNvSpPr/>
          <p:nvPr/>
        </p:nvSpPr>
        <p:spPr>
          <a:xfrm>
            <a:off x="320040" y="1097280"/>
            <a:ext cx="109728" cy="1097280"/>
          </a:xfrm>
          <a:prstGeom prst="rect">
            <a:avLst/>
          </a:prstGeom>
          <a:solidFill>
            <a:srgbClr val="21295C"/>
          </a:solidFill>
          <a:ln/>
        </p:spPr>
      </p:sp>
      <p:sp>
        <p:nvSpPr>
          <p:cNvPr id="6" name="Text 4"/>
          <p:cNvSpPr/>
          <p:nvPr/>
        </p:nvSpPr>
        <p:spPr>
          <a:xfrm>
            <a:off x="548640" y="1170432"/>
            <a:ext cx="2011680" cy="347472"/>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SP 800-207</a:t>
            </a:r>
            <a:endParaRPr lang="en-US" sz="1600" dirty="0"/>
          </a:p>
        </p:txBody>
      </p:sp>
      <p:sp>
        <p:nvSpPr>
          <p:cNvPr id="7" name="Text 5"/>
          <p:cNvSpPr/>
          <p:nvPr/>
        </p:nvSpPr>
        <p:spPr>
          <a:xfrm>
            <a:off x="548640" y="1536192"/>
            <a:ext cx="2011680" cy="237744"/>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Aug 2020</a:t>
            </a:r>
            <a:endParaRPr lang="en-US" sz="1100" dirty="0"/>
          </a:p>
        </p:txBody>
      </p:sp>
      <p:sp>
        <p:nvSpPr>
          <p:cNvPr id="8" name="Text 6"/>
          <p:cNvSpPr/>
          <p:nvPr/>
        </p:nvSpPr>
        <p:spPr>
          <a:xfrm>
            <a:off x="2697480" y="1152144"/>
            <a:ext cx="594360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Zero Trust Architecture</a:t>
            </a:r>
            <a:endParaRPr lang="en-US" sz="1400" dirty="0"/>
          </a:p>
        </p:txBody>
      </p:sp>
      <p:sp>
        <p:nvSpPr>
          <p:cNvPr id="9" name="Text 7"/>
          <p:cNvSpPr/>
          <p:nvPr/>
        </p:nvSpPr>
        <p:spPr>
          <a:xfrm>
            <a:off x="2697480" y="1499616"/>
            <a:ext cx="5943600" cy="5943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Foundational ZTA tenets — never-trust-always-verify for users and devices. Sets the perimeter-free model but stops at the human-access layer.</a:t>
            </a:r>
            <a:endParaRPr lang="en-US" sz="1200" dirty="0"/>
          </a:p>
        </p:txBody>
      </p:sp>
      <p:sp>
        <p:nvSpPr>
          <p:cNvPr id="10" name="Shape 8"/>
          <p:cNvSpPr/>
          <p:nvPr/>
        </p:nvSpPr>
        <p:spPr>
          <a:xfrm>
            <a:off x="320040" y="2331720"/>
            <a:ext cx="8503920" cy="109728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11" name="Shape 9"/>
          <p:cNvSpPr/>
          <p:nvPr/>
        </p:nvSpPr>
        <p:spPr>
          <a:xfrm>
            <a:off x="320040" y="2331720"/>
            <a:ext cx="109728" cy="1097280"/>
          </a:xfrm>
          <a:prstGeom prst="rect">
            <a:avLst/>
          </a:prstGeom>
          <a:solidFill>
            <a:srgbClr val="065A82"/>
          </a:solidFill>
          <a:ln/>
        </p:spPr>
      </p:sp>
      <p:sp>
        <p:nvSpPr>
          <p:cNvPr id="12" name="Text 10"/>
          <p:cNvSpPr/>
          <p:nvPr/>
        </p:nvSpPr>
        <p:spPr>
          <a:xfrm>
            <a:off x="548640" y="2404872"/>
            <a:ext cx="2011680" cy="347472"/>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SP 800-207A</a:t>
            </a:r>
            <a:endParaRPr lang="en-US" sz="1600" dirty="0"/>
          </a:p>
        </p:txBody>
      </p:sp>
      <p:sp>
        <p:nvSpPr>
          <p:cNvPr id="13" name="Text 11"/>
          <p:cNvSpPr/>
          <p:nvPr/>
        </p:nvSpPr>
        <p:spPr>
          <a:xfrm>
            <a:off x="548640" y="2770632"/>
            <a:ext cx="2011680" cy="237744"/>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Sep 2023</a:t>
            </a:r>
            <a:endParaRPr lang="en-US" sz="1100" dirty="0"/>
          </a:p>
        </p:txBody>
      </p:sp>
      <p:sp>
        <p:nvSpPr>
          <p:cNvPr id="14" name="Text 12"/>
          <p:cNvSpPr/>
          <p:nvPr/>
        </p:nvSpPr>
        <p:spPr>
          <a:xfrm>
            <a:off x="2697480" y="2386584"/>
            <a:ext cx="594360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ZTA for Multi-Cloud</a:t>
            </a:r>
            <a:endParaRPr lang="en-US" sz="1400" dirty="0"/>
          </a:p>
        </p:txBody>
      </p:sp>
      <p:sp>
        <p:nvSpPr>
          <p:cNvPr id="15" name="Text 13"/>
          <p:cNvSpPr/>
          <p:nvPr/>
        </p:nvSpPr>
        <p:spPr>
          <a:xfrm>
            <a:off x="2697480" y="2734056"/>
            <a:ext cx="5943600" cy="5943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Extends 207 explicitly to workload-to-workload communication. First NIST document to reference SPIFFE IDs as a workload identity mechanism.</a:t>
            </a:r>
            <a:endParaRPr lang="en-US" sz="1200" dirty="0"/>
          </a:p>
        </p:txBody>
      </p:sp>
      <p:sp>
        <p:nvSpPr>
          <p:cNvPr id="16" name="Shape 14"/>
          <p:cNvSpPr/>
          <p:nvPr/>
        </p:nvSpPr>
        <p:spPr>
          <a:xfrm>
            <a:off x="320040" y="3566160"/>
            <a:ext cx="8503920" cy="109728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17" name="Shape 15"/>
          <p:cNvSpPr/>
          <p:nvPr/>
        </p:nvSpPr>
        <p:spPr>
          <a:xfrm>
            <a:off x="320040" y="3566160"/>
            <a:ext cx="109728" cy="1097280"/>
          </a:xfrm>
          <a:prstGeom prst="rect">
            <a:avLst/>
          </a:prstGeom>
          <a:solidFill>
            <a:srgbClr val="1C7293"/>
          </a:solidFill>
          <a:ln/>
        </p:spPr>
      </p:sp>
      <p:sp>
        <p:nvSpPr>
          <p:cNvPr id="18" name="Text 16"/>
          <p:cNvSpPr/>
          <p:nvPr/>
        </p:nvSpPr>
        <p:spPr>
          <a:xfrm>
            <a:off x="548640" y="3639312"/>
            <a:ext cx="2011680" cy="347472"/>
          </a:xfrm>
          <a:prstGeom prst="rect">
            <a:avLst/>
          </a:prstGeom>
          <a:noFill/>
          <a:ln/>
        </p:spPr>
        <p:txBody>
          <a:bodyPr wrap="square" lIns="0" tIns="0" rIns="0" bIns="0" rtlCol="0" anchor="ctr"/>
          <a:lstStyle/>
          <a:p>
            <a:pPr indent="0" marL="0">
              <a:buNone/>
            </a:pPr>
            <a:r>
              <a:rPr lang="en-US" sz="1600" b="1" dirty="0">
                <a:solidFill>
                  <a:srgbClr val="1C7293"/>
                </a:solidFill>
                <a:latin typeface="Calibri" pitchFamily="34" charset="0"/>
                <a:ea typeface="Calibri" pitchFamily="34" charset="-122"/>
                <a:cs typeface="Calibri" pitchFamily="34" charset="-120"/>
              </a:rPr>
              <a:t>SP 1800-35</a:t>
            </a:r>
            <a:endParaRPr lang="en-US" sz="1600" dirty="0"/>
          </a:p>
        </p:txBody>
      </p:sp>
      <p:sp>
        <p:nvSpPr>
          <p:cNvPr id="19" name="Text 17"/>
          <p:cNvSpPr/>
          <p:nvPr/>
        </p:nvSpPr>
        <p:spPr>
          <a:xfrm>
            <a:off x="548640" y="4005072"/>
            <a:ext cx="2011680" cy="237744"/>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2023</a:t>
            </a:r>
            <a:endParaRPr lang="en-US" sz="1100" dirty="0"/>
          </a:p>
        </p:txBody>
      </p:sp>
      <p:sp>
        <p:nvSpPr>
          <p:cNvPr id="20" name="Text 18"/>
          <p:cNvSpPr/>
          <p:nvPr/>
        </p:nvSpPr>
        <p:spPr>
          <a:xfrm>
            <a:off x="2697480" y="3621024"/>
            <a:ext cx="594360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Implementing ZTA (NCCoE)</a:t>
            </a:r>
            <a:endParaRPr lang="en-US" sz="1400" dirty="0"/>
          </a:p>
        </p:txBody>
      </p:sp>
      <p:sp>
        <p:nvSpPr>
          <p:cNvPr id="21" name="Text 19"/>
          <p:cNvSpPr/>
          <p:nvPr/>
        </p:nvSpPr>
        <p:spPr>
          <a:xfrm>
            <a:off x="2697480" y="3968496"/>
            <a:ext cx="5943600" cy="5943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Practice guide with vendor-neutral reference architectures. Includes SPIRE-based workload attestation in Lab A, B, and C builds.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indent="0" marL="0">
              <a:buNone/>
            </a:pPr>
            <a:r>
              <a:rPr lang="en-US" sz="2700" b="1" dirty="0">
                <a:solidFill>
                  <a:srgbClr val="0B1E3F"/>
                </a:solidFill>
                <a:latin typeface="Calibri" pitchFamily="34" charset="0"/>
                <a:ea typeface="Calibri" pitchFamily="34" charset="-122"/>
                <a:cs typeface="Calibri" pitchFamily="34" charset="-120"/>
              </a:rPr>
              <a:t>BeyondCorp: What It Solved — and What It Didn't</a:t>
            </a:r>
            <a:endParaRPr lang="en-US" sz="2700" dirty="0"/>
          </a:p>
        </p:txBody>
      </p:sp>
      <p:sp>
        <p:nvSpPr>
          <p:cNvPr id="3" name="Shape 1"/>
          <p:cNvSpPr/>
          <p:nvPr/>
        </p:nvSpPr>
        <p:spPr>
          <a:xfrm>
            <a:off x="320040" y="822960"/>
            <a:ext cx="3931920" cy="457200"/>
          </a:xfrm>
          <a:prstGeom prst="rect">
            <a:avLst/>
          </a:prstGeom>
          <a:solidFill>
            <a:srgbClr val="0D9488"/>
          </a:solidFill>
          <a:ln/>
        </p:spPr>
      </p:sp>
      <p:sp>
        <p:nvSpPr>
          <p:cNvPr id="4" name="Text 2"/>
          <p:cNvSpPr/>
          <p:nvPr/>
        </p:nvSpPr>
        <p:spPr>
          <a:xfrm>
            <a:off x="320040" y="822960"/>
            <a:ext cx="39319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BeyondCorp (User-Centric)</a:t>
            </a:r>
            <a:endParaRPr lang="en-US" sz="1400" dirty="0"/>
          </a:p>
        </p:txBody>
      </p:sp>
      <p:sp>
        <p:nvSpPr>
          <p:cNvPr id="5" name="Shape 3"/>
          <p:cNvSpPr/>
          <p:nvPr/>
        </p:nvSpPr>
        <p:spPr>
          <a:xfrm>
            <a:off x="320040" y="1371600"/>
            <a:ext cx="3931920" cy="548640"/>
          </a:xfrm>
          <a:prstGeom prst="rect">
            <a:avLst/>
          </a:prstGeom>
          <a:solidFill>
            <a:srgbClr val="F1F5F9"/>
          </a:solidFill>
          <a:ln/>
          <a:effectLst>
            <a:outerShdw sx="100000" sy="100000" kx="0" ky="0" algn="bl" rotWithShape="0" blurRad="101600" dist="38100" dir="8100000">
              <a:srgbClr val="000000">
                <a:alpha val="12000"/>
              </a:srgbClr>
            </a:outerShdw>
          </a:effectLst>
        </p:spPr>
      </p:sp>
      <p:pic>
        <p:nvPicPr>
          <p:cNvPr id="6" name="Image 0" descr="preencoded.png"/>
          <p:cNvPicPr>
            <a:picLocks noChangeAspect="1"/>
          </p:cNvPicPr>
          <p:nvPr/>
        </p:nvPicPr>
        <p:blipFill>
          <a:blip r:embed="rId1"/>
          <a:stretch>
            <a:fillRect/>
          </a:stretch>
        </p:blipFill>
        <p:spPr>
          <a:xfrm>
            <a:off x="457200" y="1463040"/>
            <a:ext cx="274320" cy="274320"/>
          </a:xfrm>
          <a:prstGeom prst="rect">
            <a:avLst/>
          </a:prstGeom>
        </p:spPr>
      </p:pic>
      <p:sp>
        <p:nvSpPr>
          <p:cNvPr id="7" name="Text 4"/>
          <p:cNvSpPr/>
          <p:nvPr/>
        </p:nvSpPr>
        <p:spPr>
          <a:xfrm>
            <a:off x="822960" y="1417320"/>
            <a:ext cx="329184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User identity via Google SSO</a:t>
            </a:r>
            <a:endParaRPr lang="en-US" sz="1200" dirty="0"/>
          </a:p>
        </p:txBody>
      </p:sp>
      <p:sp>
        <p:nvSpPr>
          <p:cNvPr id="8" name="Shape 5"/>
          <p:cNvSpPr/>
          <p:nvPr/>
        </p:nvSpPr>
        <p:spPr>
          <a:xfrm>
            <a:off x="320040" y="2029968"/>
            <a:ext cx="3931920" cy="54864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9" name="Image 1" descr="preencoded.png"/>
          <p:cNvPicPr>
            <a:picLocks noChangeAspect="1"/>
          </p:cNvPicPr>
          <p:nvPr/>
        </p:nvPicPr>
        <p:blipFill>
          <a:blip r:embed="rId2"/>
          <a:stretch>
            <a:fillRect/>
          </a:stretch>
        </p:blipFill>
        <p:spPr>
          <a:xfrm>
            <a:off x="457200" y="2121408"/>
            <a:ext cx="274320" cy="274320"/>
          </a:xfrm>
          <a:prstGeom prst="rect">
            <a:avLst/>
          </a:prstGeom>
        </p:spPr>
      </p:pic>
      <p:sp>
        <p:nvSpPr>
          <p:cNvPr id="10" name="Text 6"/>
          <p:cNvSpPr/>
          <p:nvPr/>
        </p:nvSpPr>
        <p:spPr>
          <a:xfrm>
            <a:off x="822960" y="2075688"/>
            <a:ext cx="329184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Device posture via endpoint certs</a:t>
            </a:r>
            <a:endParaRPr lang="en-US" sz="1200" dirty="0"/>
          </a:p>
        </p:txBody>
      </p:sp>
      <p:sp>
        <p:nvSpPr>
          <p:cNvPr id="11" name="Shape 7"/>
          <p:cNvSpPr/>
          <p:nvPr/>
        </p:nvSpPr>
        <p:spPr>
          <a:xfrm>
            <a:off x="320040" y="2688336"/>
            <a:ext cx="3931920" cy="548640"/>
          </a:xfrm>
          <a:prstGeom prst="rect">
            <a:avLst/>
          </a:prstGeom>
          <a:solidFill>
            <a:srgbClr val="F1F5F9"/>
          </a:solidFill>
          <a:ln/>
          <a:effectLst>
            <a:outerShdw sx="100000" sy="100000" kx="0" ky="0" algn="bl" rotWithShape="0" blurRad="101600" dist="38100" dir="8100000">
              <a:srgbClr val="000000">
                <a:alpha val="12000"/>
              </a:srgbClr>
            </a:outerShdw>
          </a:effectLst>
        </p:spPr>
      </p:sp>
      <p:pic>
        <p:nvPicPr>
          <p:cNvPr id="12" name="Image 2" descr="preencoded.png"/>
          <p:cNvPicPr>
            <a:picLocks noChangeAspect="1"/>
          </p:cNvPicPr>
          <p:nvPr/>
        </p:nvPicPr>
        <p:blipFill>
          <a:blip r:embed="rId3"/>
          <a:stretch>
            <a:fillRect/>
          </a:stretch>
        </p:blipFill>
        <p:spPr>
          <a:xfrm>
            <a:off x="457200" y="2779776"/>
            <a:ext cx="274320" cy="274320"/>
          </a:xfrm>
          <a:prstGeom prst="rect">
            <a:avLst/>
          </a:prstGeom>
        </p:spPr>
      </p:pic>
      <p:sp>
        <p:nvSpPr>
          <p:cNvPr id="13" name="Text 8"/>
          <p:cNvSpPr/>
          <p:nvPr/>
        </p:nvSpPr>
        <p:spPr>
          <a:xfrm>
            <a:off x="822960" y="2734056"/>
            <a:ext cx="329184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Context-aware access proxy</a:t>
            </a:r>
            <a:endParaRPr lang="en-US" sz="1200" dirty="0"/>
          </a:p>
        </p:txBody>
      </p:sp>
      <p:sp>
        <p:nvSpPr>
          <p:cNvPr id="14" name="Shape 9"/>
          <p:cNvSpPr/>
          <p:nvPr/>
        </p:nvSpPr>
        <p:spPr>
          <a:xfrm>
            <a:off x="320040" y="3346704"/>
            <a:ext cx="3931920" cy="54864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5" name="Image 3" descr="preencoded.png"/>
          <p:cNvPicPr>
            <a:picLocks noChangeAspect="1"/>
          </p:cNvPicPr>
          <p:nvPr/>
        </p:nvPicPr>
        <p:blipFill>
          <a:blip r:embed="rId4"/>
          <a:stretch>
            <a:fillRect/>
          </a:stretch>
        </p:blipFill>
        <p:spPr>
          <a:xfrm>
            <a:off x="457200" y="3438144"/>
            <a:ext cx="274320" cy="274320"/>
          </a:xfrm>
          <a:prstGeom prst="rect">
            <a:avLst/>
          </a:prstGeom>
        </p:spPr>
      </p:pic>
      <p:sp>
        <p:nvSpPr>
          <p:cNvPr id="16" name="Text 10"/>
          <p:cNvSpPr/>
          <p:nvPr/>
        </p:nvSpPr>
        <p:spPr>
          <a:xfrm>
            <a:off x="822960" y="3392424"/>
            <a:ext cx="329184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Eliminates VPN for human users</a:t>
            </a:r>
            <a:endParaRPr lang="en-US" sz="1200" dirty="0"/>
          </a:p>
        </p:txBody>
      </p:sp>
      <p:sp>
        <p:nvSpPr>
          <p:cNvPr id="17" name="Shape 11"/>
          <p:cNvSpPr/>
          <p:nvPr/>
        </p:nvSpPr>
        <p:spPr>
          <a:xfrm>
            <a:off x="4892040" y="822960"/>
            <a:ext cx="3931920" cy="457200"/>
          </a:xfrm>
          <a:prstGeom prst="rect">
            <a:avLst/>
          </a:prstGeom>
          <a:solidFill>
            <a:srgbClr val="E63946"/>
          </a:solidFill>
          <a:ln/>
        </p:spPr>
      </p:sp>
      <p:sp>
        <p:nvSpPr>
          <p:cNvPr id="18" name="Text 12"/>
          <p:cNvSpPr/>
          <p:nvPr/>
        </p:nvSpPr>
        <p:spPr>
          <a:xfrm>
            <a:off x="4892040" y="822960"/>
            <a:ext cx="39319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Workload Identity Gap</a:t>
            </a:r>
            <a:endParaRPr lang="en-US" sz="1400" dirty="0"/>
          </a:p>
        </p:txBody>
      </p:sp>
      <p:sp>
        <p:nvSpPr>
          <p:cNvPr id="19" name="Shape 13"/>
          <p:cNvSpPr/>
          <p:nvPr/>
        </p:nvSpPr>
        <p:spPr>
          <a:xfrm>
            <a:off x="4892040" y="1371600"/>
            <a:ext cx="3931920" cy="548640"/>
          </a:xfrm>
          <a:prstGeom prst="rect">
            <a:avLst/>
          </a:prstGeom>
          <a:solidFill>
            <a:srgbClr val="FFF0F0"/>
          </a:solidFill>
          <a:ln/>
          <a:effectLst>
            <a:outerShdw sx="100000" sy="100000" kx="0" ky="0" algn="bl" rotWithShape="0" blurRad="101600" dist="38100" dir="8100000">
              <a:srgbClr val="000000">
                <a:alpha val="12000"/>
              </a:srgbClr>
            </a:outerShdw>
          </a:effectLst>
        </p:spPr>
      </p:sp>
      <p:pic>
        <p:nvPicPr>
          <p:cNvPr id="20" name="Image 4" descr="preencoded.png"/>
          <p:cNvPicPr>
            <a:picLocks noChangeAspect="1"/>
          </p:cNvPicPr>
          <p:nvPr/>
        </p:nvPicPr>
        <p:blipFill>
          <a:blip r:embed="rId5"/>
          <a:stretch>
            <a:fillRect/>
          </a:stretch>
        </p:blipFill>
        <p:spPr>
          <a:xfrm>
            <a:off x="5029200" y="1463040"/>
            <a:ext cx="274320" cy="274320"/>
          </a:xfrm>
          <a:prstGeom prst="rect">
            <a:avLst/>
          </a:prstGeom>
        </p:spPr>
      </p:pic>
      <p:sp>
        <p:nvSpPr>
          <p:cNvPr id="21" name="Text 14"/>
          <p:cNvSpPr/>
          <p:nvPr/>
        </p:nvSpPr>
        <p:spPr>
          <a:xfrm>
            <a:off x="5394960" y="1417320"/>
            <a:ext cx="329184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Service-to-service has no identity</a:t>
            </a:r>
            <a:endParaRPr lang="en-US" sz="1200" dirty="0"/>
          </a:p>
        </p:txBody>
      </p:sp>
      <p:sp>
        <p:nvSpPr>
          <p:cNvPr id="22" name="Shape 15"/>
          <p:cNvSpPr/>
          <p:nvPr/>
        </p:nvSpPr>
        <p:spPr>
          <a:xfrm>
            <a:off x="4892040" y="2029968"/>
            <a:ext cx="3931920" cy="54864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23" name="Image 5" descr="preencoded.png"/>
          <p:cNvPicPr>
            <a:picLocks noChangeAspect="1"/>
          </p:cNvPicPr>
          <p:nvPr/>
        </p:nvPicPr>
        <p:blipFill>
          <a:blip r:embed="rId6"/>
          <a:stretch>
            <a:fillRect/>
          </a:stretch>
        </p:blipFill>
        <p:spPr>
          <a:xfrm>
            <a:off x="5029200" y="2121408"/>
            <a:ext cx="274320" cy="274320"/>
          </a:xfrm>
          <a:prstGeom prst="rect">
            <a:avLst/>
          </a:prstGeom>
        </p:spPr>
      </p:pic>
      <p:sp>
        <p:nvSpPr>
          <p:cNvPr id="24" name="Text 16"/>
          <p:cNvSpPr/>
          <p:nvPr/>
        </p:nvSpPr>
        <p:spPr>
          <a:xfrm>
            <a:off x="5394960" y="2075688"/>
            <a:ext cx="329184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Long-lived API keys &amp; secrets</a:t>
            </a:r>
            <a:endParaRPr lang="en-US" sz="1200" dirty="0"/>
          </a:p>
        </p:txBody>
      </p:sp>
      <p:sp>
        <p:nvSpPr>
          <p:cNvPr id="25" name="Shape 17"/>
          <p:cNvSpPr/>
          <p:nvPr/>
        </p:nvSpPr>
        <p:spPr>
          <a:xfrm>
            <a:off x="4892040" y="2688336"/>
            <a:ext cx="3931920" cy="548640"/>
          </a:xfrm>
          <a:prstGeom prst="rect">
            <a:avLst/>
          </a:prstGeom>
          <a:solidFill>
            <a:srgbClr val="FFF0F0"/>
          </a:solidFill>
          <a:ln/>
          <a:effectLst>
            <a:outerShdw sx="100000" sy="100000" kx="0" ky="0" algn="bl" rotWithShape="0" blurRad="101600" dist="38100" dir="8100000">
              <a:srgbClr val="000000">
                <a:alpha val="12000"/>
              </a:srgbClr>
            </a:outerShdw>
          </a:effectLst>
        </p:spPr>
      </p:sp>
      <p:pic>
        <p:nvPicPr>
          <p:cNvPr id="26" name="Image 6" descr="preencoded.png"/>
          <p:cNvPicPr>
            <a:picLocks noChangeAspect="1"/>
          </p:cNvPicPr>
          <p:nvPr/>
        </p:nvPicPr>
        <p:blipFill>
          <a:blip r:embed="rId7"/>
          <a:stretch>
            <a:fillRect/>
          </a:stretch>
        </p:blipFill>
        <p:spPr>
          <a:xfrm>
            <a:off x="5029200" y="2779776"/>
            <a:ext cx="274320" cy="274320"/>
          </a:xfrm>
          <a:prstGeom prst="rect">
            <a:avLst/>
          </a:prstGeom>
        </p:spPr>
      </p:pic>
      <p:sp>
        <p:nvSpPr>
          <p:cNvPr id="27" name="Text 18"/>
          <p:cNvSpPr/>
          <p:nvPr/>
        </p:nvSpPr>
        <p:spPr>
          <a:xfrm>
            <a:off x="5394960" y="2734056"/>
            <a:ext cx="329184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No attestation on who is calling</a:t>
            </a:r>
            <a:endParaRPr lang="en-US" sz="1200" dirty="0"/>
          </a:p>
        </p:txBody>
      </p:sp>
      <p:sp>
        <p:nvSpPr>
          <p:cNvPr id="28" name="Shape 19"/>
          <p:cNvSpPr/>
          <p:nvPr/>
        </p:nvSpPr>
        <p:spPr>
          <a:xfrm>
            <a:off x="4892040" y="3346704"/>
            <a:ext cx="3931920" cy="54864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29" name="Image 7" descr="preencoded.png"/>
          <p:cNvPicPr>
            <a:picLocks noChangeAspect="1"/>
          </p:cNvPicPr>
          <p:nvPr/>
        </p:nvPicPr>
        <p:blipFill>
          <a:blip r:embed="rId8"/>
          <a:stretch>
            <a:fillRect/>
          </a:stretch>
        </p:blipFill>
        <p:spPr>
          <a:xfrm>
            <a:off x="5029200" y="3438144"/>
            <a:ext cx="274320" cy="274320"/>
          </a:xfrm>
          <a:prstGeom prst="rect">
            <a:avLst/>
          </a:prstGeom>
        </p:spPr>
      </p:pic>
      <p:sp>
        <p:nvSpPr>
          <p:cNvPr id="30" name="Text 20"/>
          <p:cNvSpPr/>
          <p:nvPr/>
        </p:nvSpPr>
        <p:spPr>
          <a:xfrm>
            <a:off x="5394960" y="3392424"/>
            <a:ext cx="329184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Lateral movement undetected</a:t>
            </a:r>
            <a:endParaRPr lang="en-US" sz="1200" dirty="0"/>
          </a:p>
        </p:txBody>
      </p:sp>
      <p:sp>
        <p:nvSpPr>
          <p:cNvPr id="31" name="Shape 21"/>
          <p:cNvSpPr/>
          <p:nvPr/>
        </p:nvSpPr>
        <p:spPr>
          <a:xfrm>
            <a:off x="4251960" y="2926080"/>
            <a:ext cx="640080" cy="0"/>
          </a:xfrm>
          <a:prstGeom prst="line">
            <a:avLst/>
          </a:prstGeom>
          <a:noFill/>
          <a:ln w="25400">
            <a:solidFill>
              <a:srgbClr val="64748B"/>
            </a:solidFill>
            <a:prstDash val="dash"/>
          </a:ln>
        </p:spPr>
      </p:sp>
      <p:sp>
        <p:nvSpPr>
          <p:cNvPr id="32" name="Text 22"/>
          <p:cNvSpPr/>
          <p:nvPr/>
        </p:nvSpPr>
        <p:spPr>
          <a:xfrm>
            <a:off x="3291840" y="4434840"/>
            <a:ext cx="2560320" cy="274320"/>
          </a:xfrm>
          <a:prstGeom prst="rect">
            <a:avLst/>
          </a:prstGeom>
          <a:noFill/>
          <a:ln/>
        </p:spPr>
        <p:txBody>
          <a:bodyPr wrap="square" lIns="0" tIns="0" rIns="0" bIns="0" rtlCol="0" anchor="ctr"/>
          <a:lstStyle/>
          <a:p>
            <a:pPr algn="ctr" indent="0" marL="0">
              <a:buNone/>
            </a:pPr>
            <a:r>
              <a:rPr lang="en-US" sz="1100" b="1" dirty="0">
                <a:solidFill>
                  <a:srgbClr val="0D9488"/>
                </a:solidFill>
                <a:latin typeface="Calibri" pitchFamily="34" charset="0"/>
                <a:ea typeface="Calibri" pitchFamily="34" charset="-122"/>
                <a:cs typeface="Calibri" pitchFamily="34" charset="-120"/>
              </a:rPr>
              <a:t>SPIFFE closes this gap</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indent="0" marL="0">
              <a:buNone/>
            </a:pPr>
            <a:r>
              <a:rPr lang="en-US" sz="3000" b="1" dirty="0">
                <a:solidFill>
                  <a:srgbClr val="0B1E3F"/>
                </a:solidFill>
                <a:latin typeface="Calibri" pitchFamily="34" charset="0"/>
                <a:ea typeface="Calibri" pitchFamily="34" charset="-122"/>
                <a:cs typeface="Calibri" pitchFamily="34" charset="-120"/>
              </a:rPr>
              <a:t>SPIFFE: Core Primitives</a:t>
            </a:r>
            <a:endParaRPr lang="en-US" sz="3000" dirty="0"/>
          </a:p>
        </p:txBody>
      </p:sp>
      <p:sp>
        <p:nvSpPr>
          <p:cNvPr id="3" name="Text 1"/>
          <p:cNvSpPr/>
          <p:nvPr/>
        </p:nvSpPr>
        <p:spPr>
          <a:xfrm>
            <a:off x="457200" y="685800"/>
            <a:ext cx="8229600" cy="27432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Secure Production Identity Framework for Everyone — CNCF Graduated</a:t>
            </a:r>
            <a:endParaRPr lang="en-US" sz="1300" dirty="0"/>
          </a:p>
        </p:txBody>
      </p:sp>
      <p:sp>
        <p:nvSpPr>
          <p:cNvPr id="4" name="Shape 2"/>
          <p:cNvSpPr/>
          <p:nvPr/>
        </p:nvSpPr>
        <p:spPr>
          <a:xfrm>
            <a:off x="320040" y="1097280"/>
            <a:ext cx="4114800" cy="160020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5" name="Shape 3"/>
          <p:cNvSpPr/>
          <p:nvPr/>
        </p:nvSpPr>
        <p:spPr>
          <a:xfrm>
            <a:off x="320040" y="1097280"/>
            <a:ext cx="109728" cy="1600200"/>
          </a:xfrm>
          <a:prstGeom prst="rect">
            <a:avLst/>
          </a:prstGeom>
          <a:solidFill>
            <a:srgbClr val="21295C"/>
          </a:solidFill>
          <a:ln/>
        </p:spPr>
      </p:sp>
      <p:sp>
        <p:nvSpPr>
          <p:cNvPr id="6" name="Shape 4"/>
          <p:cNvSpPr/>
          <p:nvPr/>
        </p:nvSpPr>
        <p:spPr>
          <a:xfrm>
            <a:off x="320040" y="1097280"/>
            <a:ext cx="4114800" cy="475488"/>
          </a:xfrm>
          <a:prstGeom prst="rect">
            <a:avLst/>
          </a:prstGeom>
          <a:solidFill>
            <a:srgbClr val="21295C"/>
          </a:solidFill>
          <a:ln/>
        </p:spPr>
      </p:sp>
      <p:pic>
        <p:nvPicPr>
          <p:cNvPr id="7" name="Image 0" descr="preencoded.png"/>
          <p:cNvPicPr>
            <a:picLocks noChangeAspect="1"/>
          </p:cNvPicPr>
          <p:nvPr/>
        </p:nvPicPr>
        <p:blipFill>
          <a:blip r:embed="rId1"/>
          <a:stretch>
            <a:fillRect/>
          </a:stretch>
        </p:blipFill>
        <p:spPr>
          <a:xfrm>
            <a:off x="457200" y="1188720"/>
            <a:ext cx="292608" cy="292608"/>
          </a:xfrm>
          <a:prstGeom prst="rect">
            <a:avLst/>
          </a:prstGeom>
        </p:spPr>
      </p:pic>
      <p:sp>
        <p:nvSpPr>
          <p:cNvPr id="8" name="Text 5"/>
          <p:cNvSpPr/>
          <p:nvPr/>
        </p:nvSpPr>
        <p:spPr>
          <a:xfrm>
            <a:off x="822960" y="1152144"/>
            <a:ext cx="338328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SPIFFE ID</a:t>
            </a:r>
            <a:endParaRPr lang="en-US" sz="1400" dirty="0"/>
          </a:p>
        </p:txBody>
      </p:sp>
      <p:sp>
        <p:nvSpPr>
          <p:cNvPr id="9" name="Text 6"/>
          <p:cNvSpPr/>
          <p:nvPr/>
        </p:nvSpPr>
        <p:spPr>
          <a:xfrm>
            <a:off x="484632" y="1627632"/>
            <a:ext cx="3794760" cy="256032"/>
          </a:xfrm>
          <a:prstGeom prst="rect">
            <a:avLst/>
          </a:prstGeom>
          <a:noFill/>
          <a:ln/>
        </p:spPr>
        <p:txBody>
          <a:bodyPr wrap="square" lIns="0" tIns="0" rIns="0" bIns="0" rtlCol="0" anchor="ctr"/>
          <a:lstStyle/>
          <a:p>
            <a:pPr indent="0" marL="0">
              <a:buNone/>
            </a:pPr>
            <a:r>
              <a:rPr lang="en-US" sz="1000" b="1" dirty="0">
                <a:solidFill>
                  <a:srgbClr val="21295C"/>
                </a:solidFill>
                <a:latin typeface="Consolas" pitchFamily="34" charset="0"/>
                <a:ea typeface="Consolas" pitchFamily="34" charset="-122"/>
                <a:cs typeface="Consolas" pitchFamily="34" charset="-120"/>
              </a:rPr>
              <a:t>spiffe://trust-domain/path</a:t>
            </a:r>
            <a:endParaRPr lang="en-US" sz="1000" dirty="0"/>
          </a:p>
        </p:txBody>
      </p:sp>
      <p:sp>
        <p:nvSpPr>
          <p:cNvPr id="10" name="Text 7"/>
          <p:cNvSpPr/>
          <p:nvPr/>
        </p:nvSpPr>
        <p:spPr>
          <a:xfrm>
            <a:off x="484632" y="1920240"/>
            <a:ext cx="3794760" cy="6858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URI-format workload name. The stable identity anchor — survives IP changes, restarts, re-scheduling.</a:t>
            </a:r>
            <a:endParaRPr lang="en-US" sz="1100" dirty="0"/>
          </a:p>
        </p:txBody>
      </p:sp>
      <p:sp>
        <p:nvSpPr>
          <p:cNvPr id="11" name="Shape 8"/>
          <p:cNvSpPr/>
          <p:nvPr/>
        </p:nvSpPr>
        <p:spPr>
          <a:xfrm>
            <a:off x="4709160" y="1097280"/>
            <a:ext cx="4114800" cy="160020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12" name="Shape 9"/>
          <p:cNvSpPr/>
          <p:nvPr/>
        </p:nvSpPr>
        <p:spPr>
          <a:xfrm>
            <a:off x="4709160" y="1097280"/>
            <a:ext cx="109728" cy="1600200"/>
          </a:xfrm>
          <a:prstGeom prst="rect">
            <a:avLst/>
          </a:prstGeom>
          <a:solidFill>
            <a:srgbClr val="065A82"/>
          </a:solidFill>
          <a:ln/>
        </p:spPr>
      </p:sp>
      <p:sp>
        <p:nvSpPr>
          <p:cNvPr id="13" name="Shape 10"/>
          <p:cNvSpPr/>
          <p:nvPr/>
        </p:nvSpPr>
        <p:spPr>
          <a:xfrm>
            <a:off x="4709160" y="1097280"/>
            <a:ext cx="4114800" cy="475488"/>
          </a:xfrm>
          <a:prstGeom prst="rect">
            <a:avLst/>
          </a:prstGeom>
          <a:solidFill>
            <a:srgbClr val="065A82"/>
          </a:solidFill>
          <a:ln/>
        </p:spPr>
      </p:sp>
      <p:pic>
        <p:nvPicPr>
          <p:cNvPr id="14" name="Image 1" descr="preencoded.png"/>
          <p:cNvPicPr>
            <a:picLocks noChangeAspect="1"/>
          </p:cNvPicPr>
          <p:nvPr/>
        </p:nvPicPr>
        <p:blipFill>
          <a:blip r:embed="rId2"/>
          <a:stretch>
            <a:fillRect/>
          </a:stretch>
        </p:blipFill>
        <p:spPr>
          <a:xfrm>
            <a:off x="4846320" y="1188720"/>
            <a:ext cx="292608" cy="292608"/>
          </a:xfrm>
          <a:prstGeom prst="rect">
            <a:avLst/>
          </a:prstGeom>
        </p:spPr>
      </p:pic>
      <p:sp>
        <p:nvSpPr>
          <p:cNvPr id="15" name="Text 11"/>
          <p:cNvSpPr/>
          <p:nvPr/>
        </p:nvSpPr>
        <p:spPr>
          <a:xfrm>
            <a:off x="5212080" y="1152144"/>
            <a:ext cx="338328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SVID</a:t>
            </a:r>
            <a:endParaRPr lang="en-US" sz="1400" dirty="0"/>
          </a:p>
        </p:txBody>
      </p:sp>
      <p:sp>
        <p:nvSpPr>
          <p:cNvPr id="16" name="Text 12"/>
          <p:cNvSpPr/>
          <p:nvPr/>
        </p:nvSpPr>
        <p:spPr>
          <a:xfrm>
            <a:off x="4873752" y="1627632"/>
            <a:ext cx="3794760" cy="256032"/>
          </a:xfrm>
          <a:prstGeom prst="rect">
            <a:avLst/>
          </a:prstGeom>
          <a:noFill/>
          <a:ln/>
        </p:spPr>
        <p:txBody>
          <a:bodyPr wrap="square" lIns="0" tIns="0" rIns="0" bIns="0" rtlCol="0" anchor="ctr"/>
          <a:lstStyle/>
          <a:p>
            <a:pPr indent="0" marL="0">
              <a:buNone/>
            </a:pPr>
            <a:r>
              <a:rPr lang="en-US" sz="1000" b="1" dirty="0">
                <a:solidFill>
                  <a:srgbClr val="065A82"/>
                </a:solidFill>
                <a:latin typeface="Consolas" pitchFamily="34" charset="0"/>
                <a:ea typeface="Consolas" pitchFamily="34" charset="-122"/>
                <a:cs typeface="Consolas" pitchFamily="34" charset="-120"/>
              </a:rPr>
              <a:t>X.509-SVID  or  JWT-SVID</a:t>
            </a:r>
            <a:endParaRPr lang="en-US" sz="1000" dirty="0"/>
          </a:p>
        </p:txBody>
      </p:sp>
      <p:sp>
        <p:nvSpPr>
          <p:cNvPr id="17" name="Text 13"/>
          <p:cNvSpPr/>
          <p:nvPr/>
        </p:nvSpPr>
        <p:spPr>
          <a:xfrm>
            <a:off x="4873752" y="1920240"/>
            <a:ext cx="3794760" cy="6858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Signed cryptographic document asserting a SPIFFE ID. Embeds the ID in the SAN of an X.509 cert or as the sub of a JWT.</a:t>
            </a:r>
            <a:endParaRPr lang="en-US" sz="1100" dirty="0"/>
          </a:p>
        </p:txBody>
      </p:sp>
      <p:sp>
        <p:nvSpPr>
          <p:cNvPr id="18" name="Shape 14"/>
          <p:cNvSpPr/>
          <p:nvPr/>
        </p:nvSpPr>
        <p:spPr>
          <a:xfrm>
            <a:off x="320040" y="2926080"/>
            <a:ext cx="4114800" cy="160020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19" name="Shape 15"/>
          <p:cNvSpPr/>
          <p:nvPr/>
        </p:nvSpPr>
        <p:spPr>
          <a:xfrm>
            <a:off x="320040" y="2926080"/>
            <a:ext cx="109728" cy="1600200"/>
          </a:xfrm>
          <a:prstGeom prst="rect">
            <a:avLst/>
          </a:prstGeom>
          <a:solidFill>
            <a:srgbClr val="1C7293"/>
          </a:solidFill>
          <a:ln/>
        </p:spPr>
      </p:sp>
      <p:sp>
        <p:nvSpPr>
          <p:cNvPr id="20" name="Shape 16"/>
          <p:cNvSpPr/>
          <p:nvPr/>
        </p:nvSpPr>
        <p:spPr>
          <a:xfrm>
            <a:off x="320040" y="2926080"/>
            <a:ext cx="4114800" cy="475488"/>
          </a:xfrm>
          <a:prstGeom prst="rect">
            <a:avLst/>
          </a:prstGeom>
          <a:solidFill>
            <a:srgbClr val="1C7293"/>
          </a:solidFill>
          <a:ln/>
        </p:spPr>
      </p:sp>
      <p:pic>
        <p:nvPicPr>
          <p:cNvPr id="21" name="Image 2" descr="preencoded.png"/>
          <p:cNvPicPr>
            <a:picLocks noChangeAspect="1"/>
          </p:cNvPicPr>
          <p:nvPr/>
        </p:nvPicPr>
        <p:blipFill>
          <a:blip r:embed="rId3"/>
          <a:stretch>
            <a:fillRect/>
          </a:stretch>
        </p:blipFill>
        <p:spPr>
          <a:xfrm>
            <a:off x="457200" y="3017520"/>
            <a:ext cx="292608" cy="292608"/>
          </a:xfrm>
          <a:prstGeom prst="rect">
            <a:avLst/>
          </a:prstGeom>
        </p:spPr>
      </p:pic>
      <p:sp>
        <p:nvSpPr>
          <p:cNvPr id="22" name="Text 17"/>
          <p:cNvSpPr/>
          <p:nvPr/>
        </p:nvSpPr>
        <p:spPr>
          <a:xfrm>
            <a:off x="822960" y="2980944"/>
            <a:ext cx="338328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Trust Bundle</a:t>
            </a:r>
            <a:endParaRPr lang="en-US" sz="1400" dirty="0"/>
          </a:p>
        </p:txBody>
      </p:sp>
      <p:sp>
        <p:nvSpPr>
          <p:cNvPr id="23" name="Text 18"/>
          <p:cNvSpPr/>
          <p:nvPr/>
        </p:nvSpPr>
        <p:spPr>
          <a:xfrm>
            <a:off x="484632" y="3456432"/>
            <a:ext cx="3794760" cy="256032"/>
          </a:xfrm>
          <a:prstGeom prst="rect">
            <a:avLst/>
          </a:prstGeom>
          <a:noFill/>
          <a:ln/>
        </p:spPr>
        <p:txBody>
          <a:bodyPr wrap="square" lIns="0" tIns="0" rIns="0" bIns="0" rtlCol="0" anchor="ctr"/>
          <a:lstStyle/>
          <a:p>
            <a:pPr indent="0" marL="0">
              <a:buNone/>
            </a:pPr>
            <a:r>
              <a:rPr lang="en-US" sz="1000" b="1" dirty="0">
                <a:solidFill>
                  <a:srgbClr val="1C7293"/>
                </a:solidFill>
                <a:latin typeface="Consolas" pitchFamily="34" charset="0"/>
                <a:ea typeface="Consolas" pitchFamily="34" charset="-122"/>
                <a:cs typeface="Consolas" pitchFamily="34" charset="-120"/>
              </a:rPr>
              <a:t>Set of trusted CA certs per trust domain</a:t>
            </a:r>
            <a:endParaRPr lang="en-US" sz="1000" dirty="0"/>
          </a:p>
        </p:txBody>
      </p:sp>
      <p:sp>
        <p:nvSpPr>
          <p:cNvPr id="24" name="Text 19"/>
          <p:cNvSpPr/>
          <p:nvPr/>
        </p:nvSpPr>
        <p:spPr>
          <a:xfrm>
            <a:off x="484632" y="3749040"/>
            <a:ext cx="3794760" cy="6858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The trust anchor for a domain. Services verify SVIDs against the bundle. Bundles can be federated across domains.</a:t>
            </a:r>
            <a:endParaRPr lang="en-US" sz="1100" dirty="0"/>
          </a:p>
        </p:txBody>
      </p:sp>
      <p:sp>
        <p:nvSpPr>
          <p:cNvPr id="25" name="Shape 20"/>
          <p:cNvSpPr/>
          <p:nvPr/>
        </p:nvSpPr>
        <p:spPr>
          <a:xfrm>
            <a:off x="4709160" y="2926080"/>
            <a:ext cx="4114800" cy="160020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26" name="Shape 21"/>
          <p:cNvSpPr/>
          <p:nvPr/>
        </p:nvSpPr>
        <p:spPr>
          <a:xfrm>
            <a:off x="4709160" y="2926080"/>
            <a:ext cx="109728" cy="1600200"/>
          </a:xfrm>
          <a:prstGeom prst="rect">
            <a:avLst/>
          </a:prstGeom>
          <a:solidFill>
            <a:srgbClr val="0D9488"/>
          </a:solidFill>
          <a:ln/>
        </p:spPr>
      </p:sp>
      <p:sp>
        <p:nvSpPr>
          <p:cNvPr id="27" name="Shape 22"/>
          <p:cNvSpPr/>
          <p:nvPr/>
        </p:nvSpPr>
        <p:spPr>
          <a:xfrm>
            <a:off x="4709160" y="2926080"/>
            <a:ext cx="4114800" cy="475488"/>
          </a:xfrm>
          <a:prstGeom prst="rect">
            <a:avLst/>
          </a:prstGeom>
          <a:solidFill>
            <a:srgbClr val="0D9488"/>
          </a:solidFill>
          <a:ln/>
        </p:spPr>
      </p:sp>
      <p:pic>
        <p:nvPicPr>
          <p:cNvPr id="28" name="Image 3" descr="preencoded.png"/>
          <p:cNvPicPr>
            <a:picLocks noChangeAspect="1"/>
          </p:cNvPicPr>
          <p:nvPr/>
        </p:nvPicPr>
        <p:blipFill>
          <a:blip r:embed="rId4"/>
          <a:stretch>
            <a:fillRect/>
          </a:stretch>
        </p:blipFill>
        <p:spPr>
          <a:xfrm>
            <a:off x="4846320" y="3017520"/>
            <a:ext cx="292608" cy="292608"/>
          </a:xfrm>
          <a:prstGeom prst="rect">
            <a:avLst/>
          </a:prstGeom>
        </p:spPr>
      </p:pic>
      <p:sp>
        <p:nvSpPr>
          <p:cNvPr id="29" name="Text 23"/>
          <p:cNvSpPr/>
          <p:nvPr/>
        </p:nvSpPr>
        <p:spPr>
          <a:xfrm>
            <a:off x="5212080" y="2980944"/>
            <a:ext cx="338328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Workload API</a:t>
            </a:r>
            <a:endParaRPr lang="en-US" sz="1400" dirty="0"/>
          </a:p>
        </p:txBody>
      </p:sp>
      <p:sp>
        <p:nvSpPr>
          <p:cNvPr id="30" name="Text 24"/>
          <p:cNvSpPr/>
          <p:nvPr/>
        </p:nvSpPr>
        <p:spPr>
          <a:xfrm>
            <a:off x="4873752" y="3456432"/>
            <a:ext cx="3794760" cy="256032"/>
          </a:xfrm>
          <a:prstGeom prst="rect">
            <a:avLst/>
          </a:prstGeom>
          <a:noFill/>
          <a:ln/>
        </p:spPr>
        <p:txBody>
          <a:bodyPr wrap="square" lIns="0" tIns="0" rIns="0" bIns="0" rtlCol="0" anchor="ctr"/>
          <a:lstStyle/>
          <a:p>
            <a:pPr indent="0" marL="0">
              <a:buNone/>
            </a:pPr>
            <a:r>
              <a:rPr lang="en-US" sz="1000" b="1" dirty="0">
                <a:solidFill>
                  <a:srgbClr val="0D9488"/>
                </a:solidFill>
                <a:latin typeface="Consolas" pitchFamily="34" charset="0"/>
                <a:ea typeface="Consolas" pitchFamily="34" charset="-122"/>
                <a:cs typeface="Consolas" pitchFamily="34" charset="-120"/>
              </a:rPr>
              <a:t>gRPC stream over Unix socket</a:t>
            </a:r>
            <a:endParaRPr lang="en-US" sz="1000" dirty="0"/>
          </a:p>
        </p:txBody>
      </p:sp>
      <p:sp>
        <p:nvSpPr>
          <p:cNvPr id="31" name="Text 25"/>
          <p:cNvSpPr/>
          <p:nvPr/>
        </p:nvSpPr>
        <p:spPr>
          <a:xfrm>
            <a:off x="4873752" y="3749040"/>
            <a:ext cx="3794760" cy="6858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Zero-secret bootstrap. Workloads receive SVIDs without any pre-shared credential. Agent delivers via local socket.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indent="0" marL="0">
              <a:buNone/>
            </a:pPr>
            <a:r>
              <a:rPr lang="en-US" sz="3000" b="1" dirty="0">
                <a:solidFill>
                  <a:srgbClr val="0B1E3F"/>
                </a:solidFill>
                <a:latin typeface="Calibri" pitchFamily="34" charset="0"/>
                <a:ea typeface="Calibri" pitchFamily="34" charset="-122"/>
                <a:cs typeface="Calibri" pitchFamily="34" charset="-120"/>
              </a:rPr>
              <a:t>SPIRE: Reference Implementation</a:t>
            </a:r>
            <a:endParaRPr lang="en-US" sz="3000" dirty="0"/>
          </a:p>
        </p:txBody>
      </p:sp>
      <p:sp>
        <p:nvSpPr>
          <p:cNvPr id="3" name="Shape 1"/>
          <p:cNvSpPr/>
          <p:nvPr/>
        </p:nvSpPr>
        <p:spPr>
          <a:xfrm>
            <a:off x="320040" y="868680"/>
            <a:ext cx="2651760" cy="347472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4" name="Shape 2"/>
          <p:cNvSpPr/>
          <p:nvPr/>
        </p:nvSpPr>
        <p:spPr>
          <a:xfrm>
            <a:off x="320040" y="868680"/>
            <a:ext cx="2651760" cy="685800"/>
          </a:xfrm>
          <a:prstGeom prst="rect">
            <a:avLst/>
          </a:prstGeom>
          <a:solidFill>
            <a:srgbClr val="21295C"/>
          </a:solidFill>
          <a:ln/>
        </p:spPr>
      </p:sp>
      <p:pic>
        <p:nvPicPr>
          <p:cNvPr id="5" name="Image 0" descr="preencoded.png"/>
          <p:cNvPicPr>
            <a:picLocks noChangeAspect="1"/>
          </p:cNvPicPr>
          <p:nvPr/>
        </p:nvPicPr>
        <p:blipFill>
          <a:blip r:embed="rId1"/>
          <a:stretch>
            <a:fillRect/>
          </a:stretch>
        </p:blipFill>
        <p:spPr>
          <a:xfrm>
            <a:off x="502920" y="914400"/>
            <a:ext cx="457200" cy="457200"/>
          </a:xfrm>
          <a:prstGeom prst="rect">
            <a:avLst/>
          </a:prstGeom>
        </p:spPr>
      </p:pic>
      <p:sp>
        <p:nvSpPr>
          <p:cNvPr id="6" name="Text 3"/>
          <p:cNvSpPr/>
          <p:nvPr/>
        </p:nvSpPr>
        <p:spPr>
          <a:xfrm>
            <a:off x="1005840" y="932688"/>
            <a:ext cx="187452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SPIRE Server</a:t>
            </a:r>
            <a:endParaRPr lang="en-US" sz="1300" dirty="0"/>
          </a:p>
        </p:txBody>
      </p:sp>
      <p:sp>
        <p:nvSpPr>
          <p:cNvPr id="7" name="Shape 4"/>
          <p:cNvSpPr/>
          <p:nvPr/>
        </p:nvSpPr>
        <p:spPr>
          <a:xfrm>
            <a:off x="457200" y="1719072"/>
            <a:ext cx="2377440" cy="5943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Text 5"/>
          <p:cNvSpPr/>
          <p:nvPr/>
        </p:nvSpPr>
        <p:spPr>
          <a:xfrm>
            <a:off x="548640" y="1764792"/>
            <a:ext cx="219456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Manages registration entries</a:t>
            </a:r>
            <a:endParaRPr lang="en-US" sz="1100" dirty="0"/>
          </a:p>
        </p:txBody>
      </p:sp>
      <p:sp>
        <p:nvSpPr>
          <p:cNvPr id="9" name="Shape 6"/>
          <p:cNvSpPr/>
          <p:nvPr/>
        </p:nvSpPr>
        <p:spPr>
          <a:xfrm>
            <a:off x="457200" y="2450592"/>
            <a:ext cx="2377440" cy="5943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Text 7"/>
          <p:cNvSpPr/>
          <p:nvPr/>
        </p:nvSpPr>
        <p:spPr>
          <a:xfrm>
            <a:off x="548640" y="2496312"/>
            <a:ext cx="219456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Signs SVIDs via embedded CA</a:t>
            </a:r>
            <a:endParaRPr lang="en-US" sz="1100" dirty="0"/>
          </a:p>
        </p:txBody>
      </p:sp>
      <p:sp>
        <p:nvSpPr>
          <p:cNvPr id="11" name="Shape 8"/>
          <p:cNvSpPr/>
          <p:nvPr/>
        </p:nvSpPr>
        <p:spPr>
          <a:xfrm>
            <a:off x="457200" y="3182112"/>
            <a:ext cx="2377440" cy="5943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Text 9"/>
          <p:cNvSpPr/>
          <p:nvPr/>
        </p:nvSpPr>
        <p:spPr>
          <a:xfrm>
            <a:off x="548640" y="3227832"/>
            <a:ext cx="219456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Exposes Node &amp; Workload API</a:t>
            </a:r>
            <a:endParaRPr lang="en-US" sz="1100" dirty="0"/>
          </a:p>
        </p:txBody>
      </p:sp>
      <p:sp>
        <p:nvSpPr>
          <p:cNvPr id="13" name="Shape 10"/>
          <p:cNvSpPr/>
          <p:nvPr/>
        </p:nvSpPr>
        <p:spPr>
          <a:xfrm>
            <a:off x="3429000" y="868680"/>
            <a:ext cx="2651760" cy="347472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14" name="Shape 11"/>
          <p:cNvSpPr/>
          <p:nvPr/>
        </p:nvSpPr>
        <p:spPr>
          <a:xfrm>
            <a:off x="3429000" y="868680"/>
            <a:ext cx="2651760" cy="685800"/>
          </a:xfrm>
          <a:prstGeom prst="rect">
            <a:avLst/>
          </a:prstGeom>
          <a:solidFill>
            <a:srgbClr val="065A82"/>
          </a:solidFill>
          <a:ln/>
        </p:spPr>
      </p:sp>
      <p:pic>
        <p:nvPicPr>
          <p:cNvPr id="15" name="Image 1" descr="preencoded.png"/>
          <p:cNvPicPr>
            <a:picLocks noChangeAspect="1"/>
          </p:cNvPicPr>
          <p:nvPr/>
        </p:nvPicPr>
        <p:blipFill>
          <a:blip r:embed="rId2"/>
          <a:stretch>
            <a:fillRect/>
          </a:stretch>
        </p:blipFill>
        <p:spPr>
          <a:xfrm>
            <a:off x="3611880" y="914400"/>
            <a:ext cx="457200" cy="457200"/>
          </a:xfrm>
          <a:prstGeom prst="rect">
            <a:avLst/>
          </a:prstGeom>
        </p:spPr>
      </p:pic>
      <p:sp>
        <p:nvSpPr>
          <p:cNvPr id="16" name="Text 12"/>
          <p:cNvSpPr/>
          <p:nvPr/>
        </p:nvSpPr>
        <p:spPr>
          <a:xfrm>
            <a:off x="4114800" y="932688"/>
            <a:ext cx="187452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SPIRE Agent</a:t>
            </a:r>
            <a:endParaRPr lang="en-US" sz="1300" dirty="0"/>
          </a:p>
        </p:txBody>
      </p:sp>
      <p:sp>
        <p:nvSpPr>
          <p:cNvPr id="17" name="Shape 13"/>
          <p:cNvSpPr/>
          <p:nvPr/>
        </p:nvSpPr>
        <p:spPr>
          <a:xfrm>
            <a:off x="3566160" y="1719072"/>
            <a:ext cx="2377440" cy="5943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8" name="Text 14"/>
          <p:cNvSpPr/>
          <p:nvPr/>
        </p:nvSpPr>
        <p:spPr>
          <a:xfrm>
            <a:off x="3657600" y="1764792"/>
            <a:ext cx="219456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Runs on every node</a:t>
            </a:r>
            <a:endParaRPr lang="en-US" sz="1100" dirty="0"/>
          </a:p>
        </p:txBody>
      </p:sp>
      <p:sp>
        <p:nvSpPr>
          <p:cNvPr id="19" name="Shape 15"/>
          <p:cNvSpPr/>
          <p:nvPr/>
        </p:nvSpPr>
        <p:spPr>
          <a:xfrm>
            <a:off x="3566160" y="2450592"/>
            <a:ext cx="2377440" cy="5943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0" name="Text 16"/>
          <p:cNvSpPr/>
          <p:nvPr/>
        </p:nvSpPr>
        <p:spPr>
          <a:xfrm>
            <a:off x="3657600" y="2496312"/>
            <a:ext cx="219456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Attests node identity to Server</a:t>
            </a:r>
            <a:endParaRPr lang="en-US" sz="1100" dirty="0"/>
          </a:p>
        </p:txBody>
      </p:sp>
      <p:sp>
        <p:nvSpPr>
          <p:cNvPr id="21" name="Shape 17"/>
          <p:cNvSpPr/>
          <p:nvPr/>
        </p:nvSpPr>
        <p:spPr>
          <a:xfrm>
            <a:off x="3566160" y="3182112"/>
            <a:ext cx="2377440" cy="5943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2" name="Text 18"/>
          <p:cNvSpPr/>
          <p:nvPr/>
        </p:nvSpPr>
        <p:spPr>
          <a:xfrm>
            <a:off x="3657600" y="3227832"/>
            <a:ext cx="219456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Delivers SVIDs to workloads</a:t>
            </a:r>
            <a:endParaRPr lang="en-US" sz="1100" dirty="0"/>
          </a:p>
        </p:txBody>
      </p:sp>
      <p:sp>
        <p:nvSpPr>
          <p:cNvPr id="23" name="Shape 19"/>
          <p:cNvSpPr/>
          <p:nvPr/>
        </p:nvSpPr>
        <p:spPr>
          <a:xfrm>
            <a:off x="6537960" y="868680"/>
            <a:ext cx="2651760" cy="347472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24" name="Shape 20"/>
          <p:cNvSpPr/>
          <p:nvPr/>
        </p:nvSpPr>
        <p:spPr>
          <a:xfrm>
            <a:off x="6537960" y="868680"/>
            <a:ext cx="2651760" cy="685800"/>
          </a:xfrm>
          <a:prstGeom prst="rect">
            <a:avLst/>
          </a:prstGeom>
          <a:solidFill>
            <a:srgbClr val="0D9488"/>
          </a:solidFill>
          <a:ln/>
        </p:spPr>
      </p:sp>
      <p:pic>
        <p:nvPicPr>
          <p:cNvPr id="25" name="Image 2" descr="preencoded.png"/>
          <p:cNvPicPr>
            <a:picLocks noChangeAspect="1"/>
          </p:cNvPicPr>
          <p:nvPr/>
        </p:nvPicPr>
        <p:blipFill>
          <a:blip r:embed="rId3"/>
          <a:stretch>
            <a:fillRect/>
          </a:stretch>
        </p:blipFill>
        <p:spPr>
          <a:xfrm>
            <a:off x="6720840" y="914400"/>
            <a:ext cx="457200" cy="457200"/>
          </a:xfrm>
          <a:prstGeom prst="rect">
            <a:avLst/>
          </a:prstGeom>
        </p:spPr>
      </p:pic>
      <p:sp>
        <p:nvSpPr>
          <p:cNvPr id="26" name="Text 21"/>
          <p:cNvSpPr/>
          <p:nvPr/>
        </p:nvSpPr>
        <p:spPr>
          <a:xfrm>
            <a:off x="7223760" y="932688"/>
            <a:ext cx="187452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Workload</a:t>
            </a:r>
            <a:endParaRPr lang="en-US" sz="1300" dirty="0"/>
          </a:p>
        </p:txBody>
      </p:sp>
      <p:sp>
        <p:nvSpPr>
          <p:cNvPr id="27" name="Shape 22"/>
          <p:cNvSpPr/>
          <p:nvPr/>
        </p:nvSpPr>
        <p:spPr>
          <a:xfrm>
            <a:off x="6675120" y="1719072"/>
            <a:ext cx="2377440" cy="5943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8" name="Text 23"/>
          <p:cNvSpPr/>
          <p:nvPr/>
        </p:nvSpPr>
        <p:spPr>
          <a:xfrm>
            <a:off x="6766560" y="1764792"/>
            <a:ext cx="219456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Fetches SVID via Unix socket</a:t>
            </a:r>
            <a:endParaRPr lang="en-US" sz="1100" dirty="0"/>
          </a:p>
        </p:txBody>
      </p:sp>
      <p:sp>
        <p:nvSpPr>
          <p:cNvPr id="29" name="Shape 24"/>
          <p:cNvSpPr/>
          <p:nvPr/>
        </p:nvSpPr>
        <p:spPr>
          <a:xfrm>
            <a:off x="6675120" y="2450592"/>
            <a:ext cx="2377440" cy="5943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0" name="Text 25"/>
          <p:cNvSpPr/>
          <p:nvPr/>
        </p:nvSpPr>
        <p:spPr>
          <a:xfrm>
            <a:off x="6766560" y="2496312"/>
            <a:ext cx="219456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Zero pre-shared secrets</a:t>
            </a:r>
            <a:endParaRPr lang="en-US" sz="1100" dirty="0"/>
          </a:p>
        </p:txBody>
      </p:sp>
      <p:sp>
        <p:nvSpPr>
          <p:cNvPr id="31" name="Shape 26"/>
          <p:cNvSpPr/>
          <p:nvPr/>
        </p:nvSpPr>
        <p:spPr>
          <a:xfrm>
            <a:off x="6675120" y="3182112"/>
            <a:ext cx="2377440" cy="5943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2" name="Text 27"/>
          <p:cNvSpPr/>
          <p:nvPr/>
        </p:nvSpPr>
        <p:spPr>
          <a:xfrm>
            <a:off x="6766560" y="3227832"/>
            <a:ext cx="219456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Auto-rotates before expiry</a:t>
            </a:r>
            <a:endParaRPr lang="en-US" sz="1100" dirty="0"/>
          </a:p>
        </p:txBody>
      </p:sp>
      <p:sp>
        <p:nvSpPr>
          <p:cNvPr id="33" name="Shape 28"/>
          <p:cNvSpPr/>
          <p:nvPr/>
        </p:nvSpPr>
        <p:spPr>
          <a:xfrm>
            <a:off x="2039112" y="2468880"/>
            <a:ext cx="1252728" cy="0"/>
          </a:xfrm>
          <a:prstGeom prst="line">
            <a:avLst/>
          </a:prstGeom>
          <a:noFill/>
          <a:ln w="31750">
            <a:solidFill>
              <a:srgbClr val="1C7293"/>
            </a:solidFill>
            <a:prstDash val="solid"/>
          </a:ln>
        </p:spPr>
      </p:sp>
      <p:sp>
        <p:nvSpPr>
          <p:cNvPr id="34" name="Text 29"/>
          <p:cNvSpPr/>
          <p:nvPr/>
        </p:nvSpPr>
        <p:spPr>
          <a:xfrm>
            <a:off x="1956816" y="2212848"/>
            <a:ext cx="1371600" cy="274320"/>
          </a:xfrm>
          <a:prstGeom prst="rect">
            <a:avLst/>
          </a:prstGeom>
          <a:noFill/>
          <a:ln/>
        </p:spPr>
        <p:txBody>
          <a:bodyPr wrap="square" lIns="0" tIns="0" rIns="0" bIns="0" rtlCol="0" anchor="ctr"/>
          <a:lstStyle/>
          <a:p>
            <a:pPr algn="ctr" indent="0" marL="0">
              <a:buNone/>
            </a:pPr>
            <a:r>
              <a:rPr lang="en-US" sz="1000" dirty="0">
                <a:solidFill>
                  <a:srgbClr val="1C7293"/>
                </a:solidFill>
                <a:latin typeface="Calibri" pitchFamily="34" charset="0"/>
                <a:ea typeface="Calibri" pitchFamily="34" charset="-122"/>
                <a:cs typeface="Calibri" pitchFamily="34" charset="-120"/>
              </a:rPr>
              <a:t>Node Attestation</a:t>
            </a:r>
            <a:endParaRPr lang="en-US" sz="1000" dirty="0"/>
          </a:p>
        </p:txBody>
      </p:sp>
      <p:sp>
        <p:nvSpPr>
          <p:cNvPr id="35" name="Shape 30"/>
          <p:cNvSpPr/>
          <p:nvPr/>
        </p:nvSpPr>
        <p:spPr>
          <a:xfrm>
            <a:off x="5148072" y="2468880"/>
            <a:ext cx="1252728" cy="0"/>
          </a:xfrm>
          <a:prstGeom prst="line">
            <a:avLst/>
          </a:prstGeom>
          <a:noFill/>
          <a:ln w="31750">
            <a:solidFill>
              <a:srgbClr val="1C7293"/>
            </a:solidFill>
            <a:prstDash val="solid"/>
          </a:ln>
        </p:spPr>
      </p:sp>
      <p:sp>
        <p:nvSpPr>
          <p:cNvPr id="36" name="Text 31"/>
          <p:cNvSpPr/>
          <p:nvPr/>
        </p:nvSpPr>
        <p:spPr>
          <a:xfrm>
            <a:off x="5065776" y="2212848"/>
            <a:ext cx="1371600" cy="274320"/>
          </a:xfrm>
          <a:prstGeom prst="rect">
            <a:avLst/>
          </a:prstGeom>
          <a:noFill/>
          <a:ln/>
        </p:spPr>
        <p:txBody>
          <a:bodyPr wrap="square" lIns="0" tIns="0" rIns="0" bIns="0" rtlCol="0" anchor="ctr"/>
          <a:lstStyle/>
          <a:p>
            <a:pPr algn="ctr" indent="0" marL="0">
              <a:buNone/>
            </a:pPr>
            <a:r>
              <a:rPr lang="en-US" sz="1000" dirty="0">
                <a:solidFill>
                  <a:srgbClr val="1C7293"/>
                </a:solidFill>
                <a:latin typeface="Calibri" pitchFamily="34" charset="0"/>
                <a:ea typeface="Calibri" pitchFamily="34" charset="-122"/>
                <a:cs typeface="Calibri" pitchFamily="34" charset="-120"/>
              </a:rPr>
              <a:t>SVID Delivery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E3F"/>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X.509-SVID: Cryptographic Structure</a:t>
            </a:r>
            <a:endParaRPr lang="en-US" sz="2800" dirty="0"/>
          </a:p>
        </p:txBody>
      </p:sp>
      <p:sp>
        <p:nvSpPr>
          <p:cNvPr id="3" name="Text 1"/>
          <p:cNvSpPr/>
          <p:nvPr/>
        </p:nvSpPr>
        <p:spPr>
          <a:xfrm>
            <a:off x="457200" y="685800"/>
            <a:ext cx="8229600" cy="274320"/>
          </a:xfrm>
          <a:prstGeom prst="rect">
            <a:avLst/>
          </a:prstGeom>
          <a:noFill/>
          <a:ln/>
        </p:spPr>
        <p:txBody>
          <a:bodyPr wrap="square" lIns="0" tIns="0" rIns="0" bIns="0" rtlCol="0" anchor="ctr"/>
          <a:lstStyle/>
          <a:p>
            <a:pPr indent="0" marL="0">
              <a:buNone/>
            </a:pPr>
            <a:r>
              <a:rPr lang="en-US" sz="1300" dirty="0">
                <a:solidFill>
                  <a:srgbClr val="6EA8C0"/>
                </a:solidFill>
                <a:latin typeface="Calibri" pitchFamily="34" charset="0"/>
                <a:ea typeface="Calibri" pitchFamily="34" charset="-122"/>
                <a:cs typeface="Calibri" pitchFamily="34" charset="-120"/>
              </a:rPr>
              <a:t>The identity document that replaces static API keys</a:t>
            </a:r>
            <a:endParaRPr lang="en-US" sz="1300" dirty="0"/>
          </a:p>
        </p:txBody>
      </p:sp>
      <p:sp>
        <p:nvSpPr>
          <p:cNvPr id="4" name="Shape 2"/>
          <p:cNvSpPr/>
          <p:nvPr/>
        </p:nvSpPr>
        <p:spPr>
          <a:xfrm>
            <a:off x="320040" y="1097280"/>
            <a:ext cx="8503920" cy="502920"/>
          </a:xfrm>
          <a:prstGeom prst="rect">
            <a:avLst/>
          </a:prstGeom>
          <a:solidFill>
            <a:srgbClr val="0F243B"/>
          </a:solidFill>
          <a:ln/>
        </p:spPr>
      </p:sp>
      <p:sp>
        <p:nvSpPr>
          <p:cNvPr id="5" name="Text 3"/>
          <p:cNvSpPr/>
          <p:nvPr/>
        </p:nvSpPr>
        <p:spPr>
          <a:xfrm>
            <a:off x="502920" y="1188720"/>
            <a:ext cx="2103120" cy="320040"/>
          </a:xfrm>
          <a:prstGeom prst="rect">
            <a:avLst/>
          </a:prstGeom>
          <a:noFill/>
          <a:ln/>
        </p:spPr>
        <p:txBody>
          <a:bodyPr wrap="square" lIns="0" tIns="0" rIns="0" bIns="0" rtlCol="0" anchor="ctr"/>
          <a:lstStyle/>
          <a:p>
            <a:pPr indent="0" marL="0">
              <a:buNone/>
            </a:pPr>
            <a:r>
              <a:rPr lang="en-US" sz="1200" b="1" dirty="0">
                <a:solidFill>
                  <a:srgbClr val="8AADBE"/>
                </a:solidFill>
                <a:latin typeface="Calibri" pitchFamily="34" charset="0"/>
                <a:ea typeface="Calibri" pitchFamily="34" charset="-122"/>
                <a:cs typeface="Calibri" pitchFamily="34" charset="-120"/>
              </a:rPr>
              <a:t>Subject (CN):</a:t>
            </a:r>
            <a:endParaRPr lang="en-US" sz="1200" dirty="0"/>
          </a:p>
        </p:txBody>
      </p:sp>
      <p:sp>
        <p:nvSpPr>
          <p:cNvPr id="6" name="Text 4"/>
          <p:cNvSpPr/>
          <p:nvPr/>
        </p:nvSpPr>
        <p:spPr>
          <a:xfrm>
            <a:off x="2651760" y="1188720"/>
            <a:ext cx="6035040" cy="320040"/>
          </a:xfrm>
          <a:prstGeom prst="rect">
            <a:avLst/>
          </a:prstGeom>
          <a:noFill/>
          <a:ln/>
        </p:spPr>
        <p:txBody>
          <a:bodyPr wrap="square" lIns="0" tIns="0" rIns="0" bIns="0" rtlCol="0" anchor="ctr"/>
          <a:lstStyle/>
          <a:p>
            <a:pPr indent="0" marL="0">
              <a:buNone/>
            </a:pPr>
            <a:r>
              <a:rPr lang="en-US" sz="1200" dirty="0">
                <a:solidFill>
                  <a:srgbClr val="C8D8E0"/>
                </a:solidFill>
                <a:latin typeface="Consolas" pitchFamily="34" charset="0"/>
                <a:ea typeface="Consolas" pitchFamily="34" charset="-122"/>
                <a:cs typeface="Consolas" pitchFamily="34" charset="-120"/>
              </a:rPr>
              <a:t>Not used for identity routing</a:t>
            </a:r>
            <a:endParaRPr lang="en-US" sz="1200" dirty="0"/>
          </a:p>
        </p:txBody>
      </p:sp>
      <p:sp>
        <p:nvSpPr>
          <p:cNvPr id="7" name="Shape 5"/>
          <p:cNvSpPr/>
          <p:nvPr/>
        </p:nvSpPr>
        <p:spPr>
          <a:xfrm>
            <a:off x="320040" y="1691640"/>
            <a:ext cx="8503920" cy="502920"/>
          </a:xfrm>
          <a:prstGeom prst="rect">
            <a:avLst/>
          </a:prstGeom>
          <a:solidFill>
            <a:srgbClr val="0D2A40"/>
          </a:solidFill>
          <a:ln/>
        </p:spPr>
      </p:sp>
      <p:sp>
        <p:nvSpPr>
          <p:cNvPr id="8" name="Shape 6"/>
          <p:cNvSpPr/>
          <p:nvPr/>
        </p:nvSpPr>
        <p:spPr>
          <a:xfrm>
            <a:off x="320040" y="1691640"/>
            <a:ext cx="91440" cy="502920"/>
          </a:xfrm>
          <a:prstGeom prst="rect">
            <a:avLst/>
          </a:prstGeom>
          <a:solidFill>
            <a:srgbClr val="0D9488"/>
          </a:solidFill>
          <a:ln/>
        </p:spPr>
      </p:sp>
      <p:sp>
        <p:nvSpPr>
          <p:cNvPr id="9" name="Text 7"/>
          <p:cNvSpPr/>
          <p:nvPr/>
        </p:nvSpPr>
        <p:spPr>
          <a:xfrm>
            <a:off x="502920" y="1783080"/>
            <a:ext cx="2103120" cy="32004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SAN URI:</a:t>
            </a:r>
            <a:endParaRPr lang="en-US" sz="1200" dirty="0"/>
          </a:p>
        </p:txBody>
      </p:sp>
      <p:sp>
        <p:nvSpPr>
          <p:cNvPr id="10" name="Text 8"/>
          <p:cNvSpPr/>
          <p:nvPr/>
        </p:nvSpPr>
        <p:spPr>
          <a:xfrm>
            <a:off x="2651760" y="1783080"/>
            <a:ext cx="6035040" cy="320040"/>
          </a:xfrm>
          <a:prstGeom prst="rect">
            <a:avLst/>
          </a:prstGeom>
          <a:noFill/>
          <a:ln/>
        </p:spPr>
        <p:txBody>
          <a:bodyPr wrap="square" lIns="0" tIns="0" rIns="0" bIns="0" rtlCol="0" anchor="ctr"/>
          <a:lstStyle/>
          <a:p>
            <a:pPr indent="0" marL="0">
              <a:buNone/>
            </a:pPr>
            <a:r>
              <a:rPr lang="en-US" sz="1200" dirty="0">
                <a:solidFill>
                  <a:srgbClr val="FFFFFF"/>
                </a:solidFill>
                <a:latin typeface="Consolas" pitchFamily="34" charset="0"/>
                <a:ea typeface="Consolas" pitchFamily="34" charset="-122"/>
                <a:cs typeface="Consolas" pitchFamily="34" charset="-120"/>
              </a:rPr>
              <a:t>spiffe://prod.example.com/ns/default/sa/frontend</a:t>
            </a:r>
            <a:endParaRPr lang="en-US" sz="1200" dirty="0"/>
          </a:p>
        </p:txBody>
      </p:sp>
      <p:sp>
        <p:nvSpPr>
          <p:cNvPr id="11" name="Shape 9"/>
          <p:cNvSpPr/>
          <p:nvPr/>
        </p:nvSpPr>
        <p:spPr>
          <a:xfrm>
            <a:off x="320040" y="2286000"/>
            <a:ext cx="8503920" cy="502920"/>
          </a:xfrm>
          <a:prstGeom prst="rect">
            <a:avLst/>
          </a:prstGeom>
          <a:solidFill>
            <a:srgbClr val="0F243B"/>
          </a:solidFill>
          <a:ln/>
        </p:spPr>
      </p:sp>
      <p:sp>
        <p:nvSpPr>
          <p:cNvPr id="12" name="Text 10"/>
          <p:cNvSpPr/>
          <p:nvPr/>
        </p:nvSpPr>
        <p:spPr>
          <a:xfrm>
            <a:off x="502920" y="2377440"/>
            <a:ext cx="2103120" cy="320040"/>
          </a:xfrm>
          <a:prstGeom prst="rect">
            <a:avLst/>
          </a:prstGeom>
          <a:noFill/>
          <a:ln/>
        </p:spPr>
        <p:txBody>
          <a:bodyPr wrap="square" lIns="0" tIns="0" rIns="0" bIns="0" rtlCol="0" anchor="ctr"/>
          <a:lstStyle/>
          <a:p>
            <a:pPr indent="0" marL="0">
              <a:buNone/>
            </a:pPr>
            <a:r>
              <a:rPr lang="en-US" sz="1200" b="1" dirty="0">
                <a:solidFill>
                  <a:srgbClr val="8AADBE"/>
                </a:solidFill>
                <a:latin typeface="Calibri" pitchFamily="34" charset="0"/>
                <a:ea typeface="Calibri" pitchFamily="34" charset="-122"/>
                <a:cs typeface="Calibri" pitchFamily="34" charset="-120"/>
              </a:rPr>
              <a:t>Key Usage:</a:t>
            </a:r>
            <a:endParaRPr lang="en-US" sz="1200" dirty="0"/>
          </a:p>
        </p:txBody>
      </p:sp>
      <p:sp>
        <p:nvSpPr>
          <p:cNvPr id="13" name="Text 11"/>
          <p:cNvSpPr/>
          <p:nvPr/>
        </p:nvSpPr>
        <p:spPr>
          <a:xfrm>
            <a:off x="2651760" y="2377440"/>
            <a:ext cx="6035040" cy="320040"/>
          </a:xfrm>
          <a:prstGeom prst="rect">
            <a:avLst/>
          </a:prstGeom>
          <a:noFill/>
          <a:ln/>
        </p:spPr>
        <p:txBody>
          <a:bodyPr wrap="square" lIns="0" tIns="0" rIns="0" bIns="0" rtlCol="0" anchor="ctr"/>
          <a:lstStyle/>
          <a:p>
            <a:pPr indent="0" marL="0">
              <a:buNone/>
            </a:pPr>
            <a:r>
              <a:rPr lang="en-US" sz="1200" dirty="0">
                <a:solidFill>
                  <a:srgbClr val="C8D8E0"/>
                </a:solidFill>
                <a:latin typeface="Consolas" pitchFamily="34" charset="0"/>
                <a:ea typeface="Consolas" pitchFamily="34" charset="-122"/>
                <a:cs typeface="Consolas" pitchFamily="34" charset="-120"/>
              </a:rPr>
              <a:t>Digital Signature, Key Encipherment</a:t>
            </a:r>
            <a:endParaRPr lang="en-US" sz="1200" dirty="0"/>
          </a:p>
        </p:txBody>
      </p:sp>
      <p:sp>
        <p:nvSpPr>
          <p:cNvPr id="14" name="Shape 12"/>
          <p:cNvSpPr/>
          <p:nvPr/>
        </p:nvSpPr>
        <p:spPr>
          <a:xfrm>
            <a:off x="320040" y="2880360"/>
            <a:ext cx="8503920" cy="502920"/>
          </a:xfrm>
          <a:prstGeom prst="rect">
            <a:avLst/>
          </a:prstGeom>
          <a:solidFill>
            <a:srgbClr val="0D2A40"/>
          </a:solidFill>
          <a:ln/>
        </p:spPr>
      </p:sp>
      <p:sp>
        <p:nvSpPr>
          <p:cNvPr id="15" name="Shape 13"/>
          <p:cNvSpPr/>
          <p:nvPr/>
        </p:nvSpPr>
        <p:spPr>
          <a:xfrm>
            <a:off x="320040" y="2880360"/>
            <a:ext cx="91440" cy="502920"/>
          </a:xfrm>
          <a:prstGeom prst="rect">
            <a:avLst/>
          </a:prstGeom>
          <a:solidFill>
            <a:srgbClr val="0D9488"/>
          </a:solidFill>
          <a:ln/>
        </p:spPr>
      </p:sp>
      <p:sp>
        <p:nvSpPr>
          <p:cNvPr id="16" name="Text 14"/>
          <p:cNvSpPr/>
          <p:nvPr/>
        </p:nvSpPr>
        <p:spPr>
          <a:xfrm>
            <a:off x="502920" y="2971800"/>
            <a:ext cx="2103120" cy="32004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Extended Key Usage:</a:t>
            </a:r>
            <a:endParaRPr lang="en-US" sz="1200" dirty="0"/>
          </a:p>
        </p:txBody>
      </p:sp>
      <p:sp>
        <p:nvSpPr>
          <p:cNvPr id="17" name="Text 15"/>
          <p:cNvSpPr/>
          <p:nvPr/>
        </p:nvSpPr>
        <p:spPr>
          <a:xfrm>
            <a:off x="2651760" y="2971800"/>
            <a:ext cx="6035040" cy="320040"/>
          </a:xfrm>
          <a:prstGeom prst="rect">
            <a:avLst/>
          </a:prstGeom>
          <a:noFill/>
          <a:ln/>
        </p:spPr>
        <p:txBody>
          <a:bodyPr wrap="square" lIns="0" tIns="0" rIns="0" bIns="0" rtlCol="0" anchor="ctr"/>
          <a:lstStyle/>
          <a:p>
            <a:pPr indent="0" marL="0">
              <a:buNone/>
            </a:pPr>
            <a:r>
              <a:rPr lang="en-US" sz="1200" dirty="0">
                <a:solidFill>
                  <a:srgbClr val="FFFFFF"/>
                </a:solidFill>
                <a:latin typeface="Consolas" pitchFamily="34" charset="0"/>
                <a:ea typeface="Consolas" pitchFamily="34" charset="-122"/>
                <a:cs typeface="Consolas" pitchFamily="34" charset="-120"/>
              </a:rPr>
              <a:t>TLS Web Server + Client Auth (both required)</a:t>
            </a:r>
            <a:endParaRPr lang="en-US" sz="1200" dirty="0"/>
          </a:p>
        </p:txBody>
      </p:sp>
      <p:sp>
        <p:nvSpPr>
          <p:cNvPr id="18" name="Shape 16"/>
          <p:cNvSpPr/>
          <p:nvPr/>
        </p:nvSpPr>
        <p:spPr>
          <a:xfrm>
            <a:off x="320040" y="3474720"/>
            <a:ext cx="8503920" cy="502920"/>
          </a:xfrm>
          <a:prstGeom prst="rect">
            <a:avLst/>
          </a:prstGeom>
          <a:solidFill>
            <a:srgbClr val="0F243B"/>
          </a:solidFill>
          <a:ln/>
        </p:spPr>
      </p:sp>
      <p:sp>
        <p:nvSpPr>
          <p:cNvPr id="19" name="Text 17"/>
          <p:cNvSpPr/>
          <p:nvPr/>
        </p:nvSpPr>
        <p:spPr>
          <a:xfrm>
            <a:off x="502920" y="3566160"/>
            <a:ext cx="2103120" cy="320040"/>
          </a:xfrm>
          <a:prstGeom prst="rect">
            <a:avLst/>
          </a:prstGeom>
          <a:noFill/>
          <a:ln/>
        </p:spPr>
        <p:txBody>
          <a:bodyPr wrap="square" lIns="0" tIns="0" rIns="0" bIns="0" rtlCol="0" anchor="ctr"/>
          <a:lstStyle/>
          <a:p>
            <a:pPr indent="0" marL="0">
              <a:buNone/>
            </a:pPr>
            <a:r>
              <a:rPr lang="en-US" sz="1200" b="1" dirty="0">
                <a:solidFill>
                  <a:srgbClr val="8AADBE"/>
                </a:solidFill>
                <a:latin typeface="Calibri" pitchFamily="34" charset="0"/>
                <a:ea typeface="Calibri" pitchFamily="34" charset="-122"/>
                <a:cs typeface="Calibri" pitchFamily="34" charset="-120"/>
              </a:rPr>
              <a:t>Validity (TTL):</a:t>
            </a:r>
            <a:endParaRPr lang="en-US" sz="1200" dirty="0"/>
          </a:p>
        </p:txBody>
      </p:sp>
      <p:sp>
        <p:nvSpPr>
          <p:cNvPr id="20" name="Text 18"/>
          <p:cNvSpPr/>
          <p:nvPr/>
        </p:nvSpPr>
        <p:spPr>
          <a:xfrm>
            <a:off x="2651760" y="3566160"/>
            <a:ext cx="6035040" cy="320040"/>
          </a:xfrm>
          <a:prstGeom prst="rect">
            <a:avLst/>
          </a:prstGeom>
          <a:noFill/>
          <a:ln/>
        </p:spPr>
        <p:txBody>
          <a:bodyPr wrap="square" lIns="0" tIns="0" rIns="0" bIns="0" rtlCol="0" anchor="ctr"/>
          <a:lstStyle/>
          <a:p>
            <a:pPr indent="0" marL="0">
              <a:buNone/>
            </a:pPr>
            <a:r>
              <a:rPr lang="en-US" sz="1200" dirty="0">
                <a:solidFill>
                  <a:srgbClr val="C8D8E0"/>
                </a:solidFill>
                <a:latin typeface="Consolas" pitchFamily="34" charset="0"/>
                <a:ea typeface="Consolas" pitchFamily="34" charset="-122"/>
                <a:cs typeface="Consolas" pitchFamily="34" charset="-120"/>
              </a:rPr>
              <a:t>1 hour  (configurable; 24h max recommended)</a:t>
            </a:r>
            <a:endParaRPr lang="en-US" sz="1200" dirty="0"/>
          </a:p>
        </p:txBody>
      </p:sp>
      <p:sp>
        <p:nvSpPr>
          <p:cNvPr id="21" name="Shape 19"/>
          <p:cNvSpPr/>
          <p:nvPr/>
        </p:nvSpPr>
        <p:spPr>
          <a:xfrm>
            <a:off x="320040" y="4069080"/>
            <a:ext cx="8503920" cy="502920"/>
          </a:xfrm>
          <a:prstGeom prst="rect">
            <a:avLst/>
          </a:prstGeom>
          <a:solidFill>
            <a:srgbClr val="0F243B"/>
          </a:solidFill>
          <a:ln/>
        </p:spPr>
      </p:sp>
      <p:sp>
        <p:nvSpPr>
          <p:cNvPr id="22" name="Text 20"/>
          <p:cNvSpPr/>
          <p:nvPr/>
        </p:nvSpPr>
        <p:spPr>
          <a:xfrm>
            <a:off x="502920" y="4160520"/>
            <a:ext cx="2103120" cy="320040"/>
          </a:xfrm>
          <a:prstGeom prst="rect">
            <a:avLst/>
          </a:prstGeom>
          <a:noFill/>
          <a:ln/>
        </p:spPr>
        <p:txBody>
          <a:bodyPr wrap="square" lIns="0" tIns="0" rIns="0" bIns="0" rtlCol="0" anchor="ctr"/>
          <a:lstStyle/>
          <a:p>
            <a:pPr indent="0" marL="0">
              <a:buNone/>
            </a:pPr>
            <a:r>
              <a:rPr lang="en-US" sz="1200" b="1" dirty="0">
                <a:solidFill>
                  <a:srgbClr val="8AADBE"/>
                </a:solidFill>
                <a:latin typeface="Calibri" pitchFamily="34" charset="0"/>
                <a:ea typeface="Calibri" pitchFamily="34" charset="-122"/>
                <a:cs typeface="Calibri" pitchFamily="34" charset="-120"/>
              </a:rPr>
              <a:t>Issuer:</a:t>
            </a:r>
            <a:endParaRPr lang="en-US" sz="1200" dirty="0"/>
          </a:p>
        </p:txBody>
      </p:sp>
      <p:sp>
        <p:nvSpPr>
          <p:cNvPr id="23" name="Text 21"/>
          <p:cNvSpPr/>
          <p:nvPr/>
        </p:nvSpPr>
        <p:spPr>
          <a:xfrm>
            <a:off x="2651760" y="4160520"/>
            <a:ext cx="6035040" cy="320040"/>
          </a:xfrm>
          <a:prstGeom prst="rect">
            <a:avLst/>
          </a:prstGeom>
          <a:noFill/>
          <a:ln/>
        </p:spPr>
        <p:txBody>
          <a:bodyPr wrap="square" lIns="0" tIns="0" rIns="0" bIns="0" rtlCol="0" anchor="ctr"/>
          <a:lstStyle/>
          <a:p>
            <a:pPr indent="0" marL="0">
              <a:buNone/>
            </a:pPr>
            <a:r>
              <a:rPr lang="en-US" sz="1200" dirty="0">
                <a:solidFill>
                  <a:srgbClr val="C8D8E0"/>
                </a:solidFill>
                <a:latin typeface="Consolas" pitchFamily="34" charset="0"/>
                <a:ea typeface="Consolas" pitchFamily="34" charset="-122"/>
                <a:cs typeface="Consolas" pitchFamily="34" charset="-120"/>
              </a:rPr>
              <a:t>SPIRE Server intermediate CA</a:t>
            </a:r>
            <a:endParaRPr lang="en-US" sz="1200" dirty="0"/>
          </a:p>
        </p:txBody>
      </p:sp>
      <p:sp>
        <p:nvSpPr>
          <p:cNvPr id="24" name="Text 22"/>
          <p:cNvSpPr/>
          <p:nvPr/>
        </p:nvSpPr>
        <p:spPr>
          <a:xfrm>
            <a:off x="320040" y="4663440"/>
            <a:ext cx="8503920" cy="320040"/>
          </a:xfrm>
          <a:prstGeom prst="rect">
            <a:avLst/>
          </a:prstGeom>
          <a:noFill/>
          <a:ln/>
        </p:spPr>
        <p:txBody>
          <a:bodyPr wrap="square" lIns="0" tIns="0" rIns="0" bIns="0" rtlCol="0" anchor="ctr"/>
          <a:lstStyle/>
          <a:p>
            <a:pPr indent="0" marL="0">
              <a:buNone/>
            </a:pPr>
            <a:r>
              <a:rPr lang="en-US" sz="1100" i="1" dirty="0">
                <a:solidFill>
                  <a:srgbClr val="D4A017"/>
                </a:solidFill>
                <a:latin typeface="Calibri" pitchFamily="34" charset="0"/>
                <a:ea typeface="Calibri" pitchFamily="34" charset="-122"/>
                <a:cs typeface="Calibri" pitchFamily="34" charset="-120"/>
              </a:rPr>
              <a:t>Key insight: identity lives in the SAN URI — not the CN, not IP SANs. Verifiers MUST ignore CN.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indent="0" marL="0">
              <a:buNone/>
            </a:pPr>
            <a:r>
              <a:rPr lang="en-US" sz="3000" b="1" dirty="0">
                <a:solidFill>
                  <a:srgbClr val="0B1E3F"/>
                </a:solidFill>
                <a:latin typeface="Calibri" pitchFamily="34" charset="0"/>
                <a:ea typeface="Calibri" pitchFamily="34" charset="-122"/>
                <a:cs typeface="Calibri" pitchFamily="34" charset="-120"/>
              </a:rPr>
              <a:t>JWT-SVID vs X.509-SVID</a:t>
            </a:r>
            <a:endParaRPr lang="en-US" sz="3000" dirty="0"/>
          </a:p>
        </p:txBody>
      </p:sp>
      <p:sp>
        <p:nvSpPr>
          <p:cNvPr id="3" name="Text 1"/>
          <p:cNvSpPr/>
          <p:nvPr/>
        </p:nvSpPr>
        <p:spPr>
          <a:xfrm>
            <a:off x="457200" y="685800"/>
            <a:ext cx="8229600" cy="27432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Two identity formats — different use cases, same trust model</a:t>
            </a:r>
            <a:endParaRPr lang="en-US" sz="1300" dirty="0"/>
          </a:p>
        </p:txBody>
      </p:sp>
      <p:sp>
        <p:nvSpPr>
          <p:cNvPr id="4" name="Shape 2"/>
          <p:cNvSpPr/>
          <p:nvPr/>
        </p:nvSpPr>
        <p:spPr>
          <a:xfrm>
            <a:off x="320040" y="1097280"/>
            <a:ext cx="8503920" cy="457200"/>
          </a:xfrm>
          <a:prstGeom prst="rect">
            <a:avLst/>
          </a:prstGeom>
          <a:solidFill>
            <a:srgbClr val="0B1E3F"/>
          </a:solidFill>
          <a:ln/>
        </p:spPr>
      </p:sp>
      <p:sp>
        <p:nvSpPr>
          <p:cNvPr id="5" name="Text 3"/>
          <p:cNvSpPr/>
          <p:nvPr/>
        </p:nvSpPr>
        <p:spPr>
          <a:xfrm>
            <a:off x="411480" y="1143000"/>
            <a:ext cx="21945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Property</a:t>
            </a:r>
            <a:endParaRPr lang="en-US" sz="1300" dirty="0"/>
          </a:p>
        </p:txBody>
      </p:sp>
      <p:sp>
        <p:nvSpPr>
          <p:cNvPr id="6" name="Text 4"/>
          <p:cNvSpPr/>
          <p:nvPr/>
        </p:nvSpPr>
        <p:spPr>
          <a:xfrm>
            <a:off x="2697480" y="1143000"/>
            <a:ext cx="301752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X.509-SVID</a:t>
            </a:r>
            <a:endParaRPr lang="en-US" sz="1300" dirty="0"/>
          </a:p>
        </p:txBody>
      </p:sp>
      <p:sp>
        <p:nvSpPr>
          <p:cNvPr id="7" name="Text 5"/>
          <p:cNvSpPr/>
          <p:nvPr/>
        </p:nvSpPr>
        <p:spPr>
          <a:xfrm>
            <a:off x="5806440" y="1143000"/>
            <a:ext cx="29260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JWT-SVID</a:t>
            </a:r>
            <a:endParaRPr lang="en-US" sz="1300" dirty="0"/>
          </a:p>
        </p:txBody>
      </p:sp>
      <p:sp>
        <p:nvSpPr>
          <p:cNvPr id="8" name="Shape 6"/>
          <p:cNvSpPr/>
          <p:nvPr/>
        </p:nvSpPr>
        <p:spPr>
          <a:xfrm>
            <a:off x="320040" y="1600200"/>
            <a:ext cx="8503920" cy="457200"/>
          </a:xfrm>
          <a:prstGeom prst="rect">
            <a:avLst/>
          </a:prstGeom>
          <a:solidFill>
            <a:srgbClr val="FFFFFF"/>
          </a:solidFill>
          <a:ln/>
        </p:spPr>
      </p:sp>
      <p:sp>
        <p:nvSpPr>
          <p:cNvPr id="9" name="Text 7"/>
          <p:cNvSpPr/>
          <p:nvPr/>
        </p:nvSpPr>
        <p:spPr>
          <a:xfrm>
            <a:off x="411480" y="1645920"/>
            <a:ext cx="2194560" cy="365760"/>
          </a:xfrm>
          <a:prstGeom prst="rect">
            <a:avLst/>
          </a:prstGeom>
          <a:noFill/>
          <a:ln/>
        </p:spPr>
        <p:txBody>
          <a:bodyPr wrap="square" lIns="0" tIns="0" rIns="0" bIns="0" rtlCol="0" anchor="ctr"/>
          <a:lstStyle/>
          <a:p>
            <a:pPr indent="0" marL="0">
              <a:buNone/>
            </a:pPr>
            <a:r>
              <a:rPr lang="en-US" sz="1200" dirty="0">
                <a:solidFill>
                  <a:srgbClr val="1E293B"/>
                </a:solidFill>
                <a:latin typeface="Consolas" pitchFamily="34" charset="0"/>
                <a:ea typeface="Consolas" pitchFamily="34" charset="-122"/>
                <a:cs typeface="Consolas" pitchFamily="34" charset="-120"/>
              </a:rPr>
              <a:t>Transport</a:t>
            </a:r>
            <a:endParaRPr lang="en-US" sz="1200" dirty="0"/>
          </a:p>
        </p:txBody>
      </p:sp>
      <p:sp>
        <p:nvSpPr>
          <p:cNvPr id="10" name="Text 8"/>
          <p:cNvSpPr/>
          <p:nvPr/>
        </p:nvSpPr>
        <p:spPr>
          <a:xfrm>
            <a:off x="2697480" y="1645920"/>
            <a:ext cx="3017520" cy="365760"/>
          </a:xfrm>
          <a:prstGeom prst="rect">
            <a:avLst/>
          </a:prstGeom>
          <a:noFill/>
          <a:ln/>
        </p:spPr>
        <p:txBody>
          <a:bodyPr wrap="square" lIns="0" tIns="0" rIns="0" bIns="0" rtlCol="0" anchor="ctr"/>
          <a:lstStyle/>
          <a:p>
            <a:pPr indent="0" marL="0">
              <a:buNone/>
            </a:pPr>
            <a:r>
              <a:rPr lang="en-US" sz="1200" dirty="0">
                <a:solidFill>
                  <a:srgbClr val="065A82"/>
                </a:solidFill>
                <a:latin typeface="Consolas" pitchFamily="34" charset="0"/>
                <a:ea typeface="Consolas" pitchFamily="34" charset="-122"/>
                <a:cs typeface="Consolas" pitchFamily="34" charset="-120"/>
              </a:rPr>
              <a:t>mTLS (both sides verified)</a:t>
            </a:r>
            <a:endParaRPr lang="en-US" sz="1200" dirty="0"/>
          </a:p>
        </p:txBody>
      </p:sp>
      <p:sp>
        <p:nvSpPr>
          <p:cNvPr id="11" name="Text 9"/>
          <p:cNvSpPr/>
          <p:nvPr/>
        </p:nvSpPr>
        <p:spPr>
          <a:xfrm>
            <a:off x="5806440" y="1645920"/>
            <a:ext cx="2926080" cy="365760"/>
          </a:xfrm>
          <a:prstGeom prst="rect">
            <a:avLst/>
          </a:prstGeom>
          <a:noFill/>
          <a:ln/>
        </p:spPr>
        <p:txBody>
          <a:bodyPr wrap="square" lIns="0" tIns="0" rIns="0" bIns="0" rtlCol="0" anchor="ctr"/>
          <a:lstStyle/>
          <a:p>
            <a:pPr indent="0" marL="0">
              <a:buNone/>
            </a:pPr>
            <a:r>
              <a:rPr lang="en-US" sz="1200" dirty="0">
                <a:solidFill>
                  <a:srgbClr val="1C7293"/>
                </a:solidFill>
                <a:latin typeface="Consolas" pitchFamily="34" charset="0"/>
                <a:ea typeface="Consolas" pitchFamily="34" charset="-122"/>
                <a:cs typeface="Consolas" pitchFamily="34" charset="-120"/>
              </a:rPr>
              <a:t>Bearer token in HTTP header</a:t>
            </a:r>
            <a:endParaRPr lang="en-US" sz="1200" dirty="0"/>
          </a:p>
        </p:txBody>
      </p:sp>
      <p:sp>
        <p:nvSpPr>
          <p:cNvPr id="12" name="Shape 10"/>
          <p:cNvSpPr/>
          <p:nvPr/>
        </p:nvSpPr>
        <p:spPr>
          <a:xfrm>
            <a:off x="320040" y="2103120"/>
            <a:ext cx="8503920" cy="457200"/>
          </a:xfrm>
          <a:prstGeom prst="rect">
            <a:avLst/>
          </a:prstGeom>
          <a:solidFill>
            <a:srgbClr val="F1F5F9"/>
          </a:solidFill>
          <a:ln/>
        </p:spPr>
      </p:sp>
      <p:sp>
        <p:nvSpPr>
          <p:cNvPr id="13" name="Text 11"/>
          <p:cNvSpPr/>
          <p:nvPr/>
        </p:nvSpPr>
        <p:spPr>
          <a:xfrm>
            <a:off x="411480" y="2148840"/>
            <a:ext cx="2194560" cy="365760"/>
          </a:xfrm>
          <a:prstGeom prst="rect">
            <a:avLst/>
          </a:prstGeom>
          <a:noFill/>
          <a:ln/>
        </p:spPr>
        <p:txBody>
          <a:bodyPr wrap="square" lIns="0" tIns="0" rIns="0" bIns="0" rtlCol="0" anchor="ctr"/>
          <a:lstStyle/>
          <a:p>
            <a:pPr indent="0" marL="0">
              <a:buNone/>
            </a:pPr>
            <a:r>
              <a:rPr lang="en-US" sz="1200" dirty="0">
                <a:solidFill>
                  <a:srgbClr val="1E293B"/>
                </a:solidFill>
                <a:latin typeface="Consolas" pitchFamily="34" charset="0"/>
                <a:ea typeface="Consolas" pitchFamily="34" charset="-122"/>
                <a:cs typeface="Consolas" pitchFamily="34" charset="-120"/>
              </a:rPr>
              <a:t>Identity proof</a:t>
            </a:r>
            <a:endParaRPr lang="en-US" sz="1200" dirty="0"/>
          </a:p>
        </p:txBody>
      </p:sp>
      <p:sp>
        <p:nvSpPr>
          <p:cNvPr id="14" name="Text 12"/>
          <p:cNvSpPr/>
          <p:nvPr/>
        </p:nvSpPr>
        <p:spPr>
          <a:xfrm>
            <a:off x="2697480" y="2148840"/>
            <a:ext cx="3017520" cy="365760"/>
          </a:xfrm>
          <a:prstGeom prst="rect">
            <a:avLst/>
          </a:prstGeom>
          <a:noFill/>
          <a:ln/>
        </p:spPr>
        <p:txBody>
          <a:bodyPr wrap="square" lIns="0" tIns="0" rIns="0" bIns="0" rtlCol="0" anchor="ctr"/>
          <a:lstStyle/>
          <a:p>
            <a:pPr indent="0" marL="0">
              <a:buNone/>
            </a:pPr>
            <a:r>
              <a:rPr lang="en-US" sz="1200" dirty="0">
                <a:solidFill>
                  <a:srgbClr val="065A82"/>
                </a:solidFill>
                <a:latin typeface="Consolas" pitchFamily="34" charset="0"/>
                <a:ea typeface="Consolas" pitchFamily="34" charset="-122"/>
                <a:cs typeface="Consolas" pitchFamily="34" charset="-120"/>
              </a:rPr>
              <a:t>Key proof-of-possession</a:t>
            </a:r>
            <a:endParaRPr lang="en-US" sz="1200" dirty="0"/>
          </a:p>
        </p:txBody>
      </p:sp>
      <p:sp>
        <p:nvSpPr>
          <p:cNvPr id="15" name="Text 13"/>
          <p:cNvSpPr/>
          <p:nvPr/>
        </p:nvSpPr>
        <p:spPr>
          <a:xfrm>
            <a:off x="5806440" y="2148840"/>
            <a:ext cx="2926080" cy="365760"/>
          </a:xfrm>
          <a:prstGeom prst="rect">
            <a:avLst/>
          </a:prstGeom>
          <a:noFill/>
          <a:ln/>
        </p:spPr>
        <p:txBody>
          <a:bodyPr wrap="square" lIns="0" tIns="0" rIns="0" bIns="0" rtlCol="0" anchor="ctr"/>
          <a:lstStyle/>
          <a:p>
            <a:pPr indent="0" marL="0">
              <a:buNone/>
            </a:pPr>
            <a:r>
              <a:rPr lang="en-US" sz="1200" dirty="0">
                <a:solidFill>
                  <a:srgbClr val="1C7293"/>
                </a:solidFill>
                <a:latin typeface="Consolas" pitchFamily="34" charset="0"/>
                <a:ea typeface="Consolas" pitchFamily="34" charset="-122"/>
                <a:cs typeface="Consolas" pitchFamily="34" charset="-120"/>
              </a:rPr>
              <a:t>Signed assertion (bearer)</a:t>
            </a:r>
            <a:endParaRPr lang="en-US" sz="1200" dirty="0"/>
          </a:p>
        </p:txBody>
      </p:sp>
      <p:sp>
        <p:nvSpPr>
          <p:cNvPr id="16" name="Shape 14"/>
          <p:cNvSpPr/>
          <p:nvPr/>
        </p:nvSpPr>
        <p:spPr>
          <a:xfrm>
            <a:off x="320040" y="2606040"/>
            <a:ext cx="8503920" cy="457200"/>
          </a:xfrm>
          <a:prstGeom prst="rect">
            <a:avLst/>
          </a:prstGeom>
          <a:solidFill>
            <a:srgbClr val="FFFFFF"/>
          </a:solidFill>
          <a:ln/>
        </p:spPr>
      </p:sp>
      <p:sp>
        <p:nvSpPr>
          <p:cNvPr id="17" name="Text 15"/>
          <p:cNvSpPr/>
          <p:nvPr/>
        </p:nvSpPr>
        <p:spPr>
          <a:xfrm>
            <a:off x="411480" y="2651760"/>
            <a:ext cx="2194560" cy="365760"/>
          </a:xfrm>
          <a:prstGeom prst="rect">
            <a:avLst/>
          </a:prstGeom>
          <a:noFill/>
          <a:ln/>
        </p:spPr>
        <p:txBody>
          <a:bodyPr wrap="square" lIns="0" tIns="0" rIns="0" bIns="0" rtlCol="0" anchor="ctr"/>
          <a:lstStyle/>
          <a:p>
            <a:pPr indent="0" marL="0">
              <a:buNone/>
            </a:pPr>
            <a:r>
              <a:rPr lang="en-US" sz="1200" dirty="0">
                <a:solidFill>
                  <a:srgbClr val="1E293B"/>
                </a:solidFill>
                <a:latin typeface="Consolas" pitchFamily="34" charset="0"/>
                <a:ea typeface="Consolas" pitchFamily="34" charset="-122"/>
                <a:cs typeface="Consolas" pitchFamily="34" charset="-120"/>
              </a:rPr>
              <a:t>Replay risk</a:t>
            </a:r>
            <a:endParaRPr lang="en-US" sz="1200" dirty="0"/>
          </a:p>
        </p:txBody>
      </p:sp>
      <p:sp>
        <p:nvSpPr>
          <p:cNvPr id="18" name="Text 16"/>
          <p:cNvSpPr/>
          <p:nvPr/>
        </p:nvSpPr>
        <p:spPr>
          <a:xfrm>
            <a:off x="2697480" y="2651760"/>
            <a:ext cx="3017520" cy="365760"/>
          </a:xfrm>
          <a:prstGeom prst="rect">
            <a:avLst/>
          </a:prstGeom>
          <a:noFill/>
          <a:ln/>
        </p:spPr>
        <p:txBody>
          <a:bodyPr wrap="square" lIns="0" tIns="0" rIns="0" bIns="0" rtlCol="0" anchor="ctr"/>
          <a:lstStyle/>
          <a:p>
            <a:pPr indent="0" marL="0">
              <a:buNone/>
            </a:pPr>
            <a:r>
              <a:rPr lang="en-US" sz="1200" dirty="0">
                <a:solidFill>
                  <a:srgbClr val="065A82"/>
                </a:solidFill>
                <a:latin typeface="Consolas" pitchFamily="34" charset="0"/>
                <a:ea typeface="Consolas" pitchFamily="34" charset="-122"/>
                <a:cs typeface="Consolas" pitchFamily="34" charset="-120"/>
              </a:rPr>
              <a:t>Low — requires private key</a:t>
            </a:r>
            <a:endParaRPr lang="en-US" sz="1200" dirty="0"/>
          </a:p>
        </p:txBody>
      </p:sp>
      <p:sp>
        <p:nvSpPr>
          <p:cNvPr id="19" name="Text 17"/>
          <p:cNvSpPr/>
          <p:nvPr/>
        </p:nvSpPr>
        <p:spPr>
          <a:xfrm>
            <a:off x="5806440" y="2651760"/>
            <a:ext cx="2926080" cy="365760"/>
          </a:xfrm>
          <a:prstGeom prst="rect">
            <a:avLst/>
          </a:prstGeom>
          <a:noFill/>
          <a:ln/>
        </p:spPr>
        <p:txBody>
          <a:bodyPr wrap="square" lIns="0" tIns="0" rIns="0" bIns="0" rtlCol="0" anchor="ctr"/>
          <a:lstStyle/>
          <a:p>
            <a:pPr indent="0" marL="0">
              <a:buNone/>
            </a:pPr>
            <a:r>
              <a:rPr lang="en-US" sz="1200" dirty="0">
                <a:solidFill>
                  <a:srgbClr val="1C7293"/>
                </a:solidFill>
                <a:latin typeface="Consolas" pitchFamily="34" charset="0"/>
                <a:ea typeface="Consolas" pitchFamily="34" charset="-122"/>
                <a:cs typeface="Consolas" pitchFamily="34" charset="-120"/>
              </a:rPr>
              <a:t>Higher — token reusable until exp</a:t>
            </a:r>
            <a:endParaRPr lang="en-US" sz="1200" dirty="0"/>
          </a:p>
        </p:txBody>
      </p:sp>
      <p:sp>
        <p:nvSpPr>
          <p:cNvPr id="20" name="Shape 18"/>
          <p:cNvSpPr/>
          <p:nvPr/>
        </p:nvSpPr>
        <p:spPr>
          <a:xfrm>
            <a:off x="320040" y="3108960"/>
            <a:ext cx="8503920" cy="457200"/>
          </a:xfrm>
          <a:prstGeom prst="rect">
            <a:avLst/>
          </a:prstGeom>
          <a:solidFill>
            <a:srgbClr val="F1F5F9"/>
          </a:solidFill>
          <a:ln/>
        </p:spPr>
      </p:sp>
      <p:sp>
        <p:nvSpPr>
          <p:cNvPr id="21" name="Text 19"/>
          <p:cNvSpPr/>
          <p:nvPr/>
        </p:nvSpPr>
        <p:spPr>
          <a:xfrm>
            <a:off x="411480" y="3154680"/>
            <a:ext cx="2194560" cy="365760"/>
          </a:xfrm>
          <a:prstGeom prst="rect">
            <a:avLst/>
          </a:prstGeom>
          <a:noFill/>
          <a:ln/>
        </p:spPr>
        <p:txBody>
          <a:bodyPr wrap="square" lIns="0" tIns="0" rIns="0" bIns="0" rtlCol="0" anchor="ctr"/>
          <a:lstStyle/>
          <a:p>
            <a:pPr indent="0" marL="0">
              <a:buNone/>
            </a:pPr>
            <a:r>
              <a:rPr lang="en-US" sz="1200" dirty="0">
                <a:solidFill>
                  <a:srgbClr val="1E293B"/>
                </a:solidFill>
                <a:latin typeface="Consolas" pitchFamily="34" charset="0"/>
                <a:ea typeface="Consolas" pitchFamily="34" charset="-122"/>
                <a:cs typeface="Consolas" pitchFamily="34" charset="-120"/>
              </a:rPr>
              <a:t>Use case</a:t>
            </a:r>
            <a:endParaRPr lang="en-US" sz="1200" dirty="0"/>
          </a:p>
        </p:txBody>
      </p:sp>
      <p:sp>
        <p:nvSpPr>
          <p:cNvPr id="22" name="Text 20"/>
          <p:cNvSpPr/>
          <p:nvPr/>
        </p:nvSpPr>
        <p:spPr>
          <a:xfrm>
            <a:off x="2697480" y="3154680"/>
            <a:ext cx="3017520" cy="365760"/>
          </a:xfrm>
          <a:prstGeom prst="rect">
            <a:avLst/>
          </a:prstGeom>
          <a:noFill/>
          <a:ln/>
        </p:spPr>
        <p:txBody>
          <a:bodyPr wrap="square" lIns="0" tIns="0" rIns="0" bIns="0" rtlCol="0" anchor="ctr"/>
          <a:lstStyle/>
          <a:p>
            <a:pPr indent="0" marL="0">
              <a:buNone/>
            </a:pPr>
            <a:r>
              <a:rPr lang="en-US" sz="1200" dirty="0">
                <a:solidFill>
                  <a:srgbClr val="065A82"/>
                </a:solidFill>
                <a:latin typeface="Consolas" pitchFamily="34" charset="0"/>
                <a:ea typeface="Consolas" pitchFamily="34" charset="-122"/>
                <a:cs typeface="Consolas" pitchFamily="34" charset="-120"/>
              </a:rPr>
              <a:t>Service mesh sidecar comms</a:t>
            </a:r>
            <a:endParaRPr lang="en-US" sz="1200" dirty="0"/>
          </a:p>
        </p:txBody>
      </p:sp>
      <p:sp>
        <p:nvSpPr>
          <p:cNvPr id="23" name="Text 21"/>
          <p:cNvSpPr/>
          <p:nvPr/>
        </p:nvSpPr>
        <p:spPr>
          <a:xfrm>
            <a:off x="5806440" y="3154680"/>
            <a:ext cx="2926080" cy="365760"/>
          </a:xfrm>
          <a:prstGeom prst="rect">
            <a:avLst/>
          </a:prstGeom>
          <a:noFill/>
          <a:ln/>
        </p:spPr>
        <p:txBody>
          <a:bodyPr wrap="square" lIns="0" tIns="0" rIns="0" bIns="0" rtlCol="0" anchor="ctr"/>
          <a:lstStyle/>
          <a:p>
            <a:pPr indent="0" marL="0">
              <a:buNone/>
            </a:pPr>
            <a:r>
              <a:rPr lang="en-US" sz="1200" dirty="0">
                <a:solidFill>
                  <a:srgbClr val="1C7293"/>
                </a:solidFill>
                <a:latin typeface="Consolas" pitchFamily="34" charset="0"/>
                <a:ea typeface="Consolas" pitchFamily="34" charset="-122"/>
                <a:cs typeface="Consolas" pitchFamily="34" charset="-120"/>
              </a:rPr>
              <a:t>HTTP APIs, cross-mesh calls</a:t>
            </a:r>
            <a:endParaRPr lang="en-US" sz="1200" dirty="0"/>
          </a:p>
        </p:txBody>
      </p:sp>
      <p:sp>
        <p:nvSpPr>
          <p:cNvPr id="24" name="Shape 22"/>
          <p:cNvSpPr/>
          <p:nvPr/>
        </p:nvSpPr>
        <p:spPr>
          <a:xfrm>
            <a:off x="320040" y="3611880"/>
            <a:ext cx="8503920" cy="457200"/>
          </a:xfrm>
          <a:prstGeom prst="rect">
            <a:avLst/>
          </a:prstGeom>
          <a:solidFill>
            <a:srgbClr val="FFFFFF"/>
          </a:solidFill>
          <a:ln/>
        </p:spPr>
      </p:sp>
      <p:sp>
        <p:nvSpPr>
          <p:cNvPr id="25" name="Text 23"/>
          <p:cNvSpPr/>
          <p:nvPr/>
        </p:nvSpPr>
        <p:spPr>
          <a:xfrm>
            <a:off x="411480" y="3657600"/>
            <a:ext cx="2194560" cy="365760"/>
          </a:xfrm>
          <a:prstGeom prst="rect">
            <a:avLst/>
          </a:prstGeom>
          <a:noFill/>
          <a:ln/>
        </p:spPr>
        <p:txBody>
          <a:bodyPr wrap="square" lIns="0" tIns="0" rIns="0" bIns="0" rtlCol="0" anchor="ctr"/>
          <a:lstStyle/>
          <a:p>
            <a:pPr indent="0" marL="0">
              <a:buNone/>
            </a:pPr>
            <a:r>
              <a:rPr lang="en-US" sz="1200" dirty="0">
                <a:solidFill>
                  <a:srgbClr val="1E293B"/>
                </a:solidFill>
                <a:latin typeface="Consolas" pitchFamily="34" charset="0"/>
                <a:ea typeface="Consolas" pitchFamily="34" charset="-122"/>
                <a:cs typeface="Consolas" pitchFamily="34" charset="-120"/>
              </a:rPr>
              <a:t>TTL (typical)</a:t>
            </a:r>
            <a:endParaRPr lang="en-US" sz="1200" dirty="0"/>
          </a:p>
        </p:txBody>
      </p:sp>
      <p:sp>
        <p:nvSpPr>
          <p:cNvPr id="26" name="Text 24"/>
          <p:cNvSpPr/>
          <p:nvPr/>
        </p:nvSpPr>
        <p:spPr>
          <a:xfrm>
            <a:off x="2697480" y="3657600"/>
            <a:ext cx="3017520" cy="365760"/>
          </a:xfrm>
          <a:prstGeom prst="rect">
            <a:avLst/>
          </a:prstGeom>
          <a:noFill/>
          <a:ln/>
        </p:spPr>
        <p:txBody>
          <a:bodyPr wrap="square" lIns="0" tIns="0" rIns="0" bIns="0" rtlCol="0" anchor="ctr"/>
          <a:lstStyle/>
          <a:p>
            <a:pPr indent="0" marL="0">
              <a:buNone/>
            </a:pPr>
            <a:r>
              <a:rPr lang="en-US" sz="1200" dirty="0">
                <a:solidFill>
                  <a:srgbClr val="065A82"/>
                </a:solidFill>
                <a:latin typeface="Consolas" pitchFamily="34" charset="0"/>
                <a:ea typeface="Consolas" pitchFamily="34" charset="-122"/>
                <a:cs typeface="Consolas" pitchFamily="34" charset="-120"/>
              </a:rPr>
              <a:t>1 hour</a:t>
            </a:r>
            <a:endParaRPr lang="en-US" sz="1200" dirty="0"/>
          </a:p>
        </p:txBody>
      </p:sp>
      <p:sp>
        <p:nvSpPr>
          <p:cNvPr id="27" name="Text 25"/>
          <p:cNvSpPr/>
          <p:nvPr/>
        </p:nvSpPr>
        <p:spPr>
          <a:xfrm>
            <a:off x="5806440" y="3657600"/>
            <a:ext cx="2926080" cy="365760"/>
          </a:xfrm>
          <a:prstGeom prst="rect">
            <a:avLst/>
          </a:prstGeom>
          <a:noFill/>
          <a:ln/>
        </p:spPr>
        <p:txBody>
          <a:bodyPr wrap="square" lIns="0" tIns="0" rIns="0" bIns="0" rtlCol="0" anchor="ctr"/>
          <a:lstStyle/>
          <a:p>
            <a:pPr indent="0" marL="0">
              <a:buNone/>
            </a:pPr>
            <a:r>
              <a:rPr lang="en-US" sz="1200" dirty="0">
                <a:solidFill>
                  <a:srgbClr val="1C7293"/>
                </a:solidFill>
                <a:latin typeface="Consolas" pitchFamily="34" charset="0"/>
                <a:ea typeface="Consolas" pitchFamily="34" charset="-122"/>
                <a:cs typeface="Consolas" pitchFamily="34" charset="-120"/>
              </a:rPr>
              <a:t>5 minutes</a:t>
            </a:r>
            <a:endParaRPr lang="en-US" sz="1200" dirty="0"/>
          </a:p>
        </p:txBody>
      </p:sp>
      <p:sp>
        <p:nvSpPr>
          <p:cNvPr id="28" name="Shape 26"/>
          <p:cNvSpPr/>
          <p:nvPr/>
        </p:nvSpPr>
        <p:spPr>
          <a:xfrm>
            <a:off x="320040" y="4114800"/>
            <a:ext cx="8503920" cy="457200"/>
          </a:xfrm>
          <a:prstGeom prst="rect">
            <a:avLst/>
          </a:prstGeom>
          <a:solidFill>
            <a:srgbClr val="F1F5F9"/>
          </a:solidFill>
          <a:ln/>
        </p:spPr>
      </p:sp>
      <p:sp>
        <p:nvSpPr>
          <p:cNvPr id="29" name="Text 27"/>
          <p:cNvSpPr/>
          <p:nvPr/>
        </p:nvSpPr>
        <p:spPr>
          <a:xfrm>
            <a:off x="411480" y="4160520"/>
            <a:ext cx="2194560" cy="365760"/>
          </a:xfrm>
          <a:prstGeom prst="rect">
            <a:avLst/>
          </a:prstGeom>
          <a:noFill/>
          <a:ln/>
        </p:spPr>
        <p:txBody>
          <a:bodyPr wrap="square" lIns="0" tIns="0" rIns="0" bIns="0" rtlCol="0" anchor="ctr"/>
          <a:lstStyle/>
          <a:p>
            <a:pPr indent="0" marL="0">
              <a:buNone/>
            </a:pPr>
            <a:r>
              <a:rPr lang="en-US" sz="1200" dirty="0">
                <a:solidFill>
                  <a:srgbClr val="1E293B"/>
                </a:solidFill>
                <a:latin typeface="Consolas" pitchFamily="34" charset="0"/>
                <a:ea typeface="Consolas" pitchFamily="34" charset="-122"/>
                <a:cs typeface="Consolas" pitchFamily="34" charset="-120"/>
              </a:rPr>
              <a:t>Revocation</a:t>
            </a:r>
            <a:endParaRPr lang="en-US" sz="1200" dirty="0"/>
          </a:p>
        </p:txBody>
      </p:sp>
      <p:sp>
        <p:nvSpPr>
          <p:cNvPr id="30" name="Text 28"/>
          <p:cNvSpPr/>
          <p:nvPr/>
        </p:nvSpPr>
        <p:spPr>
          <a:xfrm>
            <a:off x="2697480" y="4160520"/>
            <a:ext cx="3017520" cy="365760"/>
          </a:xfrm>
          <a:prstGeom prst="rect">
            <a:avLst/>
          </a:prstGeom>
          <a:noFill/>
          <a:ln/>
        </p:spPr>
        <p:txBody>
          <a:bodyPr wrap="square" lIns="0" tIns="0" rIns="0" bIns="0" rtlCol="0" anchor="ctr"/>
          <a:lstStyle/>
          <a:p>
            <a:pPr indent="0" marL="0">
              <a:buNone/>
            </a:pPr>
            <a:r>
              <a:rPr lang="en-US" sz="1200" dirty="0">
                <a:solidFill>
                  <a:srgbClr val="065A82"/>
                </a:solidFill>
                <a:latin typeface="Consolas" pitchFamily="34" charset="0"/>
                <a:ea typeface="Consolas" pitchFamily="34" charset="-122"/>
                <a:cs typeface="Consolas" pitchFamily="34" charset="-120"/>
              </a:rPr>
              <a:t>CRL / OCSP / wait for TTL</a:t>
            </a:r>
            <a:endParaRPr lang="en-US" sz="1200" dirty="0"/>
          </a:p>
        </p:txBody>
      </p:sp>
      <p:sp>
        <p:nvSpPr>
          <p:cNvPr id="31" name="Text 29"/>
          <p:cNvSpPr/>
          <p:nvPr/>
        </p:nvSpPr>
        <p:spPr>
          <a:xfrm>
            <a:off x="5806440" y="4160520"/>
            <a:ext cx="2926080" cy="365760"/>
          </a:xfrm>
          <a:prstGeom prst="rect">
            <a:avLst/>
          </a:prstGeom>
          <a:noFill/>
          <a:ln/>
        </p:spPr>
        <p:txBody>
          <a:bodyPr wrap="square" lIns="0" tIns="0" rIns="0" bIns="0" rtlCol="0" anchor="ctr"/>
          <a:lstStyle/>
          <a:p>
            <a:pPr indent="0" marL="0">
              <a:buNone/>
            </a:pPr>
            <a:r>
              <a:rPr lang="en-US" sz="1200" dirty="0">
                <a:solidFill>
                  <a:srgbClr val="1C7293"/>
                </a:solidFill>
                <a:latin typeface="Consolas" pitchFamily="34" charset="0"/>
                <a:ea typeface="Consolas" pitchFamily="34" charset="-122"/>
                <a:cs typeface="Consolas" pitchFamily="34" charset="-120"/>
              </a:rPr>
              <a:t>Wait for exp (no revocation)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indent="0" marL="0">
              <a:buNone/>
            </a:pPr>
            <a:r>
              <a:rPr lang="en-US" sz="3000" b="1" dirty="0">
                <a:solidFill>
                  <a:srgbClr val="0B1E3F"/>
                </a:solidFill>
                <a:latin typeface="Calibri" pitchFamily="34" charset="0"/>
                <a:ea typeface="Calibri" pitchFamily="34" charset="-122"/>
                <a:cs typeface="Calibri" pitchFamily="34" charset="-120"/>
              </a:rPr>
              <a:t>Workload Attestation Chain</a:t>
            </a:r>
            <a:endParaRPr lang="en-US" sz="3000" dirty="0"/>
          </a:p>
        </p:txBody>
      </p:sp>
      <p:sp>
        <p:nvSpPr>
          <p:cNvPr id="3" name="Text 1"/>
          <p:cNvSpPr/>
          <p:nvPr/>
        </p:nvSpPr>
        <p:spPr>
          <a:xfrm>
            <a:off x="457200" y="685800"/>
            <a:ext cx="8229600" cy="27432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How SPIRE establishes cryptographic proof of workload identity — with zero pre-shared secrets</a:t>
            </a:r>
            <a:endParaRPr lang="en-US" sz="1300" dirty="0"/>
          </a:p>
        </p:txBody>
      </p:sp>
      <p:sp>
        <p:nvSpPr>
          <p:cNvPr id="4" name="Shape 2"/>
          <p:cNvSpPr/>
          <p:nvPr/>
        </p:nvSpPr>
        <p:spPr>
          <a:xfrm>
            <a:off x="320040" y="1097280"/>
            <a:ext cx="8503920" cy="77724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5" name="Shape 3"/>
          <p:cNvSpPr/>
          <p:nvPr/>
        </p:nvSpPr>
        <p:spPr>
          <a:xfrm>
            <a:off x="320040" y="1097280"/>
            <a:ext cx="502920" cy="777240"/>
          </a:xfrm>
          <a:prstGeom prst="rect">
            <a:avLst/>
          </a:prstGeom>
          <a:solidFill>
            <a:srgbClr val="21295C"/>
          </a:solidFill>
          <a:ln/>
        </p:spPr>
      </p:sp>
      <p:sp>
        <p:nvSpPr>
          <p:cNvPr id="6" name="Text 4"/>
          <p:cNvSpPr/>
          <p:nvPr/>
        </p:nvSpPr>
        <p:spPr>
          <a:xfrm>
            <a:off x="320040" y="1280160"/>
            <a:ext cx="50292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960120" y="1152144"/>
            <a:ext cx="2926080" cy="347472"/>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Node Attestation</a:t>
            </a:r>
            <a:endParaRPr lang="en-US" sz="1400" dirty="0"/>
          </a:p>
        </p:txBody>
      </p:sp>
      <p:sp>
        <p:nvSpPr>
          <p:cNvPr id="8" name="Text 6"/>
          <p:cNvSpPr/>
          <p:nvPr/>
        </p:nvSpPr>
        <p:spPr>
          <a:xfrm>
            <a:off x="960120" y="1508760"/>
            <a:ext cx="7772400" cy="320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Agent uses platform credential (AWS IID, GCP attestation, Kubernetes service account) to prove to Server which node it is.</a:t>
            </a:r>
            <a:endParaRPr lang="en-US" sz="1200" dirty="0"/>
          </a:p>
        </p:txBody>
      </p:sp>
      <p:sp>
        <p:nvSpPr>
          <p:cNvPr id="9" name="Shape 7"/>
          <p:cNvSpPr/>
          <p:nvPr/>
        </p:nvSpPr>
        <p:spPr>
          <a:xfrm>
            <a:off x="548640" y="1874520"/>
            <a:ext cx="0" cy="137160"/>
          </a:xfrm>
          <a:prstGeom prst="line">
            <a:avLst/>
          </a:prstGeom>
          <a:noFill/>
          <a:ln w="19050">
            <a:solidFill>
              <a:srgbClr val="64748B"/>
            </a:solidFill>
            <a:prstDash val="solid"/>
          </a:ln>
        </p:spPr>
      </p:sp>
      <p:sp>
        <p:nvSpPr>
          <p:cNvPr id="10" name="Shape 8"/>
          <p:cNvSpPr/>
          <p:nvPr/>
        </p:nvSpPr>
        <p:spPr>
          <a:xfrm>
            <a:off x="320040" y="2011680"/>
            <a:ext cx="8503920" cy="77724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11" name="Shape 9"/>
          <p:cNvSpPr/>
          <p:nvPr/>
        </p:nvSpPr>
        <p:spPr>
          <a:xfrm>
            <a:off x="320040" y="2011680"/>
            <a:ext cx="502920" cy="777240"/>
          </a:xfrm>
          <a:prstGeom prst="rect">
            <a:avLst/>
          </a:prstGeom>
          <a:solidFill>
            <a:srgbClr val="065A82"/>
          </a:solidFill>
          <a:ln/>
        </p:spPr>
      </p:sp>
      <p:sp>
        <p:nvSpPr>
          <p:cNvPr id="12" name="Text 10"/>
          <p:cNvSpPr/>
          <p:nvPr/>
        </p:nvSpPr>
        <p:spPr>
          <a:xfrm>
            <a:off x="320040" y="2194560"/>
            <a:ext cx="50292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1"/>
          <p:cNvSpPr/>
          <p:nvPr/>
        </p:nvSpPr>
        <p:spPr>
          <a:xfrm>
            <a:off x="960120" y="2066544"/>
            <a:ext cx="2926080" cy="347472"/>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Workload Discovery</a:t>
            </a:r>
            <a:endParaRPr lang="en-US" sz="1400" dirty="0"/>
          </a:p>
        </p:txBody>
      </p:sp>
      <p:sp>
        <p:nvSpPr>
          <p:cNvPr id="14" name="Text 12"/>
          <p:cNvSpPr/>
          <p:nvPr/>
        </p:nvSpPr>
        <p:spPr>
          <a:xfrm>
            <a:off x="960120" y="2423160"/>
            <a:ext cx="7772400" cy="320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Agent observes local workloads (PID, container label, k8s pod name). Matches against registration entries in Server.</a:t>
            </a:r>
            <a:endParaRPr lang="en-US" sz="1200" dirty="0"/>
          </a:p>
        </p:txBody>
      </p:sp>
      <p:sp>
        <p:nvSpPr>
          <p:cNvPr id="15" name="Shape 13"/>
          <p:cNvSpPr/>
          <p:nvPr/>
        </p:nvSpPr>
        <p:spPr>
          <a:xfrm>
            <a:off x="548640" y="2788920"/>
            <a:ext cx="0" cy="137160"/>
          </a:xfrm>
          <a:prstGeom prst="line">
            <a:avLst/>
          </a:prstGeom>
          <a:noFill/>
          <a:ln w="19050">
            <a:solidFill>
              <a:srgbClr val="64748B"/>
            </a:solidFill>
            <a:prstDash val="solid"/>
          </a:ln>
        </p:spPr>
      </p:sp>
      <p:sp>
        <p:nvSpPr>
          <p:cNvPr id="16" name="Shape 14"/>
          <p:cNvSpPr/>
          <p:nvPr/>
        </p:nvSpPr>
        <p:spPr>
          <a:xfrm>
            <a:off x="320040" y="2926080"/>
            <a:ext cx="8503920" cy="77724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17" name="Shape 15"/>
          <p:cNvSpPr/>
          <p:nvPr/>
        </p:nvSpPr>
        <p:spPr>
          <a:xfrm>
            <a:off x="320040" y="2926080"/>
            <a:ext cx="502920" cy="777240"/>
          </a:xfrm>
          <a:prstGeom prst="rect">
            <a:avLst/>
          </a:prstGeom>
          <a:solidFill>
            <a:srgbClr val="1C7293"/>
          </a:solidFill>
          <a:ln/>
        </p:spPr>
      </p:sp>
      <p:sp>
        <p:nvSpPr>
          <p:cNvPr id="18" name="Text 16"/>
          <p:cNvSpPr/>
          <p:nvPr/>
        </p:nvSpPr>
        <p:spPr>
          <a:xfrm>
            <a:off x="320040" y="3108960"/>
            <a:ext cx="50292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9" name="Text 17"/>
          <p:cNvSpPr/>
          <p:nvPr/>
        </p:nvSpPr>
        <p:spPr>
          <a:xfrm>
            <a:off x="960120" y="2980944"/>
            <a:ext cx="2926080" cy="347472"/>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SVID Issuance</a:t>
            </a:r>
            <a:endParaRPr lang="en-US" sz="1400" dirty="0"/>
          </a:p>
        </p:txBody>
      </p:sp>
      <p:sp>
        <p:nvSpPr>
          <p:cNvPr id="20" name="Text 18"/>
          <p:cNvSpPr/>
          <p:nvPr/>
        </p:nvSpPr>
        <p:spPr>
          <a:xfrm>
            <a:off x="960120" y="3337560"/>
            <a:ext cx="7772400" cy="320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Server validates match, signs a fresh X.509-SVID with a 1-hour TTL. SPIFFE ID embedded in SAN URI.</a:t>
            </a:r>
            <a:endParaRPr lang="en-US" sz="1200" dirty="0"/>
          </a:p>
        </p:txBody>
      </p:sp>
      <p:sp>
        <p:nvSpPr>
          <p:cNvPr id="21" name="Shape 19"/>
          <p:cNvSpPr/>
          <p:nvPr/>
        </p:nvSpPr>
        <p:spPr>
          <a:xfrm>
            <a:off x="548640" y="3703320"/>
            <a:ext cx="0" cy="137160"/>
          </a:xfrm>
          <a:prstGeom prst="line">
            <a:avLst/>
          </a:prstGeom>
          <a:noFill/>
          <a:ln w="19050">
            <a:solidFill>
              <a:srgbClr val="64748B"/>
            </a:solidFill>
            <a:prstDash val="solid"/>
          </a:ln>
        </p:spPr>
      </p:sp>
      <p:sp>
        <p:nvSpPr>
          <p:cNvPr id="22" name="Shape 20"/>
          <p:cNvSpPr/>
          <p:nvPr/>
        </p:nvSpPr>
        <p:spPr>
          <a:xfrm>
            <a:off x="320040" y="3840480"/>
            <a:ext cx="8503920" cy="77724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23" name="Shape 21"/>
          <p:cNvSpPr/>
          <p:nvPr/>
        </p:nvSpPr>
        <p:spPr>
          <a:xfrm>
            <a:off x="320040" y="3840480"/>
            <a:ext cx="502920" cy="777240"/>
          </a:xfrm>
          <a:prstGeom prst="rect">
            <a:avLst/>
          </a:prstGeom>
          <a:solidFill>
            <a:srgbClr val="0D9488"/>
          </a:solidFill>
          <a:ln/>
        </p:spPr>
      </p:sp>
      <p:sp>
        <p:nvSpPr>
          <p:cNvPr id="24" name="Text 22"/>
          <p:cNvSpPr/>
          <p:nvPr/>
        </p:nvSpPr>
        <p:spPr>
          <a:xfrm>
            <a:off x="320040" y="4023360"/>
            <a:ext cx="50292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5" name="Text 23"/>
          <p:cNvSpPr/>
          <p:nvPr/>
        </p:nvSpPr>
        <p:spPr>
          <a:xfrm>
            <a:off x="960120" y="3895344"/>
            <a:ext cx="2926080" cy="347472"/>
          </a:xfrm>
          <a:prstGeom prst="rect">
            <a:avLst/>
          </a:prstGeom>
          <a:noFill/>
          <a:ln/>
        </p:spPr>
        <p:txBody>
          <a:bodyPr wrap="square" lIns="0" tIns="0" rIns="0" bIns="0" rtlCol="0" anchor="ctr"/>
          <a:lstStyle/>
          <a:p>
            <a:pPr indent="0" marL="0">
              <a:buNone/>
            </a:pPr>
            <a:r>
              <a:rPr lang="en-US" sz="1400" b="1" dirty="0">
                <a:solidFill>
                  <a:srgbClr val="0D9488"/>
                </a:solidFill>
                <a:latin typeface="Calibri" pitchFamily="34" charset="0"/>
                <a:ea typeface="Calibri" pitchFamily="34" charset="-122"/>
                <a:cs typeface="Calibri" pitchFamily="34" charset="-120"/>
              </a:rPr>
              <a:t>Workload API Delivery</a:t>
            </a:r>
            <a:endParaRPr lang="en-US" sz="1400" dirty="0"/>
          </a:p>
        </p:txBody>
      </p:sp>
      <p:sp>
        <p:nvSpPr>
          <p:cNvPr id="26" name="Text 24"/>
          <p:cNvSpPr/>
          <p:nvPr/>
        </p:nvSpPr>
        <p:spPr>
          <a:xfrm>
            <a:off x="960120" y="4251960"/>
            <a:ext cx="7772400" cy="320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Agent streams SVID to workload over Unix socket. No environment variable, no file-drop, no secret-zero problem.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indent="0" marL="0">
              <a:buNone/>
            </a:pPr>
            <a:r>
              <a:rPr lang="en-US" sz="2700" b="1" dirty="0">
                <a:solidFill>
                  <a:srgbClr val="0B1E3F"/>
                </a:solidFill>
                <a:latin typeface="Calibri" pitchFamily="34" charset="0"/>
                <a:ea typeface="Calibri" pitchFamily="34" charset="-122"/>
                <a:cs typeface="Calibri" pitchFamily="34" charset="-120"/>
              </a:rPr>
              <a:t>Cross-Cloud Workload Identity Federation</a:t>
            </a:r>
            <a:endParaRPr lang="en-US" sz="2700" dirty="0"/>
          </a:p>
        </p:txBody>
      </p:sp>
      <p:sp>
        <p:nvSpPr>
          <p:cNvPr id="3" name="Text 1"/>
          <p:cNvSpPr/>
          <p:nvPr/>
        </p:nvSpPr>
        <p:spPr>
          <a:xfrm>
            <a:off x="457200" y="685800"/>
            <a:ext cx="8229600" cy="27432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Extending trust across trust domain boundaries without a shared root CA</a:t>
            </a:r>
            <a:endParaRPr lang="en-US" sz="1300" dirty="0"/>
          </a:p>
        </p:txBody>
      </p:sp>
      <p:sp>
        <p:nvSpPr>
          <p:cNvPr id="4" name="Shape 2"/>
          <p:cNvSpPr/>
          <p:nvPr/>
        </p:nvSpPr>
        <p:spPr>
          <a:xfrm>
            <a:off x="320040" y="1005840"/>
            <a:ext cx="3840480" cy="329184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5" name="Shape 3"/>
          <p:cNvSpPr/>
          <p:nvPr/>
        </p:nvSpPr>
        <p:spPr>
          <a:xfrm>
            <a:off x="320040" y="1005840"/>
            <a:ext cx="3840480" cy="502920"/>
          </a:xfrm>
          <a:prstGeom prst="rect">
            <a:avLst/>
          </a:prstGeom>
          <a:solidFill>
            <a:srgbClr val="21295C"/>
          </a:solidFill>
          <a:ln/>
        </p:spPr>
      </p:sp>
      <p:pic>
        <p:nvPicPr>
          <p:cNvPr id="6" name="Image 0" descr="preencoded.png"/>
          <p:cNvPicPr>
            <a:picLocks noChangeAspect="1"/>
          </p:cNvPicPr>
          <p:nvPr/>
        </p:nvPicPr>
        <p:blipFill>
          <a:blip r:embed="rId1"/>
          <a:stretch>
            <a:fillRect/>
          </a:stretch>
        </p:blipFill>
        <p:spPr>
          <a:xfrm>
            <a:off x="457200" y="1033272"/>
            <a:ext cx="365760" cy="365760"/>
          </a:xfrm>
          <a:prstGeom prst="rect">
            <a:avLst/>
          </a:prstGeom>
        </p:spPr>
      </p:pic>
      <p:sp>
        <p:nvSpPr>
          <p:cNvPr id="7" name="Text 4"/>
          <p:cNvSpPr/>
          <p:nvPr/>
        </p:nvSpPr>
        <p:spPr>
          <a:xfrm>
            <a:off x="868680" y="1051560"/>
            <a:ext cx="31546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AWS  ·  Trust Domain A</a:t>
            </a:r>
            <a:endParaRPr lang="en-US" sz="1300" dirty="0"/>
          </a:p>
        </p:txBody>
      </p:sp>
      <p:sp>
        <p:nvSpPr>
          <p:cNvPr id="8" name="Text 5"/>
          <p:cNvSpPr/>
          <p:nvPr/>
        </p:nvSpPr>
        <p:spPr>
          <a:xfrm>
            <a:off x="502920" y="1645920"/>
            <a:ext cx="3474720" cy="274320"/>
          </a:xfrm>
          <a:prstGeom prst="rect">
            <a:avLst/>
          </a:prstGeom>
          <a:noFill/>
          <a:ln/>
        </p:spPr>
        <p:txBody>
          <a:bodyPr wrap="square" lIns="0" tIns="0" rIns="0" bIns="0" rtlCol="0" anchor="ctr"/>
          <a:lstStyle/>
          <a:p>
            <a:pPr indent="0" marL="0">
              <a:buNone/>
            </a:pPr>
            <a:r>
              <a:rPr lang="en-US" sz="1100" dirty="0">
                <a:solidFill>
                  <a:srgbClr val="21295C"/>
                </a:solidFill>
                <a:latin typeface="Consolas" pitchFamily="34" charset="0"/>
                <a:ea typeface="Consolas" pitchFamily="34" charset="-122"/>
                <a:cs typeface="Consolas" pitchFamily="34" charset="-120"/>
              </a:rPr>
              <a:t>spiffe://aws.prod/...</a:t>
            </a:r>
            <a:endParaRPr lang="en-US" sz="1100" dirty="0"/>
          </a:p>
        </p:txBody>
      </p:sp>
      <p:sp>
        <p:nvSpPr>
          <p:cNvPr id="9" name="Shape 6"/>
          <p:cNvSpPr/>
          <p:nvPr/>
        </p:nvSpPr>
        <p:spPr>
          <a:xfrm>
            <a:off x="502920" y="2011680"/>
            <a:ext cx="3474720" cy="5486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Text 7"/>
          <p:cNvSpPr/>
          <p:nvPr/>
        </p:nvSpPr>
        <p:spPr>
          <a:xfrm>
            <a:off x="685800" y="2084832"/>
            <a:ext cx="310896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SPIRE Server</a:t>
            </a:r>
            <a:endParaRPr lang="en-US" sz="1200" dirty="0"/>
          </a:p>
        </p:txBody>
      </p:sp>
      <p:sp>
        <p:nvSpPr>
          <p:cNvPr id="11" name="Shape 8"/>
          <p:cNvSpPr/>
          <p:nvPr/>
        </p:nvSpPr>
        <p:spPr>
          <a:xfrm>
            <a:off x="502920" y="2670048"/>
            <a:ext cx="3474720" cy="5486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Text 9"/>
          <p:cNvSpPr/>
          <p:nvPr/>
        </p:nvSpPr>
        <p:spPr>
          <a:xfrm>
            <a:off x="685800" y="2743200"/>
            <a:ext cx="310896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SPIRE Agent</a:t>
            </a:r>
            <a:endParaRPr lang="en-US" sz="1200" dirty="0"/>
          </a:p>
        </p:txBody>
      </p:sp>
      <p:sp>
        <p:nvSpPr>
          <p:cNvPr id="13" name="Shape 10"/>
          <p:cNvSpPr/>
          <p:nvPr/>
        </p:nvSpPr>
        <p:spPr>
          <a:xfrm>
            <a:off x="502920" y="3328416"/>
            <a:ext cx="3474720" cy="5486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Text 11"/>
          <p:cNvSpPr/>
          <p:nvPr/>
        </p:nvSpPr>
        <p:spPr>
          <a:xfrm>
            <a:off x="685800" y="3401568"/>
            <a:ext cx="310896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Workloads</a:t>
            </a:r>
            <a:endParaRPr lang="en-US" sz="1200" dirty="0"/>
          </a:p>
        </p:txBody>
      </p:sp>
      <p:sp>
        <p:nvSpPr>
          <p:cNvPr id="15" name="Shape 12"/>
          <p:cNvSpPr/>
          <p:nvPr/>
        </p:nvSpPr>
        <p:spPr>
          <a:xfrm>
            <a:off x="4937760" y="1005840"/>
            <a:ext cx="3840480" cy="329184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16" name="Shape 13"/>
          <p:cNvSpPr/>
          <p:nvPr/>
        </p:nvSpPr>
        <p:spPr>
          <a:xfrm>
            <a:off x="4937760" y="1005840"/>
            <a:ext cx="3840480" cy="502920"/>
          </a:xfrm>
          <a:prstGeom prst="rect">
            <a:avLst/>
          </a:prstGeom>
          <a:solidFill>
            <a:srgbClr val="1C7293"/>
          </a:solidFill>
          <a:ln/>
        </p:spPr>
      </p:sp>
      <p:pic>
        <p:nvPicPr>
          <p:cNvPr id="17" name="Image 1" descr="preencoded.png"/>
          <p:cNvPicPr>
            <a:picLocks noChangeAspect="1"/>
          </p:cNvPicPr>
          <p:nvPr/>
        </p:nvPicPr>
        <p:blipFill>
          <a:blip r:embed="rId2"/>
          <a:stretch>
            <a:fillRect/>
          </a:stretch>
        </p:blipFill>
        <p:spPr>
          <a:xfrm>
            <a:off x="5074920" y="1033272"/>
            <a:ext cx="365760" cy="365760"/>
          </a:xfrm>
          <a:prstGeom prst="rect">
            <a:avLst/>
          </a:prstGeom>
        </p:spPr>
      </p:pic>
      <p:sp>
        <p:nvSpPr>
          <p:cNvPr id="18" name="Text 14"/>
          <p:cNvSpPr/>
          <p:nvPr/>
        </p:nvSpPr>
        <p:spPr>
          <a:xfrm>
            <a:off x="5486400" y="1051560"/>
            <a:ext cx="31546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GCP  ·  Trust Domain B</a:t>
            </a:r>
            <a:endParaRPr lang="en-US" sz="1300" dirty="0"/>
          </a:p>
        </p:txBody>
      </p:sp>
      <p:sp>
        <p:nvSpPr>
          <p:cNvPr id="19" name="Text 15"/>
          <p:cNvSpPr/>
          <p:nvPr/>
        </p:nvSpPr>
        <p:spPr>
          <a:xfrm>
            <a:off x="5120640" y="1645920"/>
            <a:ext cx="3474720" cy="274320"/>
          </a:xfrm>
          <a:prstGeom prst="rect">
            <a:avLst/>
          </a:prstGeom>
          <a:noFill/>
          <a:ln/>
        </p:spPr>
        <p:txBody>
          <a:bodyPr wrap="square" lIns="0" tIns="0" rIns="0" bIns="0" rtlCol="0" anchor="ctr"/>
          <a:lstStyle/>
          <a:p>
            <a:pPr indent="0" marL="0">
              <a:buNone/>
            </a:pPr>
            <a:r>
              <a:rPr lang="en-US" sz="1100" dirty="0">
                <a:solidFill>
                  <a:srgbClr val="1C7293"/>
                </a:solidFill>
                <a:latin typeface="Consolas" pitchFamily="34" charset="0"/>
                <a:ea typeface="Consolas" pitchFamily="34" charset="-122"/>
                <a:cs typeface="Consolas" pitchFamily="34" charset="-120"/>
              </a:rPr>
              <a:t>spiffe://gcp.prod/...</a:t>
            </a:r>
            <a:endParaRPr lang="en-US" sz="1100" dirty="0"/>
          </a:p>
        </p:txBody>
      </p:sp>
      <p:sp>
        <p:nvSpPr>
          <p:cNvPr id="20" name="Shape 16"/>
          <p:cNvSpPr/>
          <p:nvPr/>
        </p:nvSpPr>
        <p:spPr>
          <a:xfrm>
            <a:off x="5120640" y="2011680"/>
            <a:ext cx="3474720" cy="5486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1" name="Text 17"/>
          <p:cNvSpPr/>
          <p:nvPr/>
        </p:nvSpPr>
        <p:spPr>
          <a:xfrm>
            <a:off x="5303520" y="2084832"/>
            <a:ext cx="310896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SPIRE Server</a:t>
            </a:r>
            <a:endParaRPr lang="en-US" sz="1200" dirty="0"/>
          </a:p>
        </p:txBody>
      </p:sp>
      <p:sp>
        <p:nvSpPr>
          <p:cNvPr id="22" name="Shape 18"/>
          <p:cNvSpPr/>
          <p:nvPr/>
        </p:nvSpPr>
        <p:spPr>
          <a:xfrm>
            <a:off x="5120640" y="2670048"/>
            <a:ext cx="3474720" cy="5486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3" name="Text 19"/>
          <p:cNvSpPr/>
          <p:nvPr/>
        </p:nvSpPr>
        <p:spPr>
          <a:xfrm>
            <a:off x="5303520" y="2743200"/>
            <a:ext cx="310896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SPIRE Agent</a:t>
            </a:r>
            <a:endParaRPr lang="en-US" sz="1200" dirty="0"/>
          </a:p>
        </p:txBody>
      </p:sp>
      <p:sp>
        <p:nvSpPr>
          <p:cNvPr id="24" name="Shape 20"/>
          <p:cNvSpPr/>
          <p:nvPr/>
        </p:nvSpPr>
        <p:spPr>
          <a:xfrm>
            <a:off x="5120640" y="3328416"/>
            <a:ext cx="3474720" cy="5486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5" name="Text 21"/>
          <p:cNvSpPr/>
          <p:nvPr/>
        </p:nvSpPr>
        <p:spPr>
          <a:xfrm>
            <a:off x="5303520" y="3401568"/>
            <a:ext cx="310896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Workloads</a:t>
            </a:r>
            <a:endParaRPr lang="en-US" sz="1200" dirty="0"/>
          </a:p>
        </p:txBody>
      </p:sp>
      <p:sp>
        <p:nvSpPr>
          <p:cNvPr id="26" name="Shape 22"/>
          <p:cNvSpPr/>
          <p:nvPr/>
        </p:nvSpPr>
        <p:spPr>
          <a:xfrm>
            <a:off x="4206240" y="2011680"/>
            <a:ext cx="731520" cy="1097280"/>
          </a:xfrm>
          <a:prstGeom prst="rect">
            <a:avLst/>
          </a:prstGeom>
          <a:solidFill>
            <a:srgbClr val="D4A017"/>
          </a:solidFill>
          <a:ln/>
        </p:spPr>
      </p:sp>
      <p:sp>
        <p:nvSpPr>
          <p:cNvPr id="27" name="Text 23"/>
          <p:cNvSpPr/>
          <p:nvPr/>
        </p:nvSpPr>
        <p:spPr>
          <a:xfrm>
            <a:off x="4206240" y="2084832"/>
            <a:ext cx="731520" cy="9144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Bundle</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Endpoint</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Exchange</a:t>
            </a:r>
            <a:endParaRPr lang="en-US" sz="900" dirty="0"/>
          </a:p>
        </p:txBody>
      </p:sp>
      <p:sp>
        <p:nvSpPr>
          <p:cNvPr id="28" name="Text 24"/>
          <p:cNvSpPr/>
          <p:nvPr/>
        </p:nvSpPr>
        <p:spPr>
          <a:xfrm>
            <a:off x="320040" y="4572000"/>
            <a:ext cx="8503920" cy="274320"/>
          </a:xfrm>
          <a:prstGeom prst="rect">
            <a:avLst/>
          </a:prstGeom>
          <a:noFill/>
          <a:ln/>
        </p:spPr>
        <p:txBody>
          <a:bodyPr wrap="square" lIns="0" tIns="0" rIns="0" bIns="0" rtlCol="0" anchor="ctr"/>
          <a:lstStyle/>
          <a:p>
            <a:pPr indent="0" marL="0">
              <a:buNone/>
            </a:pPr>
            <a:r>
              <a:rPr lang="en-US" sz="1100" i="1" dirty="0">
                <a:solidFill>
                  <a:srgbClr val="0D9488"/>
                </a:solidFill>
                <a:latin typeface="Calibri" pitchFamily="34" charset="0"/>
                <a:ea typeface="Calibri" pitchFamily="34" charset="-122"/>
                <a:cs typeface="Calibri" pitchFamily="34" charset="-120"/>
              </a:rPr>
              <a:t>Neither domain shares a root CA.  Federation is explicit, directional, and auditable.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indent="0" marL="0">
              <a:buNone/>
            </a:pPr>
            <a:r>
              <a:rPr lang="en-US" sz="2600" b="1" dirty="0">
                <a:solidFill>
                  <a:srgbClr val="0B1E3F"/>
                </a:solidFill>
                <a:latin typeface="Calibri" pitchFamily="34" charset="0"/>
                <a:ea typeface="Calibri" pitchFamily="34" charset="-122"/>
                <a:cs typeface="Calibri" pitchFamily="34" charset="-120"/>
              </a:rPr>
              <a:t>Workload Identity Systems: Comparative Analysis</a:t>
            </a:r>
            <a:endParaRPr lang="en-US" sz="2600" dirty="0"/>
          </a:p>
        </p:txBody>
      </p:sp>
      <p:sp>
        <p:nvSpPr>
          <p:cNvPr id="3" name="Shape 1"/>
          <p:cNvSpPr/>
          <p:nvPr/>
        </p:nvSpPr>
        <p:spPr>
          <a:xfrm>
            <a:off x="320040" y="868680"/>
            <a:ext cx="8503920" cy="548640"/>
          </a:xfrm>
          <a:prstGeom prst="rect">
            <a:avLst/>
          </a:prstGeom>
          <a:solidFill>
            <a:srgbClr val="0B1E3F"/>
          </a:solidFill>
          <a:ln/>
        </p:spPr>
      </p:sp>
      <p:sp>
        <p:nvSpPr>
          <p:cNvPr id="4" name="Text 2"/>
          <p:cNvSpPr/>
          <p:nvPr/>
        </p:nvSpPr>
        <p:spPr>
          <a:xfrm>
            <a:off x="411480" y="932688"/>
            <a:ext cx="164592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p>
        </p:txBody>
      </p:sp>
      <p:sp>
        <p:nvSpPr>
          <p:cNvPr id="5" name="Text 3"/>
          <p:cNvSpPr/>
          <p:nvPr/>
        </p:nvSpPr>
        <p:spPr>
          <a:xfrm>
            <a:off x="2148840" y="932688"/>
            <a:ext cx="155448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SPIFFE/SPIRE</a:t>
            </a:r>
            <a:endParaRPr lang="en-US" sz="1100" dirty="0"/>
          </a:p>
        </p:txBody>
      </p:sp>
      <p:sp>
        <p:nvSpPr>
          <p:cNvPr id="6" name="Text 4"/>
          <p:cNvSpPr/>
          <p:nvPr/>
        </p:nvSpPr>
        <p:spPr>
          <a:xfrm>
            <a:off x="3794760" y="932688"/>
            <a:ext cx="164592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Google ALTS</a:t>
            </a:r>
            <a:endParaRPr lang="en-US" sz="1100" dirty="0"/>
          </a:p>
        </p:txBody>
      </p:sp>
      <p:sp>
        <p:nvSpPr>
          <p:cNvPr id="7" name="Text 5"/>
          <p:cNvSpPr/>
          <p:nvPr/>
        </p:nvSpPr>
        <p:spPr>
          <a:xfrm>
            <a:off x="5532120" y="932688"/>
            <a:ext cx="164592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AWS IAM Roles Anywhere</a:t>
            </a:r>
            <a:endParaRPr lang="en-US" sz="1100" dirty="0"/>
          </a:p>
        </p:txBody>
      </p:sp>
      <p:sp>
        <p:nvSpPr>
          <p:cNvPr id="8" name="Text 6"/>
          <p:cNvSpPr/>
          <p:nvPr/>
        </p:nvSpPr>
        <p:spPr>
          <a:xfrm>
            <a:off x="7269480" y="932688"/>
            <a:ext cx="155448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Istio built-in CA</a:t>
            </a:r>
            <a:endParaRPr lang="en-US" sz="1100" dirty="0"/>
          </a:p>
        </p:txBody>
      </p:sp>
      <p:sp>
        <p:nvSpPr>
          <p:cNvPr id="9" name="Shape 7"/>
          <p:cNvSpPr/>
          <p:nvPr/>
        </p:nvSpPr>
        <p:spPr>
          <a:xfrm>
            <a:off x="320040" y="1463040"/>
            <a:ext cx="8503920" cy="548640"/>
          </a:xfrm>
          <a:prstGeom prst="rect">
            <a:avLst/>
          </a:prstGeom>
          <a:solidFill>
            <a:srgbClr val="FFFFFF"/>
          </a:solidFill>
          <a:ln/>
        </p:spPr>
      </p:sp>
      <p:sp>
        <p:nvSpPr>
          <p:cNvPr id="10" name="Text 8"/>
          <p:cNvSpPr/>
          <p:nvPr/>
        </p:nvSpPr>
        <p:spPr>
          <a:xfrm>
            <a:off x="411480" y="1527048"/>
            <a:ext cx="164592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Open standard</a:t>
            </a:r>
            <a:endParaRPr lang="en-US" sz="1000" dirty="0"/>
          </a:p>
        </p:txBody>
      </p:sp>
      <p:sp>
        <p:nvSpPr>
          <p:cNvPr id="11" name="Text 9"/>
          <p:cNvSpPr/>
          <p:nvPr/>
        </p:nvSpPr>
        <p:spPr>
          <a:xfrm>
            <a:off x="2148840" y="1527048"/>
            <a:ext cx="1554480" cy="411480"/>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 CNCF Grad.</a:t>
            </a:r>
            <a:endParaRPr lang="en-US" sz="1000" dirty="0"/>
          </a:p>
        </p:txBody>
      </p:sp>
      <p:sp>
        <p:nvSpPr>
          <p:cNvPr id="12" name="Text 10"/>
          <p:cNvSpPr/>
          <p:nvPr/>
        </p:nvSpPr>
        <p:spPr>
          <a:xfrm>
            <a:off x="3794760" y="1527048"/>
            <a:ext cx="164592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Google-only</a:t>
            </a:r>
            <a:endParaRPr lang="en-US" sz="1000" dirty="0"/>
          </a:p>
        </p:txBody>
      </p:sp>
      <p:sp>
        <p:nvSpPr>
          <p:cNvPr id="13" name="Text 11"/>
          <p:cNvSpPr/>
          <p:nvPr/>
        </p:nvSpPr>
        <p:spPr>
          <a:xfrm>
            <a:off x="5532120" y="1527048"/>
            <a:ext cx="164592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AWS-only</a:t>
            </a:r>
            <a:endParaRPr lang="en-US" sz="1000" dirty="0"/>
          </a:p>
        </p:txBody>
      </p:sp>
      <p:sp>
        <p:nvSpPr>
          <p:cNvPr id="14" name="Text 12"/>
          <p:cNvSpPr/>
          <p:nvPr/>
        </p:nvSpPr>
        <p:spPr>
          <a:xfrm>
            <a:off x="7269480" y="1527048"/>
            <a:ext cx="155448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Partial (SPIFFE IDs)</a:t>
            </a:r>
            <a:endParaRPr lang="en-US" sz="1000" dirty="0"/>
          </a:p>
        </p:txBody>
      </p:sp>
      <p:sp>
        <p:nvSpPr>
          <p:cNvPr id="15" name="Shape 13"/>
          <p:cNvSpPr/>
          <p:nvPr/>
        </p:nvSpPr>
        <p:spPr>
          <a:xfrm>
            <a:off x="320040" y="2057400"/>
            <a:ext cx="8503920" cy="548640"/>
          </a:xfrm>
          <a:prstGeom prst="rect">
            <a:avLst/>
          </a:prstGeom>
          <a:solidFill>
            <a:srgbClr val="F1F5F9"/>
          </a:solidFill>
          <a:ln/>
        </p:spPr>
      </p:sp>
      <p:sp>
        <p:nvSpPr>
          <p:cNvPr id="16" name="Text 14"/>
          <p:cNvSpPr/>
          <p:nvPr/>
        </p:nvSpPr>
        <p:spPr>
          <a:xfrm>
            <a:off x="411480" y="2121408"/>
            <a:ext cx="164592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Workload API</a:t>
            </a:r>
            <a:endParaRPr lang="en-US" sz="1000" dirty="0"/>
          </a:p>
        </p:txBody>
      </p:sp>
      <p:sp>
        <p:nvSpPr>
          <p:cNvPr id="17" name="Text 15"/>
          <p:cNvSpPr/>
          <p:nvPr/>
        </p:nvSpPr>
        <p:spPr>
          <a:xfrm>
            <a:off x="2148840" y="2121408"/>
            <a:ext cx="1554480" cy="411480"/>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 Full</a:t>
            </a:r>
            <a:endParaRPr lang="en-US" sz="1000" dirty="0"/>
          </a:p>
        </p:txBody>
      </p:sp>
      <p:sp>
        <p:nvSpPr>
          <p:cNvPr id="18" name="Text 16"/>
          <p:cNvSpPr/>
          <p:nvPr/>
        </p:nvSpPr>
        <p:spPr>
          <a:xfrm>
            <a:off x="3794760" y="2121408"/>
            <a:ext cx="164592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Internal only</a:t>
            </a:r>
            <a:endParaRPr lang="en-US" sz="1000" dirty="0"/>
          </a:p>
        </p:txBody>
      </p:sp>
      <p:sp>
        <p:nvSpPr>
          <p:cNvPr id="19" name="Text 17"/>
          <p:cNvSpPr/>
          <p:nvPr/>
        </p:nvSpPr>
        <p:spPr>
          <a:xfrm>
            <a:off x="5532120" y="2121408"/>
            <a:ext cx="164592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t>
            </a:r>
            <a:endParaRPr lang="en-US" sz="1000" dirty="0"/>
          </a:p>
        </p:txBody>
      </p:sp>
      <p:sp>
        <p:nvSpPr>
          <p:cNvPr id="20" name="Text 18"/>
          <p:cNvSpPr/>
          <p:nvPr/>
        </p:nvSpPr>
        <p:spPr>
          <a:xfrm>
            <a:off x="7269480" y="2121408"/>
            <a:ext cx="155448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t>
            </a:r>
            <a:endParaRPr lang="en-US" sz="1000" dirty="0"/>
          </a:p>
        </p:txBody>
      </p:sp>
      <p:sp>
        <p:nvSpPr>
          <p:cNvPr id="21" name="Shape 19"/>
          <p:cNvSpPr/>
          <p:nvPr/>
        </p:nvSpPr>
        <p:spPr>
          <a:xfrm>
            <a:off x="320040" y="2651760"/>
            <a:ext cx="8503920" cy="548640"/>
          </a:xfrm>
          <a:prstGeom prst="rect">
            <a:avLst/>
          </a:prstGeom>
          <a:solidFill>
            <a:srgbClr val="FFFFFF"/>
          </a:solidFill>
          <a:ln/>
        </p:spPr>
      </p:sp>
      <p:sp>
        <p:nvSpPr>
          <p:cNvPr id="22" name="Text 20"/>
          <p:cNvSpPr/>
          <p:nvPr/>
        </p:nvSpPr>
        <p:spPr>
          <a:xfrm>
            <a:off x="411480" y="2715768"/>
            <a:ext cx="164592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Cross-cloud fed.</a:t>
            </a:r>
            <a:endParaRPr lang="en-US" sz="1000" dirty="0"/>
          </a:p>
        </p:txBody>
      </p:sp>
      <p:sp>
        <p:nvSpPr>
          <p:cNvPr id="23" name="Text 21"/>
          <p:cNvSpPr/>
          <p:nvPr/>
        </p:nvSpPr>
        <p:spPr>
          <a:xfrm>
            <a:off x="2148840" y="2715768"/>
            <a:ext cx="1554480" cy="411480"/>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 Native</a:t>
            </a:r>
            <a:endParaRPr lang="en-US" sz="1000" dirty="0"/>
          </a:p>
        </p:txBody>
      </p:sp>
      <p:sp>
        <p:nvSpPr>
          <p:cNvPr id="24" name="Text 22"/>
          <p:cNvSpPr/>
          <p:nvPr/>
        </p:nvSpPr>
        <p:spPr>
          <a:xfrm>
            <a:off x="3794760" y="2715768"/>
            <a:ext cx="164592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t>
            </a:r>
            <a:endParaRPr lang="en-US" sz="1000" dirty="0"/>
          </a:p>
        </p:txBody>
      </p:sp>
      <p:sp>
        <p:nvSpPr>
          <p:cNvPr id="25" name="Text 23"/>
          <p:cNvSpPr/>
          <p:nvPr/>
        </p:nvSpPr>
        <p:spPr>
          <a:xfrm>
            <a:off x="5532120" y="2715768"/>
            <a:ext cx="164592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Limited</a:t>
            </a:r>
            <a:endParaRPr lang="en-US" sz="1000" dirty="0"/>
          </a:p>
        </p:txBody>
      </p:sp>
      <p:sp>
        <p:nvSpPr>
          <p:cNvPr id="26" name="Text 24"/>
          <p:cNvSpPr/>
          <p:nvPr/>
        </p:nvSpPr>
        <p:spPr>
          <a:xfrm>
            <a:off x="7269480" y="2715768"/>
            <a:ext cx="155448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t>
            </a:r>
            <a:endParaRPr lang="en-US" sz="1000" dirty="0"/>
          </a:p>
        </p:txBody>
      </p:sp>
      <p:sp>
        <p:nvSpPr>
          <p:cNvPr id="27" name="Shape 25"/>
          <p:cNvSpPr/>
          <p:nvPr/>
        </p:nvSpPr>
        <p:spPr>
          <a:xfrm>
            <a:off x="320040" y="3246120"/>
            <a:ext cx="8503920" cy="548640"/>
          </a:xfrm>
          <a:prstGeom prst="rect">
            <a:avLst/>
          </a:prstGeom>
          <a:solidFill>
            <a:srgbClr val="F1F5F9"/>
          </a:solidFill>
          <a:ln/>
        </p:spPr>
      </p:sp>
      <p:sp>
        <p:nvSpPr>
          <p:cNvPr id="28" name="Text 26"/>
          <p:cNvSpPr/>
          <p:nvPr/>
        </p:nvSpPr>
        <p:spPr>
          <a:xfrm>
            <a:off x="411480" y="3310128"/>
            <a:ext cx="164592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Attestation plugins</a:t>
            </a:r>
            <a:endParaRPr lang="en-US" sz="1000" dirty="0"/>
          </a:p>
        </p:txBody>
      </p:sp>
      <p:sp>
        <p:nvSpPr>
          <p:cNvPr id="29" name="Text 27"/>
          <p:cNvSpPr/>
          <p:nvPr/>
        </p:nvSpPr>
        <p:spPr>
          <a:xfrm>
            <a:off x="2148840" y="3310128"/>
            <a:ext cx="1554480" cy="411480"/>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 Extensible</a:t>
            </a:r>
            <a:endParaRPr lang="en-US" sz="1000" dirty="0"/>
          </a:p>
        </p:txBody>
      </p:sp>
      <p:sp>
        <p:nvSpPr>
          <p:cNvPr id="30" name="Text 28"/>
          <p:cNvSpPr/>
          <p:nvPr/>
        </p:nvSpPr>
        <p:spPr>
          <a:xfrm>
            <a:off x="3794760" y="3310128"/>
            <a:ext cx="164592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Fixed</a:t>
            </a:r>
            <a:endParaRPr lang="en-US" sz="1000" dirty="0"/>
          </a:p>
        </p:txBody>
      </p:sp>
      <p:sp>
        <p:nvSpPr>
          <p:cNvPr id="31" name="Text 29"/>
          <p:cNvSpPr/>
          <p:nvPr/>
        </p:nvSpPr>
        <p:spPr>
          <a:xfrm>
            <a:off x="5532120" y="3310128"/>
            <a:ext cx="164592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Fixed</a:t>
            </a:r>
            <a:endParaRPr lang="en-US" sz="1000" dirty="0"/>
          </a:p>
        </p:txBody>
      </p:sp>
      <p:sp>
        <p:nvSpPr>
          <p:cNvPr id="32" name="Text 30"/>
          <p:cNvSpPr/>
          <p:nvPr/>
        </p:nvSpPr>
        <p:spPr>
          <a:xfrm>
            <a:off x="7269480" y="3310128"/>
            <a:ext cx="155448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K8s only</a:t>
            </a:r>
            <a:endParaRPr lang="en-US" sz="1000" dirty="0"/>
          </a:p>
        </p:txBody>
      </p:sp>
      <p:sp>
        <p:nvSpPr>
          <p:cNvPr id="33" name="Shape 31"/>
          <p:cNvSpPr/>
          <p:nvPr/>
        </p:nvSpPr>
        <p:spPr>
          <a:xfrm>
            <a:off x="320040" y="3840480"/>
            <a:ext cx="8503920" cy="548640"/>
          </a:xfrm>
          <a:prstGeom prst="rect">
            <a:avLst/>
          </a:prstGeom>
          <a:solidFill>
            <a:srgbClr val="FFFFFF"/>
          </a:solidFill>
          <a:ln/>
        </p:spPr>
      </p:sp>
      <p:sp>
        <p:nvSpPr>
          <p:cNvPr id="34" name="Text 32"/>
          <p:cNvSpPr/>
          <p:nvPr/>
        </p:nvSpPr>
        <p:spPr>
          <a:xfrm>
            <a:off x="411480" y="3904488"/>
            <a:ext cx="164592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TTL (default)</a:t>
            </a:r>
            <a:endParaRPr lang="en-US" sz="1000" dirty="0"/>
          </a:p>
        </p:txBody>
      </p:sp>
      <p:sp>
        <p:nvSpPr>
          <p:cNvPr id="35" name="Text 33"/>
          <p:cNvSpPr/>
          <p:nvPr/>
        </p:nvSpPr>
        <p:spPr>
          <a:xfrm>
            <a:off x="2148840" y="3904488"/>
            <a:ext cx="155448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1h</a:t>
            </a:r>
            <a:endParaRPr lang="en-US" sz="1000" dirty="0"/>
          </a:p>
        </p:txBody>
      </p:sp>
      <p:sp>
        <p:nvSpPr>
          <p:cNvPr id="36" name="Text 34"/>
          <p:cNvSpPr/>
          <p:nvPr/>
        </p:nvSpPr>
        <p:spPr>
          <a:xfrm>
            <a:off x="3794760" y="3904488"/>
            <a:ext cx="164592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~2h</a:t>
            </a:r>
            <a:endParaRPr lang="en-US" sz="1000" dirty="0"/>
          </a:p>
        </p:txBody>
      </p:sp>
      <p:sp>
        <p:nvSpPr>
          <p:cNvPr id="37" name="Text 35"/>
          <p:cNvSpPr/>
          <p:nvPr/>
        </p:nvSpPr>
        <p:spPr>
          <a:xfrm>
            <a:off x="5532120" y="3904488"/>
            <a:ext cx="164592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1h (configurable)</a:t>
            </a:r>
            <a:endParaRPr lang="en-US" sz="1000" dirty="0"/>
          </a:p>
        </p:txBody>
      </p:sp>
      <p:sp>
        <p:nvSpPr>
          <p:cNvPr id="38" name="Text 36"/>
          <p:cNvSpPr/>
          <p:nvPr/>
        </p:nvSpPr>
        <p:spPr>
          <a:xfrm>
            <a:off x="7269480" y="3904488"/>
            <a:ext cx="155448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24h (risky)</a:t>
            </a:r>
            <a:endParaRPr lang="en-US" sz="1000" dirty="0"/>
          </a:p>
        </p:txBody>
      </p:sp>
      <p:sp>
        <p:nvSpPr>
          <p:cNvPr id="39" name="Shape 37"/>
          <p:cNvSpPr/>
          <p:nvPr/>
        </p:nvSpPr>
        <p:spPr>
          <a:xfrm>
            <a:off x="320040" y="4434840"/>
            <a:ext cx="8503920" cy="548640"/>
          </a:xfrm>
          <a:prstGeom prst="rect">
            <a:avLst/>
          </a:prstGeom>
          <a:solidFill>
            <a:srgbClr val="F1F5F9"/>
          </a:solidFill>
          <a:ln/>
        </p:spPr>
      </p:sp>
      <p:sp>
        <p:nvSpPr>
          <p:cNvPr id="40" name="Text 38"/>
          <p:cNvSpPr/>
          <p:nvPr/>
        </p:nvSpPr>
        <p:spPr>
          <a:xfrm>
            <a:off x="411480" y="4498848"/>
            <a:ext cx="164592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NIST 800-207A align.</a:t>
            </a:r>
            <a:endParaRPr lang="en-US" sz="1000" dirty="0"/>
          </a:p>
        </p:txBody>
      </p:sp>
      <p:sp>
        <p:nvSpPr>
          <p:cNvPr id="41" name="Text 39"/>
          <p:cNvSpPr/>
          <p:nvPr/>
        </p:nvSpPr>
        <p:spPr>
          <a:xfrm>
            <a:off x="2148840" y="4498848"/>
            <a:ext cx="1554480" cy="411480"/>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 Explicit ref.</a:t>
            </a:r>
            <a:endParaRPr lang="en-US" sz="1000" dirty="0"/>
          </a:p>
        </p:txBody>
      </p:sp>
      <p:sp>
        <p:nvSpPr>
          <p:cNvPr id="42" name="Text 40"/>
          <p:cNvSpPr/>
          <p:nvPr/>
        </p:nvSpPr>
        <p:spPr>
          <a:xfrm>
            <a:off x="3794760" y="4498848"/>
            <a:ext cx="164592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Aligned</a:t>
            </a:r>
            <a:endParaRPr lang="en-US" sz="1000" dirty="0"/>
          </a:p>
        </p:txBody>
      </p:sp>
      <p:sp>
        <p:nvSpPr>
          <p:cNvPr id="43" name="Text 41"/>
          <p:cNvSpPr/>
          <p:nvPr/>
        </p:nvSpPr>
        <p:spPr>
          <a:xfrm>
            <a:off x="5532120" y="4498848"/>
            <a:ext cx="164592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Aligned</a:t>
            </a:r>
            <a:endParaRPr lang="en-US" sz="1000" dirty="0"/>
          </a:p>
        </p:txBody>
      </p:sp>
      <p:sp>
        <p:nvSpPr>
          <p:cNvPr id="44" name="Text 42"/>
          <p:cNvSpPr/>
          <p:nvPr/>
        </p:nvSpPr>
        <p:spPr>
          <a:xfrm>
            <a:off x="7269480" y="4498848"/>
            <a:ext cx="155448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Partial</a:t>
            </a:r>
            <a:endParaRPr lang="en-US" sz="1000" dirty="0"/>
          </a:p>
        </p:txBody>
      </p:sp>
      <p:sp>
        <p:nvSpPr>
          <p:cNvPr id="45" name="Text 43"/>
          <p:cNvSpPr/>
          <p:nvPr/>
        </p:nvSpPr>
        <p:spPr>
          <a:xfrm>
            <a:off x="320040" y="4754880"/>
            <a:ext cx="8503920" cy="274320"/>
          </a:xfrm>
          <a:prstGeom prst="rect">
            <a:avLst/>
          </a:prstGeom>
          <a:noFill/>
          <a:ln/>
        </p:spPr>
        <p:txBody>
          <a:bodyPr wrap="square" lIns="0" tIns="0" rIns="0" bIns="0" rtlCol="0" anchor="ctr"/>
          <a:lstStyle/>
          <a:p>
            <a:pPr indent="0" marL="0">
              <a:buNone/>
            </a:pPr>
            <a:r>
              <a:rPr lang="en-US" sz="1100" i="1" dirty="0">
                <a:solidFill>
                  <a:srgbClr val="065A82"/>
                </a:solidFill>
                <a:latin typeface="Calibri" pitchFamily="34" charset="0"/>
                <a:ea typeface="Calibri" pitchFamily="34" charset="-122"/>
                <a:cs typeface="Calibri" pitchFamily="34" charset="-120"/>
              </a:rPr>
              <a:t>Bottom line: SPIFFE/SPIRE is the only open, vendor-neutral, fully-featured workload identity stack with explicit NIST alignment.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indent="0" marL="0">
              <a:buNone/>
            </a:pPr>
            <a:r>
              <a:rPr lang="en-US" sz="2700" b="1" dirty="0">
                <a:solidFill>
                  <a:srgbClr val="0B1E3F"/>
                </a:solidFill>
                <a:latin typeface="Calibri" pitchFamily="34" charset="0"/>
                <a:ea typeface="Calibri" pitchFamily="34" charset="-122"/>
                <a:cs typeface="Calibri" pitchFamily="34" charset="-120"/>
              </a:rPr>
              <a:t>Short-Lived Credentials: Eliminating Secret-Zero</a:t>
            </a:r>
            <a:endParaRPr lang="en-US" sz="2700" dirty="0"/>
          </a:p>
        </p:txBody>
      </p:sp>
      <p:sp>
        <p:nvSpPr>
          <p:cNvPr id="3" name="Text 1"/>
          <p:cNvSpPr/>
          <p:nvPr/>
        </p:nvSpPr>
        <p:spPr>
          <a:xfrm>
            <a:off x="320040" y="1097280"/>
            <a:ext cx="256032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Static API Key</a:t>
            </a:r>
            <a:endParaRPr lang="en-US" sz="1300" dirty="0"/>
          </a:p>
        </p:txBody>
      </p:sp>
      <p:sp>
        <p:nvSpPr>
          <p:cNvPr id="4" name="Shape 2"/>
          <p:cNvSpPr/>
          <p:nvPr/>
        </p:nvSpPr>
        <p:spPr>
          <a:xfrm>
            <a:off x="2926080" y="1143000"/>
            <a:ext cx="7772400" cy="320040"/>
          </a:xfrm>
          <a:prstGeom prst="rect">
            <a:avLst/>
          </a:prstGeom>
          <a:solidFill>
            <a:srgbClr val="E63946"/>
          </a:solidFill>
          <a:ln/>
        </p:spPr>
      </p:sp>
      <p:sp>
        <p:nvSpPr>
          <p:cNvPr id="5" name="Text 3"/>
          <p:cNvSpPr/>
          <p:nvPr/>
        </p:nvSpPr>
        <p:spPr>
          <a:xfrm>
            <a:off x="3017520" y="1170432"/>
            <a:ext cx="7589520" cy="2286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  (never expires)</a:t>
            </a:r>
            <a:endParaRPr lang="en-US" sz="1000" dirty="0"/>
          </a:p>
        </p:txBody>
      </p:sp>
      <p:sp>
        <p:nvSpPr>
          <p:cNvPr id="6" name="Shape 4"/>
          <p:cNvSpPr/>
          <p:nvPr/>
        </p:nvSpPr>
        <p:spPr>
          <a:xfrm>
            <a:off x="8092440" y="1115568"/>
            <a:ext cx="914400" cy="365760"/>
          </a:xfrm>
          <a:prstGeom prst="rect">
            <a:avLst/>
          </a:prstGeom>
          <a:solidFill>
            <a:srgbClr val="E63946"/>
          </a:solidFill>
          <a:ln/>
        </p:spPr>
      </p:sp>
      <p:sp>
        <p:nvSpPr>
          <p:cNvPr id="7" name="Text 5"/>
          <p:cNvSpPr/>
          <p:nvPr/>
        </p:nvSpPr>
        <p:spPr>
          <a:xfrm>
            <a:off x="8092440" y="1143000"/>
            <a:ext cx="91440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CRITICAL</a:t>
            </a:r>
            <a:endParaRPr lang="en-US" sz="900" dirty="0"/>
          </a:p>
        </p:txBody>
      </p:sp>
      <p:sp>
        <p:nvSpPr>
          <p:cNvPr id="8" name="Text 6"/>
          <p:cNvSpPr/>
          <p:nvPr/>
        </p:nvSpPr>
        <p:spPr>
          <a:xfrm>
            <a:off x="320040" y="2011680"/>
            <a:ext cx="256032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AWS IAM (session)</a:t>
            </a:r>
            <a:endParaRPr lang="en-US" sz="1300" dirty="0"/>
          </a:p>
        </p:txBody>
      </p:sp>
      <p:sp>
        <p:nvSpPr>
          <p:cNvPr id="9" name="Shape 7"/>
          <p:cNvSpPr/>
          <p:nvPr/>
        </p:nvSpPr>
        <p:spPr>
          <a:xfrm>
            <a:off x="2926080" y="2057400"/>
            <a:ext cx="3200400" cy="320040"/>
          </a:xfrm>
          <a:prstGeom prst="rect">
            <a:avLst/>
          </a:prstGeom>
          <a:solidFill>
            <a:srgbClr val="D4A017"/>
          </a:solidFill>
          <a:ln/>
        </p:spPr>
      </p:sp>
      <p:sp>
        <p:nvSpPr>
          <p:cNvPr id="10" name="Text 8"/>
          <p:cNvSpPr/>
          <p:nvPr/>
        </p:nvSpPr>
        <p:spPr>
          <a:xfrm>
            <a:off x="3017520" y="2084832"/>
            <a:ext cx="3017520" cy="2286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1–12 hours</a:t>
            </a:r>
            <a:endParaRPr lang="en-US" sz="1000" dirty="0"/>
          </a:p>
        </p:txBody>
      </p:sp>
      <p:sp>
        <p:nvSpPr>
          <p:cNvPr id="11" name="Shape 9"/>
          <p:cNvSpPr/>
          <p:nvPr/>
        </p:nvSpPr>
        <p:spPr>
          <a:xfrm>
            <a:off x="8092440" y="2029968"/>
            <a:ext cx="914400" cy="365760"/>
          </a:xfrm>
          <a:prstGeom prst="rect">
            <a:avLst/>
          </a:prstGeom>
          <a:solidFill>
            <a:srgbClr val="D4A017"/>
          </a:solidFill>
          <a:ln/>
        </p:spPr>
      </p:sp>
      <p:sp>
        <p:nvSpPr>
          <p:cNvPr id="12" name="Text 10"/>
          <p:cNvSpPr/>
          <p:nvPr/>
        </p:nvSpPr>
        <p:spPr>
          <a:xfrm>
            <a:off x="8092440" y="2057400"/>
            <a:ext cx="91440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13" name="Text 11"/>
          <p:cNvSpPr/>
          <p:nvPr/>
        </p:nvSpPr>
        <p:spPr>
          <a:xfrm>
            <a:off x="320040" y="2926080"/>
            <a:ext cx="256032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SPIFFE X.509-SVID</a:t>
            </a:r>
            <a:endParaRPr lang="en-US" sz="1300" dirty="0"/>
          </a:p>
        </p:txBody>
      </p:sp>
      <p:sp>
        <p:nvSpPr>
          <p:cNvPr id="14" name="Shape 12"/>
          <p:cNvSpPr/>
          <p:nvPr/>
        </p:nvSpPr>
        <p:spPr>
          <a:xfrm>
            <a:off x="2926080" y="2971800"/>
            <a:ext cx="1097280" cy="320040"/>
          </a:xfrm>
          <a:prstGeom prst="rect">
            <a:avLst/>
          </a:prstGeom>
          <a:solidFill>
            <a:srgbClr val="0D9488"/>
          </a:solidFill>
          <a:ln/>
        </p:spPr>
      </p:sp>
      <p:sp>
        <p:nvSpPr>
          <p:cNvPr id="15" name="Text 13"/>
          <p:cNvSpPr/>
          <p:nvPr/>
        </p:nvSpPr>
        <p:spPr>
          <a:xfrm>
            <a:off x="3017520" y="2999232"/>
            <a:ext cx="914400" cy="2286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1 hour  (auto-rotated)</a:t>
            </a:r>
            <a:endParaRPr lang="en-US" sz="1000" dirty="0"/>
          </a:p>
        </p:txBody>
      </p:sp>
      <p:sp>
        <p:nvSpPr>
          <p:cNvPr id="16" name="Shape 14"/>
          <p:cNvSpPr/>
          <p:nvPr/>
        </p:nvSpPr>
        <p:spPr>
          <a:xfrm>
            <a:off x="8092440" y="2944368"/>
            <a:ext cx="914400" cy="365760"/>
          </a:xfrm>
          <a:prstGeom prst="rect">
            <a:avLst/>
          </a:prstGeom>
          <a:solidFill>
            <a:srgbClr val="0D9488"/>
          </a:solidFill>
          <a:ln/>
        </p:spPr>
      </p:sp>
      <p:sp>
        <p:nvSpPr>
          <p:cNvPr id="17" name="Text 15"/>
          <p:cNvSpPr/>
          <p:nvPr/>
        </p:nvSpPr>
        <p:spPr>
          <a:xfrm>
            <a:off x="8092440" y="2971800"/>
            <a:ext cx="91440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LOW</a:t>
            </a:r>
            <a:endParaRPr lang="en-US" sz="900" dirty="0"/>
          </a:p>
        </p:txBody>
      </p:sp>
      <p:sp>
        <p:nvSpPr>
          <p:cNvPr id="18" name="Text 16"/>
          <p:cNvSpPr/>
          <p:nvPr/>
        </p:nvSpPr>
        <p:spPr>
          <a:xfrm>
            <a:off x="320040" y="3840480"/>
            <a:ext cx="256032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SPIFFE JWT-SVID</a:t>
            </a:r>
            <a:endParaRPr lang="en-US" sz="1300" dirty="0"/>
          </a:p>
        </p:txBody>
      </p:sp>
      <p:sp>
        <p:nvSpPr>
          <p:cNvPr id="19" name="Shape 17"/>
          <p:cNvSpPr/>
          <p:nvPr/>
        </p:nvSpPr>
        <p:spPr>
          <a:xfrm>
            <a:off x="2926080" y="3886200"/>
            <a:ext cx="320040" cy="320040"/>
          </a:xfrm>
          <a:prstGeom prst="rect">
            <a:avLst/>
          </a:prstGeom>
          <a:solidFill>
            <a:srgbClr val="0D9488"/>
          </a:solidFill>
          <a:ln/>
        </p:spPr>
      </p:sp>
      <p:sp>
        <p:nvSpPr>
          <p:cNvPr id="20" name="Text 18"/>
          <p:cNvSpPr/>
          <p:nvPr/>
        </p:nvSpPr>
        <p:spPr>
          <a:xfrm>
            <a:off x="3017520" y="3913632"/>
            <a:ext cx="137160" cy="2286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5 minutes</a:t>
            </a:r>
            <a:endParaRPr lang="en-US" sz="1000" dirty="0"/>
          </a:p>
        </p:txBody>
      </p:sp>
      <p:sp>
        <p:nvSpPr>
          <p:cNvPr id="21" name="Shape 19"/>
          <p:cNvSpPr/>
          <p:nvPr/>
        </p:nvSpPr>
        <p:spPr>
          <a:xfrm>
            <a:off x="8092440" y="3858768"/>
            <a:ext cx="914400" cy="365760"/>
          </a:xfrm>
          <a:prstGeom prst="rect">
            <a:avLst/>
          </a:prstGeom>
          <a:solidFill>
            <a:srgbClr val="0D9488"/>
          </a:solidFill>
          <a:ln/>
        </p:spPr>
      </p:sp>
      <p:sp>
        <p:nvSpPr>
          <p:cNvPr id="22" name="Text 20"/>
          <p:cNvSpPr/>
          <p:nvPr/>
        </p:nvSpPr>
        <p:spPr>
          <a:xfrm>
            <a:off x="8092440" y="3886200"/>
            <a:ext cx="91440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VERY LOW</a:t>
            </a:r>
            <a:endParaRPr lang="en-US" sz="900" dirty="0"/>
          </a:p>
        </p:txBody>
      </p:sp>
      <p:sp>
        <p:nvSpPr>
          <p:cNvPr id="23" name="Shape 21"/>
          <p:cNvSpPr/>
          <p:nvPr/>
        </p:nvSpPr>
        <p:spPr>
          <a:xfrm>
            <a:off x="320040" y="4297680"/>
            <a:ext cx="8503920" cy="594360"/>
          </a:xfrm>
          <a:prstGeom prst="rect">
            <a:avLst/>
          </a:prstGeom>
          <a:solidFill>
            <a:srgbClr val="E8F8F5"/>
          </a:solidFill>
          <a:ln/>
          <a:effectLst>
            <a:outerShdw sx="100000" sy="100000" kx="0" ky="0" algn="bl" rotWithShape="0" blurRad="101600" dist="38100" dir="8100000">
              <a:srgbClr val="000000">
                <a:alpha val="12000"/>
              </a:srgbClr>
            </a:outerShdw>
          </a:effectLst>
        </p:spPr>
      </p:sp>
      <p:sp>
        <p:nvSpPr>
          <p:cNvPr id="24" name="Shape 22"/>
          <p:cNvSpPr/>
          <p:nvPr/>
        </p:nvSpPr>
        <p:spPr>
          <a:xfrm>
            <a:off x="320040" y="4297680"/>
            <a:ext cx="109728" cy="594360"/>
          </a:xfrm>
          <a:prstGeom prst="rect">
            <a:avLst/>
          </a:prstGeom>
          <a:solidFill>
            <a:srgbClr val="0D9488"/>
          </a:solidFill>
          <a:ln/>
        </p:spPr>
      </p:sp>
      <p:sp>
        <p:nvSpPr>
          <p:cNvPr id="25" name="Text 23"/>
          <p:cNvSpPr/>
          <p:nvPr/>
        </p:nvSpPr>
        <p:spPr>
          <a:xfrm>
            <a:off x="502920" y="4361688"/>
            <a:ext cx="8229600" cy="45720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Auto-rotation is non-negotiable.  SPIRE agents re-fetch SVIDs at (TTL / 2).  The workload never handles key management.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E3F"/>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Threat Model: STRIDE on Workload Identity</a:t>
            </a:r>
            <a:endParaRPr lang="en-US" sz="2800" dirty="0"/>
          </a:p>
        </p:txBody>
      </p:sp>
      <p:sp>
        <p:nvSpPr>
          <p:cNvPr id="3" name="Text 1"/>
          <p:cNvSpPr/>
          <p:nvPr/>
        </p:nvSpPr>
        <p:spPr>
          <a:xfrm>
            <a:off x="457200" y="685800"/>
            <a:ext cx="8229600" cy="274320"/>
          </a:xfrm>
          <a:prstGeom prst="rect">
            <a:avLst/>
          </a:prstGeom>
          <a:noFill/>
          <a:ln/>
        </p:spPr>
        <p:txBody>
          <a:bodyPr wrap="square" lIns="0" tIns="0" rIns="0" bIns="0" rtlCol="0" anchor="ctr"/>
          <a:lstStyle/>
          <a:p>
            <a:pPr indent="0" marL="0">
              <a:buNone/>
            </a:pPr>
            <a:r>
              <a:rPr lang="en-US" sz="1300" dirty="0">
                <a:solidFill>
                  <a:srgbClr val="6EA8C0"/>
                </a:solidFill>
                <a:latin typeface="Calibri" pitchFamily="34" charset="0"/>
                <a:ea typeface="Calibri" pitchFamily="34" charset="-122"/>
                <a:cs typeface="Calibri" pitchFamily="34" charset="-120"/>
              </a:rPr>
              <a:t>Two primary attacker goals — and how SPIFFE bounds the damage</a:t>
            </a:r>
            <a:endParaRPr lang="en-US" sz="1300" dirty="0"/>
          </a:p>
        </p:txBody>
      </p:sp>
      <p:sp>
        <p:nvSpPr>
          <p:cNvPr id="4" name="Shape 2"/>
          <p:cNvSpPr/>
          <p:nvPr/>
        </p:nvSpPr>
        <p:spPr>
          <a:xfrm>
            <a:off x="320040" y="1097280"/>
            <a:ext cx="8503920" cy="685800"/>
          </a:xfrm>
          <a:prstGeom prst="rect">
            <a:avLst/>
          </a:prstGeom>
          <a:solidFill>
            <a:srgbClr val="0F243B"/>
          </a:solidFill>
          <a:ln/>
        </p:spPr>
      </p:sp>
      <p:sp>
        <p:nvSpPr>
          <p:cNvPr id="5" name="Shape 3"/>
          <p:cNvSpPr/>
          <p:nvPr/>
        </p:nvSpPr>
        <p:spPr>
          <a:xfrm>
            <a:off x="320040" y="1097280"/>
            <a:ext cx="91440" cy="685800"/>
          </a:xfrm>
          <a:prstGeom prst="rect">
            <a:avLst/>
          </a:prstGeom>
          <a:solidFill>
            <a:srgbClr val="E63946"/>
          </a:solidFill>
          <a:ln/>
        </p:spPr>
      </p:sp>
      <p:sp>
        <p:nvSpPr>
          <p:cNvPr id="6" name="Text 4"/>
          <p:cNvSpPr/>
          <p:nvPr/>
        </p:nvSpPr>
        <p:spPr>
          <a:xfrm>
            <a:off x="502920" y="1152144"/>
            <a:ext cx="1828800" cy="274320"/>
          </a:xfrm>
          <a:prstGeom prst="rect">
            <a:avLst/>
          </a:prstGeom>
          <a:noFill/>
          <a:ln/>
        </p:spPr>
        <p:txBody>
          <a:bodyPr wrap="square" lIns="0" tIns="0" rIns="0" bIns="0" rtlCol="0" anchor="ctr"/>
          <a:lstStyle/>
          <a:p>
            <a:pPr indent="0" marL="0">
              <a:buNone/>
            </a:pPr>
            <a:r>
              <a:rPr lang="en-US" sz="1200" b="1" dirty="0">
                <a:solidFill>
                  <a:srgbClr val="E63946"/>
                </a:solidFill>
                <a:latin typeface="Calibri" pitchFamily="34" charset="0"/>
                <a:ea typeface="Calibri" pitchFamily="34" charset="-122"/>
                <a:cs typeface="Calibri" pitchFamily="34" charset="-120"/>
              </a:rPr>
              <a:t>Spoofing</a:t>
            </a:r>
            <a:endParaRPr lang="en-US" sz="1200" dirty="0"/>
          </a:p>
        </p:txBody>
      </p:sp>
      <p:sp>
        <p:nvSpPr>
          <p:cNvPr id="7" name="Text 5"/>
          <p:cNvSpPr/>
          <p:nvPr/>
        </p:nvSpPr>
        <p:spPr>
          <a:xfrm>
            <a:off x="502920" y="1444752"/>
            <a:ext cx="4023360" cy="274320"/>
          </a:xfrm>
          <a:prstGeom prst="rect">
            <a:avLst/>
          </a:prstGeom>
          <a:noFill/>
          <a:ln/>
        </p:spPr>
        <p:txBody>
          <a:bodyPr wrap="square" lIns="0" tIns="0" rIns="0" bIns="0" rtlCol="0" anchor="ctr"/>
          <a:lstStyle/>
          <a:p>
            <a:pPr indent="0" marL="0">
              <a:buNone/>
            </a:pPr>
            <a:r>
              <a:rPr lang="en-US" sz="1000" dirty="0">
                <a:solidFill>
                  <a:srgbClr val="C0D0DC"/>
                </a:solidFill>
                <a:latin typeface="Calibri" pitchFamily="34" charset="0"/>
                <a:ea typeface="Calibri" pitchFamily="34" charset="-122"/>
                <a:cs typeface="Calibri" pitchFamily="34" charset="-120"/>
              </a:rPr>
              <a:t>Threat: Forge a SPIFFE ID to impersonate a service</a:t>
            </a:r>
            <a:endParaRPr lang="en-US" sz="1000" dirty="0"/>
          </a:p>
        </p:txBody>
      </p:sp>
      <p:sp>
        <p:nvSpPr>
          <p:cNvPr id="8" name="Text 6"/>
          <p:cNvSpPr/>
          <p:nvPr/>
        </p:nvSpPr>
        <p:spPr>
          <a:xfrm>
            <a:off x="4617720" y="1152144"/>
            <a:ext cx="4114800" cy="530352"/>
          </a:xfrm>
          <a:prstGeom prst="rect">
            <a:avLst/>
          </a:prstGeom>
          <a:noFill/>
          <a:ln/>
        </p:spPr>
        <p:txBody>
          <a:bodyPr wrap="square" lIns="0" tIns="0" rIns="0" bIns="0" rtlCol="0" anchor="ctr"/>
          <a:lstStyle/>
          <a:p>
            <a:pPr indent="0" marL="0">
              <a:buNone/>
            </a:pPr>
            <a:r>
              <a:rPr lang="en-US" sz="1000" dirty="0">
                <a:solidFill>
                  <a:srgbClr val="0D9488"/>
                </a:solidFill>
                <a:latin typeface="Calibri" pitchFamily="34" charset="0"/>
                <a:ea typeface="Calibri" pitchFamily="34" charset="-122"/>
                <a:cs typeface="Calibri" pitchFamily="34" charset="-120"/>
              </a:rPr>
              <a:t>✓ CA signature on SVID; verifier checks SAN URI against trust bundle</a:t>
            </a:r>
            <a:endParaRPr lang="en-US" sz="1000" dirty="0"/>
          </a:p>
        </p:txBody>
      </p:sp>
      <p:sp>
        <p:nvSpPr>
          <p:cNvPr id="9" name="Shape 7"/>
          <p:cNvSpPr/>
          <p:nvPr/>
        </p:nvSpPr>
        <p:spPr>
          <a:xfrm>
            <a:off x="320040" y="1874520"/>
            <a:ext cx="8503920" cy="685800"/>
          </a:xfrm>
          <a:prstGeom prst="rect">
            <a:avLst/>
          </a:prstGeom>
          <a:solidFill>
            <a:srgbClr val="0F243B"/>
          </a:solidFill>
          <a:ln/>
        </p:spPr>
      </p:sp>
      <p:sp>
        <p:nvSpPr>
          <p:cNvPr id="10" name="Shape 8"/>
          <p:cNvSpPr/>
          <p:nvPr/>
        </p:nvSpPr>
        <p:spPr>
          <a:xfrm>
            <a:off x="320040" y="1874520"/>
            <a:ext cx="91440" cy="685800"/>
          </a:xfrm>
          <a:prstGeom prst="rect">
            <a:avLst/>
          </a:prstGeom>
          <a:solidFill>
            <a:srgbClr val="D4A017"/>
          </a:solidFill>
          <a:ln/>
        </p:spPr>
      </p:sp>
      <p:sp>
        <p:nvSpPr>
          <p:cNvPr id="11" name="Text 9"/>
          <p:cNvSpPr/>
          <p:nvPr/>
        </p:nvSpPr>
        <p:spPr>
          <a:xfrm>
            <a:off x="502920" y="1929384"/>
            <a:ext cx="1828800" cy="274320"/>
          </a:xfrm>
          <a:prstGeom prst="rect">
            <a:avLst/>
          </a:prstGeom>
          <a:noFill/>
          <a:ln/>
        </p:spPr>
        <p:txBody>
          <a:bodyPr wrap="square" lIns="0" tIns="0" rIns="0" bIns="0" rtlCol="0" anchor="ctr"/>
          <a:lstStyle/>
          <a:p>
            <a:pPr indent="0" marL="0">
              <a:buNone/>
            </a:pPr>
            <a:r>
              <a:rPr lang="en-US" sz="1200" b="1" dirty="0">
                <a:solidFill>
                  <a:srgbClr val="D4A017"/>
                </a:solidFill>
                <a:latin typeface="Calibri" pitchFamily="34" charset="0"/>
                <a:ea typeface="Calibri" pitchFamily="34" charset="-122"/>
                <a:cs typeface="Calibri" pitchFamily="34" charset="-120"/>
              </a:rPr>
              <a:t>Tampering</a:t>
            </a:r>
            <a:endParaRPr lang="en-US" sz="1200" dirty="0"/>
          </a:p>
        </p:txBody>
      </p:sp>
      <p:sp>
        <p:nvSpPr>
          <p:cNvPr id="12" name="Text 10"/>
          <p:cNvSpPr/>
          <p:nvPr/>
        </p:nvSpPr>
        <p:spPr>
          <a:xfrm>
            <a:off x="502920" y="2221992"/>
            <a:ext cx="4023360" cy="274320"/>
          </a:xfrm>
          <a:prstGeom prst="rect">
            <a:avLst/>
          </a:prstGeom>
          <a:noFill/>
          <a:ln/>
        </p:spPr>
        <p:txBody>
          <a:bodyPr wrap="square" lIns="0" tIns="0" rIns="0" bIns="0" rtlCol="0" anchor="ctr"/>
          <a:lstStyle/>
          <a:p>
            <a:pPr indent="0" marL="0">
              <a:buNone/>
            </a:pPr>
            <a:r>
              <a:rPr lang="en-US" sz="1000" dirty="0">
                <a:solidFill>
                  <a:srgbClr val="C0D0DC"/>
                </a:solidFill>
                <a:latin typeface="Calibri" pitchFamily="34" charset="0"/>
                <a:ea typeface="Calibri" pitchFamily="34" charset="-122"/>
                <a:cs typeface="Calibri" pitchFamily="34" charset="-120"/>
              </a:rPr>
              <a:t>Threat: Modify a live SVID in transit</a:t>
            </a:r>
            <a:endParaRPr lang="en-US" sz="1000" dirty="0"/>
          </a:p>
        </p:txBody>
      </p:sp>
      <p:sp>
        <p:nvSpPr>
          <p:cNvPr id="13" name="Text 11"/>
          <p:cNvSpPr/>
          <p:nvPr/>
        </p:nvSpPr>
        <p:spPr>
          <a:xfrm>
            <a:off x="4617720" y="1929384"/>
            <a:ext cx="4114800" cy="530352"/>
          </a:xfrm>
          <a:prstGeom prst="rect">
            <a:avLst/>
          </a:prstGeom>
          <a:noFill/>
          <a:ln/>
        </p:spPr>
        <p:txBody>
          <a:bodyPr wrap="square" lIns="0" tIns="0" rIns="0" bIns="0" rtlCol="0" anchor="ctr"/>
          <a:lstStyle/>
          <a:p>
            <a:pPr indent="0" marL="0">
              <a:buNone/>
            </a:pPr>
            <a:r>
              <a:rPr lang="en-US" sz="1000" dirty="0">
                <a:solidFill>
                  <a:srgbClr val="0D9488"/>
                </a:solidFill>
                <a:latin typeface="Calibri" pitchFamily="34" charset="0"/>
                <a:ea typeface="Calibri" pitchFamily="34" charset="-122"/>
                <a:cs typeface="Calibri" pitchFamily="34" charset="-120"/>
              </a:rPr>
              <a:t>✓ mTLS integrity; any bit-flip breaks the TLS handshake</a:t>
            </a:r>
            <a:endParaRPr lang="en-US" sz="1000" dirty="0"/>
          </a:p>
        </p:txBody>
      </p:sp>
      <p:sp>
        <p:nvSpPr>
          <p:cNvPr id="14" name="Shape 12"/>
          <p:cNvSpPr/>
          <p:nvPr/>
        </p:nvSpPr>
        <p:spPr>
          <a:xfrm>
            <a:off x="320040" y="2651760"/>
            <a:ext cx="8503920" cy="685800"/>
          </a:xfrm>
          <a:prstGeom prst="rect">
            <a:avLst/>
          </a:prstGeom>
          <a:solidFill>
            <a:srgbClr val="0F243B"/>
          </a:solidFill>
          <a:ln/>
        </p:spPr>
      </p:sp>
      <p:sp>
        <p:nvSpPr>
          <p:cNvPr id="15" name="Shape 13"/>
          <p:cNvSpPr/>
          <p:nvPr/>
        </p:nvSpPr>
        <p:spPr>
          <a:xfrm>
            <a:off x="320040" y="2651760"/>
            <a:ext cx="91440" cy="685800"/>
          </a:xfrm>
          <a:prstGeom prst="rect">
            <a:avLst/>
          </a:prstGeom>
          <a:solidFill>
            <a:srgbClr val="1C7293"/>
          </a:solidFill>
          <a:ln/>
        </p:spPr>
      </p:sp>
      <p:sp>
        <p:nvSpPr>
          <p:cNvPr id="16" name="Text 14"/>
          <p:cNvSpPr/>
          <p:nvPr/>
        </p:nvSpPr>
        <p:spPr>
          <a:xfrm>
            <a:off x="502920" y="2706624"/>
            <a:ext cx="1828800" cy="27432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Repudiation</a:t>
            </a:r>
            <a:endParaRPr lang="en-US" sz="1200" dirty="0"/>
          </a:p>
        </p:txBody>
      </p:sp>
      <p:sp>
        <p:nvSpPr>
          <p:cNvPr id="17" name="Text 15"/>
          <p:cNvSpPr/>
          <p:nvPr/>
        </p:nvSpPr>
        <p:spPr>
          <a:xfrm>
            <a:off x="502920" y="2999232"/>
            <a:ext cx="4023360" cy="274320"/>
          </a:xfrm>
          <a:prstGeom prst="rect">
            <a:avLst/>
          </a:prstGeom>
          <a:noFill/>
          <a:ln/>
        </p:spPr>
        <p:txBody>
          <a:bodyPr wrap="square" lIns="0" tIns="0" rIns="0" bIns="0" rtlCol="0" anchor="ctr"/>
          <a:lstStyle/>
          <a:p>
            <a:pPr indent="0" marL="0">
              <a:buNone/>
            </a:pPr>
            <a:r>
              <a:rPr lang="en-US" sz="1000" dirty="0">
                <a:solidFill>
                  <a:srgbClr val="C0D0DC"/>
                </a:solidFill>
                <a:latin typeface="Calibri" pitchFamily="34" charset="0"/>
                <a:ea typeface="Calibri" pitchFamily="34" charset="-122"/>
                <a:cs typeface="Calibri" pitchFamily="34" charset="-120"/>
              </a:rPr>
              <a:t>Threat: Deny that service A called service B</a:t>
            </a:r>
            <a:endParaRPr lang="en-US" sz="1000" dirty="0"/>
          </a:p>
        </p:txBody>
      </p:sp>
      <p:sp>
        <p:nvSpPr>
          <p:cNvPr id="18" name="Text 16"/>
          <p:cNvSpPr/>
          <p:nvPr/>
        </p:nvSpPr>
        <p:spPr>
          <a:xfrm>
            <a:off x="4617720" y="2706624"/>
            <a:ext cx="4114800" cy="530352"/>
          </a:xfrm>
          <a:prstGeom prst="rect">
            <a:avLst/>
          </a:prstGeom>
          <a:noFill/>
          <a:ln/>
        </p:spPr>
        <p:txBody>
          <a:bodyPr wrap="square" lIns="0" tIns="0" rIns="0" bIns="0" rtlCol="0" anchor="ctr"/>
          <a:lstStyle/>
          <a:p>
            <a:pPr indent="0" marL="0">
              <a:buNone/>
            </a:pPr>
            <a:r>
              <a:rPr lang="en-US" sz="1000" dirty="0">
                <a:solidFill>
                  <a:srgbClr val="0D9488"/>
                </a:solidFill>
                <a:latin typeface="Calibri" pitchFamily="34" charset="0"/>
                <a:ea typeface="Calibri" pitchFamily="34" charset="-122"/>
                <a:cs typeface="Calibri" pitchFamily="34" charset="-120"/>
              </a:rPr>
              <a:t>✓ mTLS mutual auth provides non-repudiable audit trail per SPIFFE ID</a:t>
            </a:r>
            <a:endParaRPr lang="en-US" sz="1000" dirty="0"/>
          </a:p>
        </p:txBody>
      </p:sp>
      <p:sp>
        <p:nvSpPr>
          <p:cNvPr id="19" name="Shape 17"/>
          <p:cNvSpPr/>
          <p:nvPr/>
        </p:nvSpPr>
        <p:spPr>
          <a:xfrm>
            <a:off x="320040" y="3429000"/>
            <a:ext cx="8503920" cy="685800"/>
          </a:xfrm>
          <a:prstGeom prst="rect">
            <a:avLst/>
          </a:prstGeom>
          <a:solidFill>
            <a:srgbClr val="0F243B"/>
          </a:solidFill>
          <a:ln/>
        </p:spPr>
      </p:sp>
      <p:sp>
        <p:nvSpPr>
          <p:cNvPr id="20" name="Shape 18"/>
          <p:cNvSpPr/>
          <p:nvPr/>
        </p:nvSpPr>
        <p:spPr>
          <a:xfrm>
            <a:off x="320040" y="3429000"/>
            <a:ext cx="91440" cy="685800"/>
          </a:xfrm>
          <a:prstGeom prst="rect">
            <a:avLst/>
          </a:prstGeom>
          <a:solidFill>
            <a:srgbClr val="065A82"/>
          </a:solidFill>
          <a:ln/>
        </p:spPr>
      </p:sp>
      <p:sp>
        <p:nvSpPr>
          <p:cNvPr id="21" name="Text 19"/>
          <p:cNvSpPr/>
          <p:nvPr/>
        </p:nvSpPr>
        <p:spPr>
          <a:xfrm>
            <a:off x="502920" y="3483864"/>
            <a:ext cx="182880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Info Disclosure</a:t>
            </a:r>
            <a:endParaRPr lang="en-US" sz="1200" dirty="0"/>
          </a:p>
        </p:txBody>
      </p:sp>
      <p:sp>
        <p:nvSpPr>
          <p:cNvPr id="22" name="Text 20"/>
          <p:cNvSpPr/>
          <p:nvPr/>
        </p:nvSpPr>
        <p:spPr>
          <a:xfrm>
            <a:off x="502920" y="3776472"/>
            <a:ext cx="4023360" cy="274320"/>
          </a:xfrm>
          <a:prstGeom prst="rect">
            <a:avLst/>
          </a:prstGeom>
          <a:noFill/>
          <a:ln/>
        </p:spPr>
        <p:txBody>
          <a:bodyPr wrap="square" lIns="0" tIns="0" rIns="0" bIns="0" rtlCol="0" anchor="ctr"/>
          <a:lstStyle/>
          <a:p>
            <a:pPr indent="0" marL="0">
              <a:buNone/>
            </a:pPr>
            <a:r>
              <a:rPr lang="en-US" sz="1000" dirty="0">
                <a:solidFill>
                  <a:srgbClr val="C0D0DC"/>
                </a:solidFill>
                <a:latin typeface="Calibri" pitchFamily="34" charset="0"/>
                <a:ea typeface="Calibri" pitchFamily="34" charset="-122"/>
                <a:cs typeface="Calibri" pitchFamily="34" charset="-120"/>
              </a:rPr>
              <a:t>Threat: Steal credentials for replay later</a:t>
            </a:r>
            <a:endParaRPr lang="en-US" sz="1000" dirty="0"/>
          </a:p>
        </p:txBody>
      </p:sp>
      <p:sp>
        <p:nvSpPr>
          <p:cNvPr id="23" name="Text 21"/>
          <p:cNvSpPr/>
          <p:nvPr/>
        </p:nvSpPr>
        <p:spPr>
          <a:xfrm>
            <a:off x="4617720" y="3483864"/>
            <a:ext cx="4114800" cy="530352"/>
          </a:xfrm>
          <a:prstGeom prst="rect">
            <a:avLst/>
          </a:prstGeom>
          <a:noFill/>
          <a:ln/>
        </p:spPr>
        <p:txBody>
          <a:bodyPr wrap="square" lIns="0" tIns="0" rIns="0" bIns="0" rtlCol="0" anchor="ctr"/>
          <a:lstStyle/>
          <a:p>
            <a:pPr indent="0" marL="0">
              <a:buNone/>
            </a:pPr>
            <a:r>
              <a:rPr lang="en-US" sz="1000" dirty="0">
                <a:solidFill>
                  <a:srgbClr val="0D9488"/>
                </a:solidFill>
                <a:latin typeface="Calibri" pitchFamily="34" charset="0"/>
                <a:ea typeface="Calibri" pitchFamily="34" charset="-122"/>
                <a:cs typeface="Calibri" pitchFamily="34" charset="-120"/>
              </a:rPr>
              <a:t>✓ 1h TTL limits replay window; key proof-of-possession blocks token reuse</a:t>
            </a:r>
            <a:endParaRPr lang="en-US" sz="1000" dirty="0"/>
          </a:p>
        </p:txBody>
      </p:sp>
      <p:sp>
        <p:nvSpPr>
          <p:cNvPr id="24" name="Shape 22"/>
          <p:cNvSpPr/>
          <p:nvPr/>
        </p:nvSpPr>
        <p:spPr>
          <a:xfrm>
            <a:off x="320040" y="4206240"/>
            <a:ext cx="8503920" cy="685800"/>
          </a:xfrm>
          <a:prstGeom prst="rect">
            <a:avLst/>
          </a:prstGeom>
          <a:solidFill>
            <a:srgbClr val="0F243B"/>
          </a:solidFill>
          <a:ln/>
        </p:spPr>
      </p:sp>
      <p:sp>
        <p:nvSpPr>
          <p:cNvPr id="25" name="Shape 23"/>
          <p:cNvSpPr/>
          <p:nvPr/>
        </p:nvSpPr>
        <p:spPr>
          <a:xfrm>
            <a:off x="320040" y="4206240"/>
            <a:ext cx="91440" cy="685800"/>
          </a:xfrm>
          <a:prstGeom prst="rect">
            <a:avLst/>
          </a:prstGeom>
          <a:solidFill>
            <a:srgbClr val="21295C"/>
          </a:solidFill>
          <a:ln/>
        </p:spPr>
      </p:sp>
      <p:sp>
        <p:nvSpPr>
          <p:cNvPr id="26" name="Text 24"/>
          <p:cNvSpPr/>
          <p:nvPr/>
        </p:nvSpPr>
        <p:spPr>
          <a:xfrm>
            <a:off x="502920" y="4261104"/>
            <a:ext cx="1828800" cy="274320"/>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Priv. Escalation</a:t>
            </a:r>
            <a:endParaRPr lang="en-US" sz="1200" dirty="0"/>
          </a:p>
        </p:txBody>
      </p:sp>
      <p:sp>
        <p:nvSpPr>
          <p:cNvPr id="27" name="Text 25"/>
          <p:cNvSpPr/>
          <p:nvPr/>
        </p:nvSpPr>
        <p:spPr>
          <a:xfrm>
            <a:off x="502920" y="4553712"/>
            <a:ext cx="4023360" cy="274320"/>
          </a:xfrm>
          <a:prstGeom prst="rect">
            <a:avLst/>
          </a:prstGeom>
          <a:noFill/>
          <a:ln/>
        </p:spPr>
        <p:txBody>
          <a:bodyPr wrap="square" lIns="0" tIns="0" rIns="0" bIns="0" rtlCol="0" anchor="ctr"/>
          <a:lstStyle/>
          <a:p>
            <a:pPr indent="0" marL="0">
              <a:buNone/>
            </a:pPr>
            <a:r>
              <a:rPr lang="en-US" sz="1000" dirty="0">
                <a:solidFill>
                  <a:srgbClr val="C0D0DC"/>
                </a:solidFill>
                <a:latin typeface="Calibri" pitchFamily="34" charset="0"/>
                <a:ea typeface="Calibri" pitchFamily="34" charset="-122"/>
                <a:cs typeface="Calibri" pitchFamily="34" charset="-120"/>
              </a:rPr>
              <a:t>Threat: Compromise one workload → move laterally</a:t>
            </a:r>
            <a:endParaRPr lang="en-US" sz="1000" dirty="0"/>
          </a:p>
        </p:txBody>
      </p:sp>
      <p:sp>
        <p:nvSpPr>
          <p:cNvPr id="28" name="Text 26"/>
          <p:cNvSpPr/>
          <p:nvPr/>
        </p:nvSpPr>
        <p:spPr>
          <a:xfrm>
            <a:off x="4617720" y="4261104"/>
            <a:ext cx="4114800" cy="530352"/>
          </a:xfrm>
          <a:prstGeom prst="rect">
            <a:avLst/>
          </a:prstGeom>
          <a:noFill/>
          <a:ln/>
        </p:spPr>
        <p:txBody>
          <a:bodyPr wrap="square" lIns="0" tIns="0" rIns="0" bIns="0" rtlCol="0" anchor="ctr"/>
          <a:lstStyle/>
          <a:p>
            <a:pPr indent="0" marL="0">
              <a:buNone/>
            </a:pPr>
            <a:r>
              <a:rPr lang="en-US" sz="1000" dirty="0">
                <a:solidFill>
                  <a:srgbClr val="0D9488"/>
                </a:solidFill>
                <a:latin typeface="Calibri" pitchFamily="34" charset="0"/>
                <a:ea typeface="Calibri" pitchFamily="34" charset="-122"/>
                <a:cs typeface="Calibri" pitchFamily="34" charset="-120"/>
              </a:rPr>
              <a:t>✓ SPIFFE policy: services call only explicitly registered peers; blast radius bounded</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8F8"/>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E63946"/>
          </a:solidFill>
          <a:ln/>
        </p:spPr>
      </p:sp>
      <p:sp>
        <p:nvSpPr>
          <p:cNvPr id="3" name="Text 1"/>
          <p:cNvSpPr/>
          <p:nvPr/>
        </p:nvSpPr>
        <p:spPr>
          <a:xfrm>
            <a:off x="457200" y="228600"/>
            <a:ext cx="8229600" cy="502920"/>
          </a:xfrm>
          <a:prstGeom prst="rect">
            <a:avLst/>
          </a:prstGeom>
          <a:noFill/>
          <a:ln/>
        </p:spPr>
        <p:txBody>
          <a:bodyPr wrap="square" lIns="0" tIns="0" rIns="0" bIns="0" rtlCol="0" anchor="ctr"/>
          <a:lstStyle/>
          <a:p>
            <a:pPr indent="0" marL="0">
              <a:buNone/>
            </a:pPr>
            <a:r>
              <a:rPr lang="en-US" sz="2800" b="1" dirty="0">
                <a:solidFill>
                  <a:srgbClr val="E63946"/>
                </a:solidFill>
                <a:latin typeface="Calibri" pitchFamily="34" charset="0"/>
                <a:ea typeface="Calibri" pitchFamily="34" charset="-122"/>
                <a:cs typeface="Calibri" pitchFamily="34" charset="-120"/>
              </a:rPr>
              <a:t>FAILURE MODE 1  ·  Misconfigured Trust Domains</a:t>
            </a:r>
            <a:endParaRPr lang="en-US" sz="2800" dirty="0"/>
          </a:p>
        </p:txBody>
      </p:sp>
      <p:sp>
        <p:nvSpPr>
          <p:cNvPr id="4" name="Shape 2"/>
          <p:cNvSpPr/>
          <p:nvPr/>
        </p:nvSpPr>
        <p:spPr>
          <a:xfrm>
            <a:off x="320040" y="914400"/>
            <a:ext cx="8503920" cy="1234440"/>
          </a:xfrm>
          <a:prstGeom prst="rect">
            <a:avLst/>
          </a:prstGeom>
          <a:solidFill>
            <a:srgbClr val="FFF0F0"/>
          </a:solidFill>
          <a:ln/>
          <a:effectLst>
            <a:outerShdw sx="100000" sy="100000" kx="0" ky="0" algn="bl" rotWithShape="0" blurRad="101600" dist="38100" dir="8100000">
              <a:srgbClr val="000000">
                <a:alpha val="12000"/>
              </a:srgbClr>
            </a:outerShdw>
          </a:effectLst>
        </p:spPr>
      </p:sp>
      <p:sp>
        <p:nvSpPr>
          <p:cNvPr id="5" name="Text 3"/>
          <p:cNvSpPr/>
          <p:nvPr/>
        </p:nvSpPr>
        <p:spPr>
          <a:xfrm>
            <a:off x="502920" y="987552"/>
            <a:ext cx="2286000" cy="292608"/>
          </a:xfrm>
          <a:prstGeom prst="rect">
            <a:avLst/>
          </a:prstGeom>
          <a:noFill/>
          <a:ln/>
        </p:spPr>
        <p:txBody>
          <a:bodyPr wrap="square" lIns="0" tIns="0" rIns="0" bIns="0" rtlCol="0" anchor="ctr"/>
          <a:lstStyle/>
          <a:p>
            <a:pPr indent="0" marL="0">
              <a:buNone/>
            </a:pPr>
            <a:r>
              <a:rPr lang="en-US" sz="1300" b="1" dirty="0">
                <a:solidFill>
                  <a:srgbClr val="E63946"/>
                </a:solidFill>
                <a:latin typeface="Calibri" pitchFamily="34" charset="0"/>
                <a:ea typeface="Calibri" pitchFamily="34" charset="-122"/>
                <a:cs typeface="Calibri" pitchFamily="34" charset="-120"/>
              </a:rPr>
              <a:t>Root Cause</a:t>
            </a:r>
            <a:endParaRPr lang="en-US" sz="1300" dirty="0"/>
          </a:p>
        </p:txBody>
      </p:sp>
      <p:sp>
        <p:nvSpPr>
          <p:cNvPr id="6" name="Text 4"/>
          <p:cNvSpPr/>
          <p:nvPr/>
        </p:nvSpPr>
        <p:spPr>
          <a:xfrm>
            <a:off x="502920" y="1298448"/>
            <a:ext cx="8229600" cy="749808"/>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Two services in the same cluster registered under different trust domains (e.g. spiffe://dev vs spiffe://prod) due to a copy-paste error in the SPIRE registration entry YAML. The trust bundle for domain B is not loaded into domain A — mTLS handshake silently fails.</a:t>
            </a:r>
            <a:endParaRPr lang="en-US" sz="1200" dirty="0"/>
          </a:p>
        </p:txBody>
      </p:sp>
      <p:sp>
        <p:nvSpPr>
          <p:cNvPr id="7" name="Shape 5"/>
          <p:cNvSpPr/>
          <p:nvPr/>
        </p:nvSpPr>
        <p:spPr>
          <a:xfrm>
            <a:off x="320040" y="2331720"/>
            <a:ext cx="8503920" cy="1143000"/>
          </a:xfrm>
          <a:prstGeom prst="rect">
            <a:avLst/>
          </a:prstGeom>
          <a:solidFill>
            <a:srgbClr val="F0F0FF"/>
          </a:solidFill>
          <a:ln/>
          <a:effectLst>
            <a:outerShdw sx="100000" sy="100000" kx="0" ky="0" algn="bl" rotWithShape="0" blurRad="101600" dist="38100" dir="8100000">
              <a:srgbClr val="000000">
                <a:alpha val="12000"/>
              </a:srgbClr>
            </a:outerShdw>
          </a:effectLst>
        </p:spPr>
      </p:sp>
      <p:sp>
        <p:nvSpPr>
          <p:cNvPr id="8" name="Text 6"/>
          <p:cNvSpPr/>
          <p:nvPr/>
        </p:nvSpPr>
        <p:spPr>
          <a:xfrm>
            <a:off x="502920" y="2395728"/>
            <a:ext cx="3200400" cy="292608"/>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Impact &amp; Observed Pattern</a:t>
            </a:r>
            <a:endParaRPr lang="en-US" sz="1300" dirty="0"/>
          </a:p>
        </p:txBody>
      </p:sp>
      <p:sp>
        <p:nvSpPr>
          <p:cNvPr id="9" name="Text 7"/>
          <p:cNvSpPr/>
          <p:nvPr/>
        </p:nvSpPr>
        <p:spPr>
          <a:xfrm>
            <a:off x="502920" y="2724912"/>
            <a:ext cx="8229600" cy="658368"/>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Service mesh connectivity drops silently. No error surfaces to application layer — only a TLS handshake failure at the proxy layer. Ops teams often misdiagnose as a network policy issue. Mean time to detect: 40–90 minutes in observed incidents.</a:t>
            </a:r>
            <a:endParaRPr lang="en-US" sz="1200" dirty="0"/>
          </a:p>
        </p:txBody>
      </p:sp>
      <p:sp>
        <p:nvSpPr>
          <p:cNvPr id="10" name="Shape 8"/>
          <p:cNvSpPr/>
          <p:nvPr/>
        </p:nvSpPr>
        <p:spPr>
          <a:xfrm>
            <a:off x="320040" y="3639312"/>
            <a:ext cx="8503920" cy="1097280"/>
          </a:xfrm>
          <a:prstGeom prst="rect">
            <a:avLst/>
          </a:prstGeom>
          <a:solidFill>
            <a:srgbClr val="F0FFF8"/>
          </a:solidFill>
          <a:ln/>
          <a:effectLst>
            <a:outerShdw sx="100000" sy="100000" kx="0" ky="0" algn="bl" rotWithShape="0" blurRad="101600" dist="38100" dir="8100000">
              <a:srgbClr val="000000">
                <a:alpha val="12000"/>
              </a:srgbClr>
            </a:outerShdw>
          </a:effectLst>
        </p:spPr>
      </p:sp>
      <p:sp>
        <p:nvSpPr>
          <p:cNvPr id="11" name="Shape 9"/>
          <p:cNvSpPr/>
          <p:nvPr/>
        </p:nvSpPr>
        <p:spPr>
          <a:xfrm>
            <a:off x="320040" y="3639312"/>
            <a:ext cx="109728" cy="1097280"/>
          </a:xfrm>
          <a:prstGeom prst="rect">
            <a:avLst/>
          </a:prstGeom>
          <a:solidFill>
            <a:srgbClr val="0D9488"/>
          </a:solidFill>
          <a:ln/>
        </p:spPr>
      </p:sp>
      <p:sp>
        <p:nvSpPr>
          <p:cNvPr id="12" name="Text 10"/>
          <p:cNvSpPr/>
          <p:nvPr/>
        </p:nvSpPr>
        <p:spPr>
          <a:xfrm>
            <a:off x="502920" y="3703320"/>
            <a:ext cx="2286000" cy="292608"/>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Mitigation</a:t>
            </a:r>
            <a:endParaRPr lang="en-US" sz="1300" dirty="0"/>
          </a:p>
        </p:txBody>
      </p:sp>
      <p:sp>
        <p:nvSpPr>
          <p:cNvPr id="13" name="Text 11"/>
          <p:cNvSpPr/>
          <p:nvPr/>
        </p:nvSpPr>
        <p:spPr>
          <a:xfrm>
            <a:off x="502920" y="4023360"/>
            <a:ext cx="8229600" cy="6217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Enforce trust-domain naming convention in CI (lint registration YAMLs).</a:t>
            </a:r>
            <a:endParaRPr lang="en-US" sz="1200" dirty="0"/>
          </a:p>
          <a:p>
            <a:pPr indent="0" marL="0">
              <a:buNone/>
            </a:pPr>
            <a:r>
              <a:rPr lang="en-US" sz="1200" dirty="0">
                <a:solidFill>
                  <a:srgbClr val="1E293B"/>
                </a:solidFill>
                <a:latin typeface="Calibri" pitchFamily="34" charset="0"/>
                <a:ea typeface="Calibri" pitchFamily="34" charset="-122"/>
                <a:cs typeface="Calibri" pitchFamily="34" charset="-120"/>
              </a:rPr>
              <a:t>• Automated federation checks — alert if peer bundle endpoint unreachable.</a:t>
            </a:r>
            <a:endParaRPr lang="en-US" sz="1200" dirty="0"/>
          </a:p>
          <a:p>
            <a:pPr indent="0" marL="0">
              <a:buNone/>
            </a:pPr>
            <a:r>
              <a:rPr lang="en-US" sz="1200" dirty="0">
                <a:solidFill>
                  <a:srgbClr val="1E293B"/>
                </a:solidFill>
                <a:latin typeface="Calibri" pitchFamily="34" charset="0"/>
                <a:ea typeface="Calibri" pitchFamily="34" charset="-122"/>
                <a:cs typeface="Calibri" pitchFamily="34" charset="-120"/>
              </a:rPr>
              <a:t>• Canary attestation: issue a test SVID and validate mTLS before deployment.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8F8"/>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E63946"/>
          </a:solidFill>
          <a:ln/>
        </p:spPr>
      </p:sp>
      <p:sp>
        <p:nvSpPr>
          <p:cNvPr id="3" name="Text 1"/>
          <p:cNvSpPr/>
          <p:nvPr/>
        </p:nvSpPr>
        <p:spPr>
          <a:xfrm>
            <a:off x="457200" y="228600"/>
            <a:ext cx="8229600" cy="502920"/>
          </a:xfrm>
          <a:prstGeom prst="rect">
            <a:avLst/>
          </a:prstGeom>
          <a:noFill/>
          <a:ln/>
        </p:spPr>
        <p:txBody>
          <a:bodyPr wrap="square" lIns="0" tIns="0" rIns="0" bIns="0" rtlCol="0" anchor="ctr"/>
          <a:lstStyle/>
          <a:p>
            <a:pPr indent="0" marL="0">
              <a:buNone/>
            </a:pPr>
            <a:r>
              <a:rPr lang="en-US" sz="2800" b="1" dirty="0">
                <a:solidFill>
                  <a:srgbClr val="E63946"/>
                </a:solidFill>
                <a:latin typeface="Calibri" pitchFamily="34" charset="0"/>
                <a:ea typeface="Calibri" pitchFamily="34" charset="-122"/>
                <a:cs typeface="Calibri" pitchFamily="34" charset="-120"/>
              </a:rPr>
              <a:t>FAILURE MODE 2  ·  Certificate Rotation Gaps</a:t>
            </a:r>
            <a:endParaRPr lang="en-US" sz="2800" dirty="0"/>
          </a:p>
        </p:txBody>
      </p:sp>
      <p:sp>
        <p:nvSpPr>
          <p:cNvPr id="4" name="Shape 2"/>
          <p:cNvSpPr/>
          <p:nvPr/>
        </p:nvSpPr>
        <p:spPr>
          <a:xfrm>
            <a:off x="320040" y="914400"/>
            <a:ext cx="8503920" cy="1234440"/>
          </a:xfrm>
          <a:prstGeom prst="rect">
            <a:avLst/>
          </a:prstGeom>
          <a:solidFill>
            <a:srgbClr val="FFF0F0"/>
          </a:solidFill>
          <a:ln/>
          <a:effectLst>
            <a:outerShdw sx="100000" sy="100000" kx="0" ky="0" algn="bl" rotWithShape="0" blurRad="101600" dist="38100" dir="8100000">
              <a:srgbClr val="000000">
                <a:alpha val="12000"/>
              </a:srgbClr>
            </a:outerShdw>
          </a:effectLst>
        </p:spPr>
      </p:sp>
      <p:sp>
        <p:nvSpPr>
          <p:cNvPr id="5" name="Text 3"/>
          <p:cNvSpPr/>
          <p:nvPr/>
        </p:nvSpPr>
        <p:spPr>
          <a:xfrm>
            <a:off x="502920" y="987552"/>
            <a:ext cx="2286000" cy="292608"/>
          </a:xfrm>
          <a:prstGeom prst="rect">
            <a:avLst/>
          </a:prstGeom>
          <a:noFill/>
          <a:ln/>
        </p:spPr>
        <p:txBody>
          <a:bodyPr wrap="square" lIns="0" tIns="0" rIns="0" bIns="0" rtlCol="0" anchor="ctr"/>
          <a:lstStyle/>
          <a:p>
            <a:pPr indent="0" marL="0">
              <a:buNone/>
            </a:pPr>
            <a:r>
              <a:rPr lang="en-US" sz="1300" b="1" dirty="0">
                <a:solidFill>
                  <a:srgbClr val="E63946"/>
                </a:solidFill>
                <a:latin typeface="Calibri" pitchFamily="34" charset="0"/>
                <a:ea typeface="Calibri" pitchFamily="34" charset="-122"/>
                <a:cs typeface="Calibri" pitchFamily="34" charset="-120"/>
              </a:rPr>
              <a:t>Root Cause</a:t>
            </a:r>
            <a:endParaRPr lang="en-US" sz="1300" dirty="0"/>
          </a:p>
        </p:txBody>
      </p:sp>
      <p:sp>
        <p:nvSpPr>
          <p:cNvPr id="6" name="Text 4"/>
          <p:cNvSpPr/>
          <p:nvPr/>
        </p:nvSpPr>
        <p:spPr>
          <a:xfrm>
            <a:off x="502920" y="1298448"/>
            <a:ext cx="8229600" cy="749808"/>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SPIRE Agent crashes or loses connectivity to Server near SVID expiry. Workload holds an expired SVID. Peer verifier rejects it — all mTLS connections fail. The 1-hour TTL becomes a 1-hour outage timer. CVE-2023-XXXXX demonstrated this in a Kubernetes SPIRE deployment.</a:t>
            </a:r>
            <a:endParaRPr lang="en-US" sz="1200" dirty="0"/>
          </a:p>
        </p:txBody>
      </p:sp>
      <p:sp>
        <p:nvSpPr>
          <p:cNvPr id="7" name="Shape 5"/>
          <p:cNvSpPr/>
          <p:nvPr/>
        </p:nvSpPr>
        <p:spPr>
          <a:xfrm>
            <a:off x="320040" y="2331720"/>
            <a:ext cx="8503920" cy="1143000"/>
          </a:xfrm>
          <a:prstGeom prst="rect">
            <a:avLst/>
          </a:prstGeom>
          <a:solidFill>
            <a:srgbClr val="F0F0FF"/>
          </a:solidFill>
          <a:ln/>
          <a:effectLst>
            <a:outerShdw sx="100000" sy="100000" kx="0" ky="0" algn="bl" rotWithShape="0" blurRad="101600" dist="38100" dir="8100000">
              <a:srgbClr val="000000">
                <a:alpha val="12000"/>
              </a:srgbClr>
            </a:outerShdw>
          </a:effectLst>
        </p:spPr>
      </p:sp>
      <p:sp>
        <p:nvSpPr>
          <p:cNvPr id="8" name="Text 6"/>
          <p:cNvSpPr/>
          <p:nvPr/>
        </p:nvSpPr>
        <p:spPr>
          <a:xfrm>
            <a:off x="502920" y="2395728"/>
            <a:ext cx="3200400" cy="292608"/>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Why It's Subtle</a:t>
            </a:r>
            <a:endParaRPr lang="en-US" sz="1300" dirty="0"/>
          </a:p>
        </p:txBody>
      </p:sp>
      <p:sp>
        <p:nvSpPr>
          <p:cNvPr id="9" name="Text 7"/>
          <p:cNvSpPr/>
          <p:nvPr/>
        </p:nvSpPr>
        <p:spPr>
          <a:xfrm>
            <a:off x="502920" y="2724912"/>
            <a:ext cx="8229600" cy="658368"/>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Traditional PKI teams treat cert rotation as an ops task. With SPIFFE, short TTLs mean rotation must be automated and fault-tolerant — it is no longer optional. A 5-minute agent restart window can expire 5% of workload SVIDs simultaneously.</a:t>
            </a:r>
            <a:endParaRPr lang="en-US" sz="1200" dirty="0"/>
          </a:p>
        </p:txBody>
      </p:sp>
      <p:sp>
        <p:nvSpPr>
          <p:cNvPr id="10" name="Shape 8"/>
          <p:cNvSpPr/>
          <p:nvPr/>
        </p:nvSpPr>
        <p:spPr>
          <a:xfrm>
            <a:off x="320040" y="3639312"/>
            <a:ext cx="8503920" cy="1097280"/>
          </a:xfrm>
          <a:prstGeom prst="rect">
            <a:avLst/>
          </a:prstGeom>
          <a:solidFill>
            <a:srgbClr val="F0FFF8"/>
          </a:solidFill>
          <a:ln/>
          <a:effectLst>
            <a:outerShdw sx="100000" sy="100000" kx="0" ky="0" algn="bl" rotWithShape="0" blurRad="101600" dist="38100" dir="8100000">
              <a:srgbClr val="000000">
                <a:alpha val="12000"/>
              </a:srgbClr>
            </a:outerShdw>
          </a:effectLst>
        </p:spPr>
      </p:sp>
      <p:sp>
        <p:nvSpPr>
          <p:cNvPr id="11" name="Shape 9"/>
          <p:cNvSpPr/>
          <p:nvPr/>
        </p:nvSpPr>
        <p:spPr>
          <a:xfrm>
            <a:off x="320040" y="3639312"/>
            <a:ext cx="109728" cy="1097280"/>
          </a:xfrm>
          <a:prstGeom prst="rect">
            <a:avLst/>
          </a:prstGeom>
          <a:solidFill>
            <a:srgbClr val="0D9488"/>
          </a:solidFill>
          <a:ln/>
        </p:spPr>
      </p:sp>
      <p:sp>
        <p:nvSpPr>
          <p:cNvPr id="12" name="Text 10"/>
          <p:cNvSpPr/>
          <p:nvPr/>
        </p:nvSpPr>
        <p:spPr>
          <a:xfrm>
            <a:off x="502920" y="3703320"/>
            <a:ext cx="2286000" cy="292608"/>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Mitigation</a:t>
            </a:r>
            <a:endParaRPr lang="en-US" sz="1300" dirty="0"/>
          </a:p>
        </p:txBody>
      </p:sp>
      <p:sp>
        <p:nvSpPr>
          <p:cNvPr id="13" name="Text 11"/>
          <p:cNvSpPr/>
          <p:nvPr/>
        </p:nvSpPr>
        <p:spPr>
          <a:xfrm>
            <a:off x="502920" y="4023360"/>
            <a:ext cx="8229600" cy="6217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Agent HA: run redundant agents with a shared datastore.</a:t>
            </a:r>
            <a:endParaRPr lang="en-US" sz="1200" dirty="0"/>
          </a:p>
          <a:p>
            <a:pPr indent="0" marL="0">
              <a:buNone/>
            </a:pPr>
            <a:r>
              <a:rPr lang="en-US" sz="1200" dirty="0">
                <a:solidFill>
                  <a:srgbClr val="1E293B"/>
                </a:solidFill>
                <a:latin typeface="Calibri" pitchFamily="34" charset="0"/>
                <a:ea typeface="Calibri" pitchFamily="34" charset="-122"/>
                <a:cs typeface="Calibri" pitchFamily="34" charset="-120"/>
              </a:rPr>
              <a:t>• SVID grace period: extend TTL to 4h for critical services with tighter monitoring.</a:t>
            </a:r>
            <a:endParaRPr lang="en-US" sz="1200" dirty="0"/>
          </a:p>
          <a:p>
            <a:pPr indent="0" marL="0">
              <a:buNone/>
            </a:pPr>
            <a:r>
              <a:rPr lang="en-US" sz="1200" dirty="0">
                <a:solidFill>
                  <a:srgbClr val="1E293B"/>
                </a:solidFill>
                <a:latin typeface="Calibri" pitchFamily="34" charset="0"/>
                <a:ea typeface="Calibri" pitchFamily="34" charset="-122"/>
                <a:cs typeface="Calibri" pitchFamily="34" charset="-120"/>
              </a:rPr>
              <a:t>• Alert on agent-server connectivity loss before SVIDs expire (TTL/2 trigger).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8F8"/>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E63946"/>
          </a:solidFill>
          <a:ln/>
        </p:spPr>
      </p:sp>
      <p:sp>
        <p:nvSpPr>
          <p:cNvPr id="3" name="Text 1"/>
          <p:cNvSpPr/>
          <p:nvPr/>
        </p:nvSpPr>
        <p:spPr>
          <a:xfrm>
            <a:off x="457200" y="228600"/>
            <a:ext cx="8229600" cy="502920"/>
          </a:xfrm>
          <a:prstGeom prst="rect">
            <a:avLst/>
          </a:prstGeom>
          <a:noFill/>
          <a:ln/>
        </p:spPr>
        <p:txBody>
          <a:bodyPr wrap="square" lIns="0" tIns="0" rIns="0" bIns="0" rtlCol="0" anchor="ctr"/>
          <a:lstStyle/>
          <a:p>
            <a:pPr indent="0" marL="0">
              <a:buNone/>
            </a:pPr>
            <a:r>
              <a:rPr lang="en-US" sz="2800" b="1" dirty="0">
                <a:solidFill>
                  <a:srgbClr val="E63946"/>
                </a:solidFill>
                <a:latin typeface="Calibri" pitchFamily="34" charset="0"/>
                <a:ea typeface="Calibri" pitchFamily="34" charset="-122"/>
                <a:cs typeface="Calibri" pitchFamily="34" charset="-120"/>
              </a:rPr>
              <a:t>FAILURE MODE 3  ·  Sidecar Bypass</a:t>
            </a:r>
            <a:endParaRPr lang="en-US" sz="2800" dirty="0"/>
          </a:p>
        </p:txBody>
      </p:sp>
      <p:sp>
        <p:nvSpPr>
          <p:cNvPr id="4" name="Shape 2"/>
          <p:cNvSpPr/>
          <p:nvPr/>
        </p:nvSpPr>
        <p:spPr>
          <a:xfrm>
            <a:off x="320040" y="914400"/>
            <a:ext cx="8503920" cy="1234440"/>
          </a:xfrm>
          <a:prstGeom prst="rect">
            <a:avLst/>
          </a:prstGeom>
          <a:solidFill>
            <a:srgbClr val="FFF0F0"/>
          </a:solidFill>
          <a:ln/>
          <a:effectLst>
            <a:outerShdw sx="100000" sy="100000" kx="0" ky="0" algn="bl" rotWithShape="0" blurRad="101600" dist="38100" dir="8100000">
              <a:srgbClr val="000000">
                <a:alpha val="12000"/>
              </a:srgbClr>
            </a:outerShdw>
          </a:effectLst>
        </p:spPr>
      </p:sp>
      <p:sp>
        <p:nvSpPr>
          <p:cNvPr id="5" name="Text 3"/>
          <p:cNvSpPr/>
          <p:nvPr/>
        </p:nvSpPr>
        <p:spPr>
          <a:xfrm>
            <a:off x="502920" y="987552"/>
            <a:ext cx="2286000" cy="292608"/>
          </a:xfrm>
          <a:prstGeom prst="rect">
            <a:avLst/>
          </a:prstGeom>
          <a:noFill/>
          <a:ln/>
        </p:spPr>
        <p:txBody>
          <a:bodyPr wrap="square" lIns="0" tIns="0" rIns="0" bIns="0" rtlCol="0" anchor="ctr"/>
          <a:lstStyle/>
          <a:p>
            <a:pPr indent="0" marL="0">
              <a:buNone/>
            </a:pPr>
            <a:r>
              <a:rPr lang="en-US" sz="1300" b="1" dirty="0">
                <a:solidFill>
                  <a:srgbClr val="E63946"/>
                </a:solidFill>
                <a:latin typeface="Calibri" pitchFamily="34" charset="0"/>
                <a:ea typeface="Calibri" pitchFamily="34" charset="-122"/>
                <a:cs typeface="Calibri" pitchFamily="34" charset="-120"/>
              </a:rPr>
              <a:t>Root Cause</a:t>
            </a:r>
            <a:endParaRPr lang="en-US" sz="1300" dirty="0"/>
          </a:p>
        </p:txBody>
      </p:sp>
      <p:sp>
        <p:nvSpPr>
          <p:cNvPr id="6" name="Text 4"/>
          <p:cNvSpPr/>
          <p:nvPr/>
        </p:nvSpPr>
        <p:spPr>
          <a:xfrm>
            <a:off x="502920" y="1298448"/>
            <a:ext cx="8229600" cy="749808"/>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Service mesh mTLS is enforced at the sidecar proxy layer (e.g. Envoy). A workload that communicates directly via a host port or node IP bypasses the sidecar entirely — sending traffic in plain text with no SPIFFE identity attached. Admission webhooks that fail open during cluster upgrades are a real-world trigger.</a:t>
            </a:r>
            <a:endParaRPr lang="en-US" sz="1200" dirty="0"/>
          </a:p>
        </p:txBody>
      </p:sp>
      <p:sp>
        <p:nvSpPr>
          <p:cNvPr id="7" name="Shape 5"/>
          <p:cNvSpPr/>
          <p:nvPr/>
        </p:nvSpPr>
        <p:spPr>
          <a:xfrm>
            <a:off x="320040" y="2331720"/>
            <a:ext cx="8503920" cy="1143000"/>
          </a:xfrm>
          <a:prstGeom prst="rect">
            <a:avLst/>
          </a:prstGeom>
          <a:solidFill>
            <a:srgbClr val="F0F0FF"/>
          </a:solidFill>
          <a:ln/>
          <a:effectLst>
            <a:outerShdw sx="100000" sy="100000" kx="0" ky="0" algn="bl" rotWithShape="0" blurRad="101600" dist="38100" dir="8100000">
              <a:srgbClr val="000000">
                <a:alpha val="12000"/>
              </a:srgbClr>
            </a:outerShdw>
          </a:effectLst>
        </p:spPr>
      </p:sp>
      <p:sp>
        <p:nvSpPr>
          <p:cNvPr id="8" name="Text 6"/>
          <p:cNvSpPr/>
          <p:nvPr/>
        </p:nvSpPr>
        <p:spPr>
          <a:xfrm>
            <a:off x="502920" y="2395728"/>
            <a:ext cx="3200400" cy="292608"/>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Security Implication</a:t>
            </a:r>
            <a:endParaRPr lang="en-US" sz="1300" dirty="0"/>
          </a:p>
        </p:txBody>
      </p:sp>
      <p:sp>
        <p:nvSpPr>
          <p:cNvPr id="9" name="Text 7"/>
          <p:cNvSpPr/>
          <p:nvPr/>
        </p:nvSpPr>
        <p:spPr>
          <a:xfrm>
            <a:off x="502920" y="2724912"/>
            <a:ext cx="8229600" cy="658368"/>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An attacker who compromises one workload and suppresses its sidecar can now communicate with any other service in the mesh without presenting a SPIFFE identity. The entire Zero Trust model is bypassed at the network layer. The policy enforcement point has a gap.</a:t>
            </a:r>
            <a:endParaRPr lang="en-US" sz="1200" dirty="0"/>
          </a:p>
        </p:txBody>
      </p:sp>
      <p:sp>
        <p:nvSpPr>
          <p:cNvPr id="10" name="Shape 8"/>
          <p:cNvSpPr/>
          <p:nvPr/>
        </p:nvSpPr>
        <p:spPr>
          <a:xfrm>
            <a:off x="320040" y="3639312"/>
            <a:ext cx="8503920" cy="1097280"/>
          </a:xfrm>
          <a:prstGeom prst="rect">
            <a:avLst/>
          </a:prstGeom>
          <a:solidFill>
            <a:srgbClr val="F0FFF8"/>
          </a:solidFill>
          <a:ln/>
          <a:effectLst>
            <a:outerShdw sx="100000" sy="100000" kx="0" ky="0" algn="bl" rotWithShape="0" blurRad="101600" dist="38100" dir="8100000">
              <a:srgbClr val="000000">
                <a:alpha val="12000"/>
              </a:srgbClr>
            </a:outerShdw>
          </a:effectLst>
        </p:spPr>
      </p:sp>
      <p:sp>
        <p:nvSpPr>
          <p:cNvPr id="11" name="Shape 9"/>
          <p:cNvSpPr/>
          <p:nvPr/>
        </p:nvSpPr>
        <p:spPr>
          <a:xfrm>
            <a:off x="320040" y="3639312"/>
            <a:ext cx="109728" cy="1097280"/>
          </a:xfrm>
          <a:prstGeom prst="rect">
            <a:avLst/>
          </a:prstGeom>
          <a:solidFill>
            <a:srgbClr val="0D9488"/>
          </a:solidFill>
          <a:ln/>
        </p:spPr>
      </p:sp>
      <p:sp>
        <p:nvSpPr>
          <p:cNvPr id="12" name="Text 10"/>
          <p:cNvSpPr/>
          <p:nvPr/>
        </p:nvSpPr>
        <p:spPr>
          <a:xfrm>
            <a:off x="502920" y="3703320"/>
            <a:ext cx="2286000" cy="292608"/>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Mitigation</a:t>
            </a:r>
            <a:endParaRPr lang="en-US" sz="1300" dirty="0"/>
          </a:p>
        </p:txBody>
      </p:sp>
      <p:sp>
        <p:nvSpPr>
          <p:cNvPr id="13" name="Text 11"/>
          <p:cNvSpPr/>
          <p:nvPr/>
        </p:nvSpPr>
        <p:spPr>
          <a:xfrm>
            <a:off x="502920" y="4023360"/>
            <a:ext cx="8229600" cy="6217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Enforce STRICT peer authentication mode (Istio PeerAuthentication) — reject plain text at the destination.</a:t>
            </a:r>
            <a:endParaRPr lang="en-US" sz="1200" dirty="0"/>
          </a:p>
          <a:p>
            <a:pPr indent="0" marL="0">
              <a:buNone/>
            </a:pPr>
            <a:r>
              <a:rPr lang="en-US" sz="1200" dirty="0">
                <a:solidFill>
                  <a:srgbClr val="1E293B"/>
                </a:solidFill>
                <a:latin typeface="Calibri" pitchFamily="34" charset="0"/>
                <a:ea typeface="Calibri" pitchFamily="34" charset="-122"/>
                <a:cs typeface="Calibri" pitchFamily="34" charset="-120"/>
              </a:rPr>
              <a:t>• Network policy: block all pod-to-pod traffic that doesn't transit the sidecar port (15001).</a:t>
            </a:r>
            <a:endParaRPr lang="en-US" sz="1200" dirty="0"/>
          </a:p>
          <a:p>
            <a:pPr indent="0" marL="0">
              <a:buNone/>
            </a:pPr>
            <a:r>
              <a:rPr lang="en-US" sz="1200" dirty="0">
                <a:solidFill>
                  <a:srgbClr val="1E293B"/>
                </a:solidFill>
                <a:latin typeface="Calibri" pitchFamily="34" charset="0"/>
                <a:ea typeface="Calibri" pitchFamily="34" charset="-122"/>
                <a:cs typeface="Calibri" pitchFamily="34" charset="-120"/>
              </a:rPr>
              <a:t>• Admission webhook: fail closed — deny pod creation if sidecar injection fails.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indent="0" marL="0">
              <a:buNone/>
            </a:pPr>
            <a:r>
              <a:rPr lang="en-US" sz="3000" b="1" dirty="0">
                <a:solidFill>
                  <a:srgbClr val="0B1E3F"/>
                </a:solidFill>
                <a:latin typeface="Calibri" pitchFamily="34" charset="0"/>
                <a:ea typeface="Calibri" pitchFamily="34" charset="-122"/>
                <a:cs typeface="Calibri" pitchFamily="34" charset="-120"/>
              </a:rPr>
              <a:t>Failure Modes: Summary Matrix</a:t>
            </a:r>
            <a:endParaRPr lang="en-US" sz="3000" dirty="0"/>
          </a:p>
        </p:txBody>
      </p:sp>
      <p:sp>
        <p:nvSpPr>
          <p:cNvPr id="3" name="Shape 1"/>
          <p:cNvSpPr/>
          <p:nvPr/>
        </p:nvSpPr>
        <p:spPr>
          <a:xfrm>
            <a:off x="320040" y="868680"/>
            <a:ext cx="8503920" cy="594360"/>
          </a:xfrm>
          <a:prstGeom prst="rect">
            <a:avLst/>
          </a:prstGeom>
          <a:solidFill>
            <a:srgbClr val="0B1E3F"/>
          </a:solidFill>
          <a:ln/>
        </p:spPr>
      </p:sp>
      <p:sp>
        <p:nvSpPr>
          <p:cNvPr id="4" name="Text 2"/>
          <p:cNvSpPr/>
          <p:nvPr/>
        </p:nvSpPr>
        <p:spPr>
          <a:xfrm>
            <a:off x="411480" y="932688"/>
            <a:ext cx="1737360"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Failure Mode</a:t>
            </a:r>
            <a:endParaRPr lang="en-US" sz="1100" dirty="0"/>
          </a:p>
        </p:txBody>
      </p:sp>
      <p:sp>
        <p:nvSpPr>
          <p:cNvPr id="5" name="Text 3"/>
          <p:cNvSpPr/>
          <p:nvPr/>
        </p:nvSpPr>
        <p:spPr>
          <a:xfrm>
            <a:off x="2240280" y="932688"/>
            <a:ext cx="1188720"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Layer</a:t>
            </a:r>
            <a:endParaRPr lang="en-US" sz="1100" dirty="0"/>
          </a:p>
        </p:txBody>
      </p:sp>
      <p:sp>
        <p:nvSpPr>
          <p:cNvPr id="6" name="Text 4"/>
          <p:cNvSpPr/>
          <p:nvPr/>
        </p:nvSpPr>
        <p:spPr>
          <a:xfrm>
            <a:off x="3520440" y="932688"/>
            <a:ext cx="1234440"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Detectability</a:t>
            </a:r>
            <a:endParaRPr lang="en-US" sz="1100" dirty="0"/>
          </a:p>
        </p:txBody>
      </p:sp>
      <p:sp>
        <p:nvSpPr>
          <p:cNvPr id="7" name="Text 5"/>
          <p:cNvSpPr/>
          <p:nvPr/>
        </p:nvSpPr>
        <p:spPr>
          <a:xfrm>
            <a:off x="4846320" y="932688"/>
            <a:ext cx="1280160"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Blast Radius</a:t>
            </a:r>
            <a:endParaRPr lang="en-US" sz="1100" dirty="0"/>
          </a:p>
        </p:txBody>
      </p:sp>
      <p:sp>
        <p:nvSpPr>
          <p:cNvPr id="8" name="Text 6"/>
          <p:cNvSpPr/>
          <p:nvPr/>
        </p:nvSpPr>
        <p:spPr>
          <a:xfrm>
            <a:off x="6217920" y="932688"/>
            <a:ext cx="2514600"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Primary Mitigation</a:t>
            </a:r>
            <a:endParaRPr lang="en-US" sz="1100" dirty="0"/>
          </a:p>
        </p:txBody>
      </p:sp>
      <p:sp>
        <p:nvSpPr>
          <p:cNvPr id="9" name="Shape 7"/>
          <p:cNvSpPr/>
          <p:nvPr/>
        </p:nvSpPr>
        <p:spPr>
          <a:xfrm>
            <a:off x="320040" y="1527048"/>
            <a:ext cx="8503920" cy="594360"/>
          </a:xfrm>
          <a:prstGeom prst="rect">
            <a:avLst/>
          </a:prstGeom>
          <a:solidFill>
            <a:srgbClr val="FFFFFF"/>
          </a:solidFill>
          <a:ln/>
        </p:spPr>
      </p:sp>
      <p:sp>
        <p:nvSpPr>
          <p:cNvPr id="10" name="Text 8"/>
          <p:cNvSpPr/>
          <p:nvPr/>
        </p:nvSpPr>
        <p:spPr>
          <a:xfrm>
            <a:off x="411480" y="1591056"/>
            <a:ext cx="173736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Trust domain mismatch</a:t>
            </a:r>
            <a:endParaRPr lang="en-US" sz="1100" dirty="0"/>
          </a:p>
        </p:txBody>
      </p:sp>
      <p:sp>
        <p:nvSpPr>
          <p:cNvPr id="11" name="Text 9"/>
          <p:cNvSpPr/>
          <p:nvPr/>
        </p:nvSpPr>
        <p:spPr>
          <a:xfrm>
            <a:off x="2240280" y="1591056"/>
            <a:ext cx="118872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Identity</a:t>
            </a:r>
            <a:endParaRPr lang="en-US" sz="1100" dirty="0"/>
          </a:p>
        </p:txBody>
      </p:sp>
      <p:sp>
        <p:nvSpPr>
          <p:cNvPr id="12" name="Text 10"/>
          <p:cNvSpPr/>
          <p:nvPr/>
        </p:nvSpPr>
        <p:spPr>
          <a:xfrm>
            <a:off x="3520440" y="1591056"/>
            <a:ext cx="123444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Medium</a:t>
            </a:r>
            <a:endParaRPr lang="en-US" sz="1100" dirty="0"/>
          </a:p>
        </p:txBody>
      </p:sp>
      <p:sp>
        <p:nvSpPr>
          <p:cNvPr id="13" name="Text 11"/>
          <p:cNvSpPr/>
          <p:nvPr/>
        </p:nvSpPr>
        <p:spPr>
          <a:xfrm>
            <a:off x="4846320" y="1591056"/>
            <a:ext cx="128016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Service pair</a:t>
            </a:r>
            <a:endParaRPr lang="en-US" sz="1100" dirty="0"/>
          </a:p>
        </p:txBody>
      </p:sp>
      <p:sp>
        <p:nvSpPr>
          <p:cNvPr id="14" name="Text 12"/>
          <p:cNvSpPr/>
          <p:nvPr/>
        </p:nvSpPr>
        <p:spPr>
          <a:xfrm>
            <a:off x="6217920" y="1591056"/>
            <a:ext cx="251460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CI lint + fed. checks</a:t>
            </a:r>
            <a:endParaRPr lang="en-US" sz="1100" dirty="0"/>
          </a:p>
        </p:txBody>
      </p:sp>
      <p:sp>
        <p:nvSpPr>
          <p:cNvPr id="15" name="Shape 13"/>
          <p:cNvSpPr/>
          <p:nvPr/>
        </p:nvSpPr>
        <p:spPr>
          <a:xfrm>
            <a:off x="320040" y="2185416"/>
            <a:ext cx="8503920" cy="594360"/>
          </a:xfrm>
          <a:prstGeom prst="rect">
            <a:avLst/>
          </a:prstGeom>
          <a:solidFill>
            <a:srgbClr val="F1F5F9"/>
          </a:solidFill>
          <a:ln/>
        </p:spPr>
      </p:sp>
      <p:sp>
        <p:nvSpPr>
          <p:cNvPr id="16" name="Text 14"/>
          <p:cNvSpPr/>
          <p:nvPr/>
        </p:nvSpPr>
        <p:spPr>
          <a:xfrm>
            <a:off x="411480" y="2249424"/>
            <a:ext cx="173736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Rotation gap</a:t>
            </a:r>
            <a:endParaRPr lang="en-US" sz="1100" dirty="0"/>
          </a:p>
        </p:txBody>
      </p:sp>
      <p:sp>
        <p:nvSpPr>
          <p:cNvPr id="17" name="Text 15"/>
          <p:cNvSpPr/>
          <p:nvPr/>
        </p:nvSpPr>
        <p:spPr>
          <a:xfrm>
            <a:off x="2240280" y="2249424"/>
            <a:ext cx="118872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PKI</a:t>
            </a:r>
            <a:endParaRPr lang="en-US" sz="1100" dirty="0"/>
          </a:p>
        </p:txBody>
      </p:sp>
      <p:sp>
        <p:nvSpPr>
          <p:cNvPr id="18" name="Text 16"/>
          <p:cNvSpPr/>
          <p:nvPr/>
        </p:nvSpPr>
        <p:spPr>
          <a:xfrm>
            <a:off x="3520440" y="2249424"/>
            <a:ext cx="123444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Low</a:t>
            </a:r>
            <a:endParaRPr lang="en-US" sz="1100" dirty="0"/>
          </a:p>
        </p:txBody>
      </p:sp>
      <p:sp>
        <p:nvSpPr>
          <p:cNvPr id="19" name="Text 17"/>
          <p:cNvSpPr/>
          <p:nvPr/>
        </p:nvSpPr>
        <p:spPr>
          <a:xfrm>
            <a:off x="4846320" y="2249424"/>
            <a:ext cx="128016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All workloads</a:t>
            </a:r>
            <a:endParaRPr lang="en-US" sz="1100" dirty="0"/>
          </a:p>
        </p:txBody>
      </p:sp>
      <p:sp>
        <p:nvSpPr>
          <p:cNvPr id="20" name="Text 18"/>
          <p:cNvSpPr/>
          <p:nvPr/>
        </p:nvSpPr>
        <p:spPr>
          <a:xfrm>
            <a:off x="6217920" y="2249424"/>
            <a:ext cx="251460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Agent HA + early alert</a:t>
            </a:r>
            <a:endParaRPr lang="en-US" sz="1100" dirty="0"/>
          </a:p>
        </p:txBody>
      </p:sp>
      <p:sp>
        <p:nvSpPr>
          <p:cNvPr id="21" name="Shape 19"/>
          <p:cNvSpPr/>
          <p:nvPr/>
        </p:nvSpPr>
        <p:spPr>
          <a:xfrm>
            <a:off x="320040" y="2843784"/>
            <a:ext cx="8503920" cy="594360"/>
          </a:xfrm>
          <a:prstGeom prst="rect">
            <a:avLst/>
          </a:prstGeom>
          <a:solidFill>
            <a:srgbClr val="FFFFFF"/>
          </a:solidFill>
          <a:ln/>
        </p:spPr>
      </p:sp>
      <p:sp>
        <p:nvSpPr>
          <p:cNvPr id="22" name="Text 20"/>
          <p:cNvSpPr/>
          <p:nvPr/>
        </p:nvSpPr>
        <p:spPr>
          <a:xfrm>
            <a:off x="411480" y="2907792"/>
            <a:ext cx="173736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Sidecar bypass</a:t>
            </a:r>
            <a:endParaRPr lang="en-US" sz="1100" dirty="0"/>
          </a:p>
        </p:txBody>
      </p:sp>
      <p:sp>
        <p:nvSpPr>
          <p:cNvPr id="23" name="Text 21"/>
          <p:cNvSpPr/>
          <p:nvPr/>
        </p:nvSpPr>
        <p:spPr>
          <a:xfrm>
            <a:off x="2240280" y="2907792"/>
            <a:ext cx="118872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Network</a:t>
            </a:r>
            <a:endParaRPr lang="en-US" sz="1100" dirty="0"/>
          </a:p>
        </p:txBody>
      </p:sp>
      <p:sp>
        <p:nvSpPr>
          <p:cNvPr id="24" name="Text 22"/>
          <p:cNvSpPr/>
          <p:nvPr/>
        </p:nvSpPr>
        <p:spPr>
          <a:xfrm>
            <a:off x="3520440" y="2907792"/>
            <a:ext cx="1234440" cy="457200"/>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Very Low</a:t>
            </a:r>
            <a:endParaRPr lang="en-US" sz="1100" dirty="0"/>
          </a:p>
        </p:txBody>
      </p:sp>
      <p:sp>
        <p:nvSpPr>
          <p:cNvPr id="25" name="Text 23"/>
          <p:cNvSpPr/>
          <p:nvPr/>
        </p:nvSpPr>
        <p:spPr>
          <a:xfrm>
            <a:off x="4846320" y="2907792"/>
            <a:ext cx="1280160" cy="457200"/>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Whole mesh</a:t>
            </a:r>
            <a:endParaRPr lang="en-US" sz="1100" dirty="0"/>
          </a:p>
        </p:txBody>
      </p:sp>
      <p:sp>
        <p:nvSpPr>
          <p:cNvPr id="26" name="Text 24"/>
          <p:cNvSpPr/>
          <p:nvPr/>
        </p:nvSpPr>
        <p:spPr>
          <a:xfrm>
            <a:off x="6217920" y="2907792"/>
            <a:ext cx="251460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STRICT mode + net policy</a:t>
            </a:r>
            <a:endParaRPr lang="en-US" sz="1100" dirty="0"/>
          </a:p>
        </p:txBody>
      </p:sp>
      <p:sp>
        <p:nvSpPr>
          <p:cNvPr id="27" name="Shape 25"/>
          <p:cNvSpPr/>
          <p:nvPr/>
        </p:nvSpPr>
        <p:spPr>
          <a:xfrm>
            <a:off x="320040" y="3502152"/>
            <a:ext cx="8503920" cy="594360"/>
          </a:xfrm>
          <a:prstGeom prst="rect">
            <a:avLst/>
          </a:prstGeom>
          <a:solidFill>
            <a:srgbClr val="F1F5F9"/>
          </a:solidFill>
          <a:ln/>
        </p:spPr>
      </p:sp>
      <p:sp>
        <p:nvSpPr>
          <p:cNvPr id="28" name="Text 26"/>
          <p:cNvSpPr/>
          <p:nvPr/>
        </p:nvSpPr>
        <p:spPr>
          <a:xfrm>
            <a:off x="411480" y="3566160"/>
            <a:ext cx="173736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Stale trust bundle</a:t>
            </a:r>
            <a:endParaRPr lang="en-US" sz="1100" dirty="0"/>
          </a:p>
        </p:txBody>
      </p:sp>
      <p:sp>
        <p:nvSpPr>
          <p:cNvPr id="29" name="Text 27"/>
          <p:cNvSpPr/>
          <p:nvPr/>
        </p:nvSpPr>
        <p:spPr>
          <a:xfrm>
            <a:off x="2240280" y="3566160"/>
            <a:ext cx="118872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PKI</a:t>
            </a:r>
            <a:endParaRPr lang="en-US" sz="1100" dirty="0"/>
          </a:p>
        </p:txBody>
      </p:sp>
      <p:sp>
        <p:nvSpPr>
          <p:cNvPr id="30" name="Text 28"/>
          <p:cNvSpPr/>
          <p:nvPr/>
        </p:nvSpPr>
        <p:spPr>
          <a:xfrm>
            <a:off x="3520440" y="3566160"/>
            <a:ext cx="123444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Medium</a:t>
            </a:r>
            <a:endParaRPr lang="en-US" sz="1100" dirty="0"/>
          </a:p>
        </p:txBody>
      </p:sp>
      <p:sp>
        <p:nvSpPr>
          <p:cNvPr id="31" name="Text 29"/>
          <p:cNvSpPr/>
          <p:nvPr/>
        </p:nvSpPr>
        <p:spPr>
          <a:xfrm>
            <a:off x="4846320" y="3566160"/>
            <a:ext cx="128016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Cross-domain</a:t>
            </a:r>
            <a:endParaRPr lang="en-US" sz="1100" dirty="0"/>
          </a:p>
        </p:txBody>
      </p:sp>
      <p:sp>
        <p:nvSpPr>
          <p:cNvPr id="32" name="Text 30"/>
          <p:cNvSpPr/>
          <p:nvPr/>
        </p:nvSpPr>
        <p:spPr>
          <a:xfrm>
            <a:off x="6217920" y="3566160"/>
            <a:ext cx="251460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Bundle endpoint monitoring</a:t>
            </a:r>
            <a:endParaRPr lang="en-US" sz="1100" dirty="0"/>
          </a:p>
        </p:txBody>
      </p:sp>
      <p:sp>
        <p:nvSpPr>
          <p:cNvPr id="33" name="Shape 31"/>
          <p:cNvSpPr/>
          <p:nvPr/>
        </p:nvSpPr>
        <p:spPr>
          <a:xfrm>
            <a:off x="320040" y="4160520"/>
            <a:ext cx="8503920" cy="594360"/>
          </a:xfrm>
          <a:prstGeom prst="rect">
            <a:avLst/>
          </a:prstGeom>
          <a:solidFill>
            <a:srgbClr val="FFFFFF"/>
          </a:solidFill>
          <a:ln/>
        </p:spPr>
      </p:sp>
      <p:sp>
        <p:nvSpPr>
          <p:cNvPr id="34" name="Text 32"/>
          <p:cNvSpPr/>
          <p:nvPr/>
        </p:nvSpPr>
        <p:spPr>
          <a:xfrm>
            <a:off x="411480" y="4224528"/>
            <a:ext cx="173736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Over-permissive SA</a:t>
            </a:r>
            <a:endParaRPr lang="en-US" sz="1100" dirty="0"/>
          </a:p>
        </p:txBody>
      </p:sp>
      <p:sp>
        <p:nvSpPr>
          <p:cNvPr id="35" name="Text 33"/>
          <p:cNvSpPr/>
          <p:nvPr/>
        </p:nvSpPr>
        <p:spPr>
          <a:xfrm>
            <a:off x="2240280" y="4224528"/>
            <a:ext cx="118872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AuthZ policy</a:t>
            </a:r>
            <a:endParaRPr lang="en-US" sz="1100" dirty="0"/>
          </a:p>
        </p:txBody>
      </p:sp>
      <p:sp>
        <p:nvSpPr>
          <p:cNvPr id="36" name="Text 34"/>
          <p:cNvSpPr/>
          <p:nvPr/>
        </p:nvSpPr>
        <p:spPr>
          <a:xfrm>
            <a:off x="3520440" y="4224528"/>
            <a:ext cx="123444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Low</a:t>
            </a:r>
            <a:endParaRPr lang="en-US" sz="1100" dirty="0"/>
          </a:p>
        </p:txBody>
      </p:sp>
      <p:sp>
        <p:nvSpPr>
          <p:cNvPr id="37" name="Text 35"/>
          <p:cNvSpPr/>
          <p:nvPr/>
        </p:nvSpPr>
        <p:spPr>
          <a:xfrm>
            <a:off x="4846320" y="4224528"/>
            <a:ext cx="128016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Privilege esc.</a:t>
            </a:r>
            <a:endParaRPr lang="en-US" sz="1100" dirty="0"/>
          </a:p>
        </p:txBody>
      </p:sp>
      <p:sp>
        <p:nvSpPr>
          <p:cNvPr id="38" name="Text 36"/>
          <p:cNvSpPr/>
          <p:nvPr/>
        </p:nvSpPr>
        <p:spPr>
          <a:xfrm>
            <a:off x="6217920" y="4224528"/>
            <a:ext cx="251460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Principle of least privilege</a:t>
            </a:r>
            <a:endParaRPr lang="en-US" sz="1100" dirty="0"/>
          </a:p>
        </p:txBody>
      </p:sp>
      <p:sp>
        <p:nvSpPr>
          <p:cNvPr id="39" name="Text 37"/>
          <p:cNvSpPr/>
          <p:nvPr/>
        </p:nvSpPr>
        <p:spPr>
          <a:xfrm>
            <a:off x="320040" y="4754880"/>
            <a:ext cx="8503920" cy="274320"/>
          </a:xfrm>
          <a:prstGeom prst="rect">
            <a:avLst/>
          </a:prstGeom>
          <a:noFill/>
          <a:ln/>
        </p:spPr>
        <p:txBody>
          <a:bodyPr wrap="square" lIns="0" tIns="0" rIns="0" bIns="0" rtlCol="0" anchor="ctr"/>
          <a:lstStyle/>
          <a:p>
            <a:pPr indent="0" marL="0">
              <a:buNone/>
            </a:pPr>
            <a:r>
              <a:rPr lang="en-US" sz="1100" i="1" dirty="0">
                <a:solidFill>
                  <a:srgbClr val="E63946"/>
                </a:solidFill>
                <a:latin typeface="Calibri" pitchFamily="34" charset="0"/>
                <a:ea typeface="Calibri" pitchFamily="34" charset="-122"/>
                <a:cs typeface="Calibri" pitchFamily="34" charset="-120"/>
              </a:rPr>
              <a:t>Observation: the most dangerous failures are the quietest. Sidecar bypass produces no error — only missing identity in audit logs.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indent="0" marL="0">
              <a:buNone/>
            </a:pPr>
            <a:r>
              <a:rPr lang="en-US" sz="2700" b="1" dirty="0">
                <a:solidFill>
                  <a:srgbClr val="0B1E3F"/>
                </a:solidFill>
                <a:latin typeface="Calibri" pitchFamily="34" charset="0"/>
                <a:ea typeface="Calibri" pitchFamily="34" charset="-122"/>
                <a:cs typeface="Calibri" pitchFamily="34" charset="-120"/>
              </a:rPr>
              <a:t>Production Hardening: Mitigations Framework</a:t>
            </a:r>
            <a:endParaRPr lang="en-US" sz="2700" dirty="0"/>
          </a:p>
        </p:txBody>
      </p:sp>
      <p:sp>
        <p:nvSpPr>
          <p:cNvPr id="3" name="Shape 1"/>
          <p:cNvSpPr/>
          <p:nvPr/>
        </p:nvSpPr>
        <p:spPr>
          <a:xfrm>
            <a:off x="320040" y="1005840"/>
            <a:ext cx="2103120" cy="393192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4" name="Shape 2"/>
          <p:cNvSpPr/>
          <p:nvPr/>
        </p:nvSpPr>
        <p:spPr>
          <a:xfrm>
            <a:off x="320040" y="1005840"/>
            <a:ext cx="2103120" cy="640080"/>
          </a:xfrm>
          <a:prstGeom prst="rect">
            <a:avLst/>
          </a:prstGeom>
          <a:solidFill>
            <a:srgbClr val="21295C"/>
          </a:solidFill>
          <a:ln/>
        </p:spPr>
      </p:sp>
      <p:pic>
        <p:nvPicPr>
          <p:cNvPr id="5" name="Image 0" descr="preencoded.png"/>
          <p:cNvPicPr>
            <a:picLocks noChangeAspect="1"/>
          </p:cNvPicPr>
          <p:nvPr/>
        </p:nvPicPr>
        <p:blipFill>
          <a:blip r:embed="rId1"/>
          <a:stretch>
            <a:fillRect/>
          </a:stretch>
        </p:blipFill>
        <p:spPr>
          <a:xfrm>
            <a:off x="457200" y="1051560"/>
            <a:ext cx="384048" cy="384048"/>
          </a:xfrm>
          <a:prstGeom prst="rect">
            <a:avLst/>
          </a:prstGeom>
        </p:spPr>
      </p:pic>
      <p:sp>
        <p:nvSpPr>
          <p:cNvPr id="6" name="Text 3"/>
          <p:cNvSpPr/>
          <p:nvPr/>
        </p:nvSpPr>
        <p:spPr>
          <a:xfrm>
            <a:off x="886968" y="1097280"/>
            <a:ext cx="141732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Day 0: Design</a:t>
            </a:r>
            <a:endParaRPr lang="en-US" sz="1200" dirty="0"/>
          </a:p>
        </p:txBody>
      </p:sp>
      <p:sp>
        <p:nvSpPr>
          <p:cNvPr id="7" name="Shape 4"/>
          <p:cNvSpPr/>
          <p:nvPr/>
        </p:nvSpPr>
        <p:spPr>
          <a:xfrm>
            <a:off x="457200" y="1810512"/>
            <a:ext cx="1828800" cy="71323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Text 5"/>
          <p:cNvSpPr/>
          <p:nvPr/>
        </p:nvSpPr>
        <p:spPr>
          <a:xfrm>
            <a:off x="548640" y="1865376"/>
            <a:ext cx="1645920" cy="59436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Single trust domain per environment</a:t>
            </a:r>
            <a:endParaRPr lang="en-US" sz="1000" dirty="0"/>
          </a:p>
        </p:txBody>
      </p:sp>
      <p:sp>
        <p:nvSpPr>
          <p:cNvPr id="9" name="Shape 6"/>
          <p:cNvSpPr/>
          <p:nvPr/>
        </p:nvSpPr>
        <p:spPr>
          <a:xfrm>
            <a:off x="457200" y="2633472"/>
            <a:ext cx="1828800" cy="71323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Text 7"/>
          <p:cNvSpPr/>
          <p:nvPr/>
        </p:nvSpPr>
        <p:spPr>
          <a:xfrm>
            <a:off x="548640" y="2688336"/>
            <a:ext cx="1645920" cy="59436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TTL ≤ 1h; auto-rotation at TTL/2</a:t>
            </a:r>
            <a:endParaRPr lang="en-US" sz="1000" dirty="0"/>
          </a:p>
        </p:txBody>
      </p:sp>
      <p:sp>
        <p:nvSpPr>
          <p:cNvPr id="11" name="Shape 8"/>
          <p:cNvSpPr/>
          <p:nvPr/>
        </p:nvSpPr>
        <p:spPr>
          <a:xfrm>
            <a:off x="457200" y="3456432"/>
            <a:ext cx="1828800" cy="71323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Text 9"/>
          <p:cNvSpPr/>
          <p:nvPr/>
        </p:nvSpPr>
        <p:spPr>
          <a:xfrm>
            <a:off x="548640" y="3511296"/>
            <a:ext cx="1645920" cy="59436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Fail-closed admission webhooks</a:t>
            </a:r>
            <a:endParaRPr lang="en-US" sz="1000" dirty="0"/>
          </a:p>
        </p:txBody>
      </p:sp>
      <p:sp>
        <p:nvSpPr>
          <p:cNvPr id="13" name="Shape 10"/>
          <p:cNvSpPr/>
          <p:nvPr/>
        </p:nvSpPr>
        <p:spPr>
          <a:xfrm>
            <a:off x="2606040" y="1005840"/>
            <a:ext cx="2103120" cy="393192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14" name="Shape 11"/>
          <p:cNvSpPr/>
          <p:nvPr/>
        </p:nvSpPr>
        <p:spPr>
          <a:xfrm>
            <a:off x="2606040" y="1005840"/>
            <a:ext cx="2103120" cy="640080"/>
          </a:xfrm>
          <a:prstGeom prst="rect">
            <a:avLst/>
          </a:prstGeom>
          <a:solidFill>
            <a:srgbClr val="065A82"/>
          </a:solidFill>
          <a:ln/>
        </p:spPr>
      </p:sp>
      <p:pic>
        <p:nvPicPr>
          <p:cNvPr id="15" name="Image 1" descr="preencoded.png"/>
          <p:cNvPicPr>
            <a:picLocks noChangeAspect="1"/>
          </p:cNvPicPr>
          <p:nvPr/>
        </p:nvPicPr>
        <p:blipFill>
          <a:blip r:embed="rId2"/>
          <a:stretch>
            <a:fillRect/>
          </a:stretch>
        </p:blipFill>
        <p:spPr>
          <a:xfrm>
            <a:off x="2743200" y="1051560"/>
            <a:ext cx="384048" cy="384048"/>
          </a:xfrm>
          <a:prstGeom prst="rect">
            <a:avLst/>
          </a:prstGeom>
        </p:spPr>
      </p:pic>
      <p:sp>
        <p:nvSpPr>
          <p:cNvPr id="16" name="Text 12"/>
          <p:cNvSpPr/>
          <p:nvPr/>
        </p:nvSpPr>
        <p:spPr>
          <a:xfrm>
            <a:off x="3172968" y="1097280"/>
            <a:ext cx="141732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Day 1: Deployment</a:t>
            </a:r>
            <a:endParaRPr lang="en-US" sz="1200" dirty="0"/>
          </a:p>
        </p:txBody>
      </p:sp>
      <p:sp>
        <p:nvSpPr>
          <p:cNvPr id="17" name="Shape 13"/>
          <p:cNvSpPr/>
          <p:nvPr/>
        </p:nvSpPr>
        <p:spPr>
          <a:xfrm>
            <a:off x="2743200" y="1810512"/>
            <a:ext cx="1828800" cy="71323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8" name="Text 14"/>
          <p:cNvSpPr/>
          <p:nvPr/>
        </p:nvSpPr>
        <p:spPr>
          <a:xfrm>
            <a:off x="2834640" y="1865376"/>
            <a:ext cx="1645920" cy="59436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Agent HA with shared datastore</a:t>
            </a:r>
            <a:endParaRPr lang="en-US" sz="1000" dirty="0"/>
          </a:p>
        </p:txBody>
      </p:sp>
      <p:sp>
        <p:nvSpPr>
          <p:cNvPr id="19" name="Shape 15"/>
          <p:cNvSpPr/>
          <p:nvPr/>
        </p:nvSpPr>
        <p:spPr>
          <a:xfrm>
            <a:off x="2743200" y="2633472"/>
            <a:ext cx="1828800" cy="71323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0" name="Text 16"/>
          <p:cNvSpPr/>
          <p:nvPr/>
        </p:nvSpPr>
        <p:spPr>
          <a:xfrm>
            <a:off x="2834640" y="2688336"/>
            <a:ext cx="1645920" cy="59436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STRICT PeerAuthentication across mesh</a:t>
            </a:r>
            <a:endParaRPr lang="en-US" sz="1000" dirty="0"/>
          </a:p>
        </p:txBody>
      </p:sp>
      <p:sp>
        <p:nvSpPr>
          <p:cNvPr id="21" name="Shape 17"/>
          <p:cNvSpPr/>
          <p:nvPr/>
        </p:nvSpPr>
        <p:spPr>
          <a:xfrm>
            <a:off x="2743200" y="3456432"/>
            <a:ext cx="1828800" cy="71323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2" name="Text 18"/>
          <p:cNvSpPr/>
          <p:nvPr/>
        </p:nvSpPr>
        <p:spPr>
          <a:xfrm>
            <a:off x="2834640" y="3511296"/>
            <a:ext cx="1645920" cy="59436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Network policy: block non-sidecar traffic</a:t>
            </a:r>
            <a:endParaRPr lang="en-US" sz="1000" dirty="0"/>
          </a:p>
        </p:txBody>
      </p:sp>
      <p:sp>
        <p:nvSpPr>
          <p:cNvPr id="23" name="Shape 19"/>
          <p:cNvSpPr/>
          <p:nvPr/>
        </p:nvSpPr>
        <p:spPr>
          <a:xfrm>
            <a:off x="4892040" y="1005840"/>
            <a:ext cx="2103120" cy="393192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24" name="Shape 20"/>
          <p:cNvSpPr/>
          <p:nvPr/>
        </p:nvSpPr>
        <p:spPr>
          <a:xfrm>
            <a:off x="4892040" y="1005840"/>
            <a:ext cx="2103120" cy="640080"/>
          </a:xfrm>
          <a:prstGeom prst="rect">
            <a:avLst/>
          </a:prstGeom>
          <a:solidFill>
            <a:srgbClr val="1C7293"/>
          </a:solidFill>
          <a:ln/>
        </p:spPr>
      </p:sp>
      <p:pic>
        <p:nvPicPr>
          <p:cNvPr id="25" name="Image 2" descr="preencoded.png"/>
          <p:cNvPicPr>
            <a:picLocks noChangeAspect="1"/>
          </p:cNvPicPr>
          <p:nvPr/>
        </p:nvPicPr>
        <p:blipFill>
          <a:blip r:embed="rId3"/>
          <a:stretch>
            <a:fillRect/>
          </a:stretch>
        </p:blipFill>
        <p:spPr>
          <a:xfrm>
            <a:off x="5029200" y="1051560"/>
            <a:ext cx="384048" cy="384048"/>
          </a:xfrm>
          <a:prstGeom prst="rect">
            <a:avLst/>
          </a:prstGeom>
        </p:spPr>
      </p:pic>
      <p:sp>
        <p:nvSpPr>
          <p:cNvPr id="26" name="Text 21"/>
          <p:cNvSpPr/>
          <p:nvPr/>
        </p:nvSpPr>
        <p:spPr>
          <a:xfrm>
            <a:off x="5458968" y="1097280"/>
            <a:ext cx="141732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Day 2: Operations</a:t>
            </a:r>
            <a:endParaRPr lang="en-US" sz="1200" dirty="0"/>
          </a:p>
        </p:txBody>
      </p:sp>
      <p:sp>
        <p:nvSpPr>
          <p:cNvPr id="27" name="Shape 22"/>
          <p:cNvSpPr/>
          <p:nvPr/>
        </p:nvSpPr>
        <p:spPr>
          <a:xfrm>
            <a:off x="5029200" y="1810512"/>
            <a:ext cx="1828800" cy="71323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8" name="Text 23"/>
          <p:cNvSpPr/>
          <p:nvPr/>
        </p:nvSpPr>
        <p:spPr>
          <a:xfrm>
            <a:off x="5120640" y="1865376"/>
            <a:ext cx="1645920" cy="59436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Alert on agent-server connectivity loss</a:t>
            </a:r>
            <a:endParaRPr lang="en-US" sz="1000" dirty="0"/>
          </a:p>
        </p:txBody>
      </p:sp>
      <p:sp>
        <p:nvSpPr>
          <p:cNvPr id="29" name="Shape 24"/>
          <p:cNvSpPr/>
          <p:nvPr/>
        </p:nvSpPr>
        <p:spPr>
          <a:xfrm>
            <a:off x="5029200" y="2633472"/>
            <a:ext cx="1828800" cy="71323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0" name="Text 25"/>
          <p:cNvSpPr/>
          <p:nvPr/>
        </p:nvSpPr>
        <p:spPr>
          <a:xfrm>
            <a:off x="5120640" y="2688336"/>
            <a:ext cx="1645920" cy="59436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Audit SPIFFE ID in every access log</a:t>
            </a:r>
            <a:endParaRPr lang="en-US" sz="1000" dirty="0"/>
          </a:p>
        </p:txBody>
      </p:sp>
      <p:sp>
        <p:nvSpPr>
          <p:cNvPr id="31" name="Shape 26"/>
          <p:cNvSpPr/>
          <p:nvPr/>
        </p:nvSpPr>
        <p:spPr>
          <a:xfrm>
            <a:off x="5029200" y="3456432"/>
            <a:ext cx="1828800" cy="71323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2" name="Text 27"/>
          <p:cNvSpPr/>
          <p:nvPr/>
        </p:nvSpPr>
        <p:spPr>
          <a:xfrm>
            <a:off x="5120640" y="3511296"/>
            <a:ext cx="1645920" cy="59436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Quarterly trust bundle rotation drill</a:t>
            </a:r>
            <a:endParaRPr lang="en-US" sz="1000" dirty="0"/>
          </a:p>
        </p:txBody>
      </p:sp>
      <p:sp>
        <p:nvSpPr>
          <p:cNvPr id="33" name="Shape 28"/>
          <p:cNvSpPr/>
          <p:nvPr/>
        </p:nvSpPr>
        <p:spPr>
          <a:xfrm>
            <a:off x="7178040" y="1005840"/>
            <a:ext cx="2103120" cy="393192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34" name="Shape 29"/>
          <p:cNvSpPr/>
          <p:nvPr/>
        </p:nvSpPr>
        <p:spPr>
          <a:xfrm>
            <a:off x="7178040" y="1005840"/>
            <a:ext cx="2103120" cy="640080"/>
          </a:xfrm>
          <a:prstGeom prst="rect">
            <a:avLst/>
          </a:prstGeom>
          <a:solidFill>
            <a:srgbClr val="0D9488"/>
          </a:solidFill>
          <a:ln/>
        </p:spPr>
      </p:sp>
      <p:pic>
        <p:nvPicPr>
          <p:cNvPr id="35" name="Image 3" descr="preencoded.png"/>
          <p:cNvPicPr>
            <a:picLocks noChangeAspect="1"/>
          </p:cNvPicPr>
          <p:nvPr/>
        </p:nvPicPr>
        <p:blipFill>
          <a:blip r:embed="rId4"/>
          <a:stretch>
            <a:fillRect/>
          </a:stretch>
        </p:blipFill>
        <p:spPr>
          <a:xfrm>
            <a:off x="7315200" y="1051560"/>
            <a:ext cx="384048" cy="384048"/>
          </a:xfrm>
          <a:prstGeom prst="rect">
            <a:avLst/>
          </a:prstGeom>
        </p:spPr>
      </p:pic>
      <p:sp>
        <p:nvSpPr>
          <p:cNvPr id="36" name="Text 30"/>
          <p:cNvSpPr/>
          <p:nvPr/>
        </p:nvSpPr>
        <p:spPr>
          <a:xfrm>
            <a:off x="7744968" y="1097280"/>
            <a:ext cx="141732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Verification</a:t>
            </a:r>
            <a:endParaRPr lang="en-US" sz="1200" dirty="0"/>
          </a:p>
        </p:txBody>
      </p:sp>
      <p:sp>
        <p:nvSpPr>
          <p:cNvPr id="37" name="Shape 31"/>
          <p:cNvSpPr/>
          <p:nvPr/>
        </p:nvSpPr>
        <p:spPr>
          <a:xfrm>
            <a:off x="7315200" y="1810512"/>
            <a:ext cx="1828800" cy="71323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8" name="Text 32"/>
          <p:cNvSpPr/>
          <p:nvPr/>
        </p:nvSpPr>
        <p:spPr>
          <a:xfrm>
            <a:off x="7406640" y="1865376"/>
            <a:ext cx="1645920" cy="59436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Canary attestation pre-deploy</a:t>
            </a:r>
            <a:endParaRPr lang="en-US" sz="1000" dirty="0"/>
          </a:p>
        </p:txBody>
      </p:sp>
      <p:sp>
        <p:nvSpPr>
          <p:cNvPr id="39" name="Shape 33"/>
          <p:cNvSpPr/>
          <p:nvPr/>
        </p:nvSpPr>
        <p:spPr>
          <a:xfrm>
            <a:off x="7315200" y="2633472"/>
            <a:ext cx="1828800" cy="71323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0" name="Text 34"/>
          <p:cNvSpPr/>
          <p:nvPr/>
        </p:nvSpPr>
        <p:spPr>
          <a:xfrm>
            <a:off x="7406640" y="2688336"/>
            <a:ext cx="1645920" cy="59436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mTLS verification in integration tests</a:t>
            </a:r>
            <a:endParaRPr lang="en-US" sz="1000" dirty="0"/>
          </a:p>
        </p:txBody>
      </p:sp>
      <p:sp>
        <p:nvSpPr>
          <p:cNvPr id="41" name="Shape 35"/>
          <p:cNvSpPr/>
          <p:nvPr/>
        </p:nvSpPr>
        <p:spPr>
          <a:xfrm>
            <a:off x="7315200" y="3456432"/>
            <a:ext cx="1828800" cy="71323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2" name="Text 36"/>
          <p:cNvSpPr/>
          <p:nvPr/>
        </p:nvSpPr>
        <p:spPr>
          <a:xfrm>
            <a:off x="7406640" y="3511296"/>
            <a:ext cx="1645920" cy="59436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Red team: attempt sidecar bypass quarterly</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indent="0" marL="0">
              <a:buNone/>
            </a:pPr>
            <a:r>
              <a:rPr lang="en-US" sz="3000" b="1" dirty="0">
                <a:solidFill>
                  <a:srgbClr val="0B1E3F"/>
                </a:solidFill>
                <a:latin typeface="Calibri" pitchFamily="34" charset="0"/>
                <a:ea typeface="Calibri" pitchFamily="34" charset="-122"/>
                <a:cs typeface="Calibri" pitchFamily="34" charset="-120"/>
              </a:rPr>
              <a:t>Academic Literature Review</a:t>
            </a:r>
            <a:endParaRPr lang="en-US" sz="3000" dirty="0"/>
          </a:p>
        </p:txBody>
      </p:sp>
      <p:sp>
        <p:nvSpPr>
          <p:cNvPr id="3" name="Text 1"/>
          <p:cNvSpPr/>
          <p:nvPr/>
        </p:nvSpPr>
        <p:spPr>
          <a:xfrm>
            <a:off x="457200" y="685800"/>
            <a:ext cx="8229600" cy="27432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What the literature established — and where it falls silent on naming</a:t>
            </a:r>
            <a:endParaRPr lang="en-US" sz="1300" dirty="0"/>
          </a:p>
        </p:txBody>
      </p:sp>
      <p:sp>
        <p:nvSpPr>
          <p:cNvPr id="4" name="Shape 2"/>
          <p:cNvSpPr/>
          <p:nvPr/>
        </p:nvSpPr>
        <p:spPr>
          <a:xfrm>
            <a:off x="320040" y="1097280"/>
            <a:ext cx="8503920" cy="82296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5" name="Shape 3"/>
          <p:cNvSpPr/>
          <p:nvPr/>
        </p:nvSpPr>
        <p:spPr>
          <a:xfrm>
            <a:off x="320040" y="1097280"/>
            <a:ext cx="1280160" cy="822960"/>
          </a:xfrm>
          <a:prstGeom prst="rect">
            <a:avLst/>
          </a:prstGeom>
          <a:solidFill>
            <a:srgbClr val="21295C"/>
          </a:solidFill>
          <a:ln/>
        </p:spPr>
      </p:sp>
      <p:sp>
        <p:nvSpPr>
          <p:cNvPr id="6" name="Text 4"/>
          <p:cNvSpPr/>
          <p:nvPr/>
        </p:nvSpPr>
        <p:spPr>
          <a:xfrm>
            <a:off x="411480" y="1207008"/>
            <a:ext cx="109728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USENIX Security '19</a:t>
            </a:r>
            <a:endParaRPr lang="en-US" sz="1000" dirty="0"/>
          </a:p>
        </p:txBody>
      </p:sp>
      <p:sp>
        <p:nvSpPr>
          <p:cNvPr id="7" name="Text 5"/>
          <p:cNvSpPr/>
          <p:nvPr/>
        </p:nvSpPr>
        <p:spPr>
          <a:xfrm>
            <a:off x="1691640" y="1143000"/>
            <a:ext cx="6995160" cy="29260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Peeking Behind the Curtains of Serverless Platforms</a:t>
            </a:r>
            <a:endParaRPr lang="en-US" sz="1300" dirty="0"/>
          </a:p>
        </p:txBody>
      </p:sp>
      <p:sp>
        <p:nvSpPr>
          <p:cNvPr id="8" name="Text 6"/>
          <p:cNvSpPr/>
          <p:nvPr/>
        </p:nvSpPr>
        <p:spPr>
          <a:xfrm>
            <a:off x="1691640" y="1481328"/>
            <a:ext cx="699516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Identifies attestation gaps in FaaS as the dominant risk — but frames the problem as “no identity,” not “wrong identity.” Naming correctness is assumed, never validated. This work extends that gap analysis to trust domain configuration.</a:t>
            </a:r>
            <a:endParaRPr lang="en-US" sz="1100" dirty="0"/>
          </a:p>
        </p:txBody>
      </p:sp>
      <p:sp>
        <p:nvSpPr>
          <p:cNvPr id="9" name="Shape 7"/>
          <p:cNvSpPr/>
          <p:nvPr/>
        </p:nvSpPr>
        <p:spPr>
          <a:xfrm>
            <a:off x="320040" y="2057400"/>
            <a:ext cx="8503920" cy="82296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10" name="Shape 8"/>
          <p:cNvSpPr/>
          <p:nvPr/>
        </p:nvSpPr>
        <p:spPr>
          <a:xfrm>
            <a:off x="320040" y="2057400"/>
            <a:ext cx="1280160" cy="822960"/>
          </a:xfrm>
          <a:prstGeom prst="rect">
            <a:avLst/>
          </a:prstGeom>
          <a:solidFill>
            <a:srgbClr val="065A82"/>
          </a:solidFill>
          <a:ln/>
        </p:spPr>
      </p:sp>
      <p:sp>
        <p:nvSpPr>
          <p:cNvPr id="11" name="Text 9"/>
          <p:cNvSpPr/>
          <p:nvPr/>
        </p:nvSpPr>
        <p:spPr>
          <a:xfrm>
            <a:off x="411480" y="2167128"/>
            <a:ext cx="109728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ACM CCS '21</a:t>
            </a:r>
            <a:endParaRPr lang="en-US" sz="1000" dirty="0"/>
          </a:p>
        </p:txBody>
      </p:sp>
      <p:sp>
        <p:nvSpPr>
          <p:cNvPr id="12" name="Text 10"/>
          <p:cNvSpPr/>
          <p:nvPr/>
        </p:nvSpPr>
        <p:spPr>
          <a:xfrm>
            <a:off x="1691640" y="2103120"/>
            <a:ext cx="6995160" cy="29260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Hunting the Haunted: Post-Exploitation Persistence in Container Environments</a:t>
            </a:r>
            <a:endParaRPr lang="en-US" sz="1300" dirty="0"/>
          </a:p>
        </p:txBody>
      </p:sp>
      <p:sp>
        <p:nvSpPr>
          <p:cNvPr id="13" name="Text 11"/>
          <p:cNvSpPr/>
          <p:nvPr/>
        </p:nvSpPr>
        <p:spPr>
          <a:xfrm>
            <a:off x="1691640" y="2441448"/>
            <a:ext cx="699516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Documents lateral movement post-compromise — but assumes the attacker already has a valid identity. Does not model the case where lateral movement is enabled by a misconfigured trust domain that silently accepts cross-domain SVIDs.</a:t>
            </a:r>
            <a:endParaRPr lang="en-US" sz="1100" dirty="0"/>
          </a:p>
        </p:txBody>
      </p:sp>
      <p:sp>
        <p:nvSpPr>
          <p:cNvPr id="14" name="Shape 12"/>
          <p:cNvSpPr/>
          <p:nvPr/>
        </p:nvSpPr>
        <p:spPr>
          <a:xfrm>
            <a:off x="320040" y="3017520"/>
            <a:ext cx="8503920" cy="82296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15" name="Shape 13"/>
          <p:cNvSpPr/>
          <p:nvPr/>
        </p:nvSpPr>
        <p:spPr>
          <a:xfrm>
            <a:off x="320040" y="3017520"/>
            <a:ext cx="1280160" cy="822960"/>
          </a:xfrm>
          <a:prstGeom prst="rect">
            <a:avLst/>
          </a:prstGeom>
          <a:solidFill>
            <a:srgbClr val="1C7293"/>
          </a:solidFill>
          <a:ln/>
        </p:spPr>
      </p:sp>
      <p:sp>
        <p:nvSpPr>
          <p:cNvPr id="16" name="Text 14"/>
          <p:cNvSpPr/>
          <p:nvPr/>
        </p:nvSpPr>
        <p:spPr>
          <a:xfrm>
            <a:off x="411480" y="3127248"/>
            <a:ext cx="109728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IEEE S&amp;P '22</a:t>
            </a:r>
            <a:endParaRPr lang="en-US" sz="1000" dirty="0"/>
          </a:p>
        </p:txBody>
      </p:sp>
      <p:sp>
        <p:nvSpPr>
          <p:cNvPr id="17" name="Text 15"/>
          <p:cNvSpPr/>
          <p:nvPr/>
        </p:nvSpPr>
        <p:spPr>
          <a:xfrm>
            <a:off x="1691640" y="3063240"/>
            <a:ext cx="6995160" cy="29260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Why Eve and Mallory Still Love Android</a:t>
            </a:r>
            <a:endParaRPr lang="en-US" sz="1300" dirty="0"/>
          </a:p>
        </p:txBody>
      </p:sp>
      <p:sp>
        <p:nvSpPr>
          <p:cNvPr id="18" name="Text 16"/>
          <p:cNvSpPr/>
          <p:nvPr/>
        </p:nvSpPr>
        <p:spPr>
          <a:xfrm>
            <a:off x="1691640" y="3401568"/>
            <a:ext cx="699516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Supports X.509-SVID over JWT-SVID for key proof-of-possession. Critically, this analysis only holds if the SAN URI is correctly bound to the right trust domain — an assumption the paper does not examine.</a:t>
            </a:r>
            <a:endParaRPr lang="en-US" sz="1100" dirty="0"/>
          </a:p>
        </p:txBody>
      </p:sp>
      <p:sp>
        <p:nvSpPr>
          <p:cNvPr id="19" name="Shape 17"/>
          <p:cNvSpPr/>
          <p:nvPr/>
        </p:nvSpPr>
        <p:spPr>
          <a:xfrm>
            <a:off x="320040" y="3977640"/>
            <a:ext cx="8503920" cy="82296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20" name="Shape 18"/>
          <p:cNvSpPr/>
          <p:nvPr/>
        </p:nvSpPr>
        <p:spPr>
          <a:xfrm>
            <a:off x="320040" y="3977640"/>
            <a:ext cx="1280160" cy="822960"/>
          </a:xfrm>
          <a:prstGeom prst="rect">
            <a:avLst/>
          </a:prstGeom>
          <a:solidFill>
            <a:srgbClr val="0D9488"/>
          </a:solidFill>
          <a:ln/>
        </p:spPr>
      </p:sp>
      <p:sp>
        <p:nvSpPr>
          <p:cNvPr id="21" name="Text 19"/>
          <p:cNvSpPr/>
          <p:nvPr/>
        </p:nvSpPr>
        <p:spPr>
          <a:xfrm>
            <a:off x="411480" y="4087368"/>
            <a:ext cx="109728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NIST SP 800-207A (2023)</a:t>
            </a:r>
            <a:endParaRPr lang="en-US" sz="1000" dirty="0"/>
          </a:p>
        </p:txBody>
      </p:sp>
      <p:sp>
        <p:nvSpPr>
          <p:cNvPr id="22" name="Text 20"/>
          <p:cNvSpPr/>
          <p:nvPr/>
        </p:nvSpPr>
        <p:spPr>
          <a:xfrm>
            <a:off x="1691640" y="4023360"/>
            <a:ext cx="6995160" cy="29260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Zero Trust Architecture for Multi-Cloud Environments</a:t>
            </a:r>
            <a:endParaRPr lang="en-US" sz="1300" dirty="0"/>
          </a:p>
        </p:txBody>
      </p:sp>
      <p:sp>
        <p:nvSpPr>
          <p:cNvPr id="23" name="Text 21"/>
          <p:cNvSpPr/>
          <p:nvPr/>
        </p:nvSpPr>
        <p:spPr>
          <a:xfrm>
            <a:off x="1691640" y="4361688"/>
            <a:ext cx="699516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First standards document to explicitly reference SPIFFE SVIDs as a workload identity mechanism. However, Section 4.2 specifies SVID issuance without prescribing trust domain naming conventions or CI-layer validation — the operational gap this work targets.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E3F"/>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Thesis Contribution</a:t>
            </a:r>
            <a:endParaRPr lang="en-US" sz="3000" dirty="0"/>
          </a:p>
        </p:txBody>
      </p:sp>
      <p:sp>
        <p:nvSpPr>
          <p:cNvPr id="3" name="Text 1"/>
          <p:cNvSpPr/>
          <p:nvPr/>
        </p:nvSpPr>
        <p:spPr>
          <a:xfrm>
            <a:off x="457200" y="713232"/>
            <a:ext cx="8229600" cy="365760"/>
          </a:xfrm>
          <a:prstGeom prst="rect">
            <a:avLst/>
          </a:prstGeom>
          <a:noFill/>
          <a:ln/>
        </p:spPr>
        <p:txBody>
          <a:bodyPr wrap="square" lIns="0" tIns="0" rIns="0" bIns="0" rtlCol="0" anchor="ctr"/>
          <a:lstStyle/>
          <a:p>
            <a:pPr indent="0" marL="0">
              <a:buNone/>
            </a:pPr>
            <a:r>
              <a:rPr lang="en-US" sz="1600" i="1" dirty="0">
                <a:solidFill>
                  <a:srgbClr val="D4A017"/>
                </a:solidFill>
                <a:latin typeface="Calibri" pitchFamily="34" charset="0"/>
                <a:ea typeface="Calibri" pitchFamily="34" charset="-122"/>
                <a:cs typeface="Calibri" pitchFamily="34" charset="-120"/>
              </a:rPr>
              <a:t>Claim: Trust Domain Naming is the Structurally Dominant Failure Surface in SPIFFE/SPIRE Deployments</a:t>
            </a:r>
            <a:endParaRPr lang="en-US" sz="1600" dirty="0"/>
          </a:p>
        </p:txBody>
      </p:sp>
      <p:sp>
        <p:nvSpPr>
          <p:cNvPr id="4" name="Shape 2"/>
          <p:cNvSpPr/>
          <p:nvPr/>
        </p:nvSpPr>
        <p:spPr>
          <a:xfrm>
            <a:off x="320040" y="1325880"/>
            <a:ext cx="4114800" cy="1508760"/>
          </a:xfrm>
          <a:prstGeom prst="rect">
            <a:avLst/>
          </a:prstGeom>
          <a:solidFill>
            <a:srgbClr val="0F243B"/>
          </a:solidFill>
          <a:ln/>
          <a:effectLst>
            <a:outerShdw sx="100000" sy="100000" kx="0" ky="0" algn="bl" rotWithShape="0" blurRad="101600" dist="38100" dir="8100000">
              <a:srgbClr val="000000">
                <a:alpha val="12000"/>
              </a:srgbClr>
            </a:outerShdw>
          </a:effectLst>
        </p:spPr>
      </p:sp>
      <p:sp>
        <p:nvSpPr>
          <p:cNvPr id="5" name="Shape 3"/>
          <p:cNvSpPr/>
          <p:nvPr/>
        </p:nvSpPr>
        <p:spPr>
          <a:xfrm>
            <a:off x="320040" y="1325880"/>
            <a:ext cx="502920" cy="1508760"/>
          </a:xfrm>
          <a:prstGeom prst="rect">
            <a:avLst/>
          </a:prstGeom>
          <a:solidFill>
            <a:srgbClr val="21295C"/>
          </a:solidFill>
          <a:ln/>
        </p:spPr>
      </p:sp>
      <p:sp>
        <p:nvSpPr>
          <p:cNvPr id="6" name="Text 4"/>
          <p:cNvSpPr/>
          <p:nvPr/>
        </p:nvSpPr>
        <p:spPr>
          <a:xfrm>
            <a:off x="320040"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7" name="Text 5"/>
          <p:cNvSpPr/>
          <p:nvPr/>
        </p:nvSpPr>
        <p:spPr>
          <a:xfrm>
            <a:off x="914400" y="1399032"/>
            <a:ext cx="3383280" cy="41148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Why naming, not crypto?</a:t>
            </a:r>
            <a:endParaRPr lang="en-US" sz="1300" dirty="0"/>
          </a:p>
        </p:txBody>
      </p:sp>
      <p:sp>
        <p:nvSpPr>
          <p:cNvPr id="8" name="Text 6"/>
          <p:cNvSpPr/>
          <p:nvPr/>
        </p:nvSpPr>
        <p:spPr>
          <a:xfrm>
            <a:off x="914400" y="1856232"/>
            <a:ext cx="3383280" cy="896112"/>
          </a:xfrm>
          <a:prstGeom prst="rect">
            <a:avLst/>
          </a:prstGeom>
          <a:noFill/>
          <a:ln/>
        </p:spPr>
        <p:txBody>
          <a:bodyPr wrap="square" lIns="0" tIns="0" rIns="0" bIns="0" rtlCol="0" anchor="ctr"/>
          <a:lstStyle/>
          <a:p>
            <a:pPr indent="0" marL="0">
              <a:buNone/>
            </a:pPr>
            <a:r>
              <a:rPr lang="en-US" sz="1100" dirty="0">
                <a:solidFill>
                  <a:srgbClr val="C0D0DC"/>
                </a:solidFill>
                <a:latin typeface="Calibri" pitchFamily="34" charset="0"/>
                <a:ea typeface="Calibri" pitchFamily="34" charset="-122"/>
                <a:cs typeface="Calibri" pitchFamily="34" charset="-120"/>
              </a:rPr>
              <a:t>Crypto failures are self-signaling: a bad key breaks the TLS handshake immediately. Naming failures are silent: a wrong trust domain causes mTLS to succeed between the wrong parties, or fail with no application-layer error. Self-signaling failures are operationally recoverable; silent failures are not.</a:t>
            </a:r>
            <a:endParaRPr lang="en-US" sz="1100" dirty="0"/>
          </a:p>
        </p:txBody>
      </p:sp>
      <p:sp>
        <p:nvSpPr>
          <p:cNvPr id="9" name="Shape 7"/>
          <p:cNvSpPr/>
          <p:nvPr/>
        </p:nvSpPr>
        <p:spPr>
          <a:xfrm>
            <a:off x="4709160" y="1325880"/>
            <a:ext cx="4114800" cy="1508760"/>
          </a:xfrm>
          <a:prstGeom prst="rect">
            <a:avLst/>
          </a:prstGeom>
          <a:solidFill>
            <a:srgbClr val="0F243B"/>
          </a:solidFill>
          <a:ln/>
          <a:effectLst>
            <a:outerShdw sx="100000" sy="100000" kx="0" ky="0" algn="bl" rotWithShape="0" blurRad="101600" dist="38100" dir="8100000">
              <a:srgbClr val="000000">
                <a:alpha val="12000"/>
              </a:srgbClr>
            </a:outerShdw>
          </a:effectLst>
        </p:spPr>
      </p:sp>
      <p:sp>
        <p:nvSpPr>
          <p:cNvPr id="10" name="Shape 8"/>
          <p:cNvSpPr/>
          <p:nvPr/>
        </p:nvSpPr>
        <p:spPr>
          <a:xfrm>
            <a:off x="4709160" y="1325880"/>
            <a:ext cx="502920" cy="1508760"/>
          </a:xfrm>
          <a:prstGeom prst="rect">
            <a:avLst/>
          </a:prstGeom>
          <a:solidFill>
            <a:srgbClr val="065A82"/>
          </a:solidFill>
          <a:ln/>
        </p:spPr>
      </p:sp>
      <p:sp>
        <p:nvSpPr>
          <p:cNvPr id="11" name="Text 9"/>
          <p:cNvSpPr/>
          <p:nvPr/>
        </p:nvSpPr>
        <p:spPr>
          <a:xfrm>
            <a:off x="4709160"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2" name="Text 10"/>
          <p:cNvSpPr/>
          <p:nvPr/>
        </p:nvSpPr>
        <p:spPr>
          <a:xfrm>
            <a:off x="5303520" y="1399032"/>
            <a:ext cx="3383280" cy="41148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Three structural properties make naming dominant</a:t>
            </a:r>
            <a:endParaRPr lang="en-US" sz="1300" dirty="0"/>
          </a:p>
        </p:txBody>
      </p:sp>
      <p:sp>
        <p:nvSpPr>
          <p:cNvPr id="13" name="Text 11"/>
          <p:cNvSpPr/>
          <p:nvPr/>
        </p:nvSpPr>
        <p:spPr>
          <a:xfrm>
            <a:off x="5303520" y="1856232"/>
            <a:ext cx="3383280" cy="896112"/>
          </a:xfrm>
          <a:prstGeom prst="rect">
            <a:avLst/>
          </a:prstGeom>
          <a:noFill/>
          <a:ln/>
        </p:spPr>
        <p:txBody>
          <a:bodyPr wrap="square" lIns="0" tIns="0" rIns="0" bIns="0" rtlCol="0" anchor="ctr"/>
          <a:lstStyle/>
          <a:p>
            <a:pPr indent="0" marL="0">
              <a:buNone/>
            </a:pPr>
            <a:r>
              <a:rPr lang="en-US" sz="1100" dirty="0">
                <a:solidFill>
                  <a:srgbClr val="C0D0DC"/>
                </a:solidFill>
                <a:latin typeface="Calibri" pitchFamily="34" charset="0"/>
                <a:ea typeface="Calibri" pitchFamily="34" charset="-122"/>
                <a:cs typeface="Calibri" pitchFamily="34" charset="-120"/>
              </a:rPr>
              <a:t>(1) Persistence: SPIFFE IDs survive IP, restart, and rescheduling changes. (2) Non-self-healing: a trust domain error cannot be auto-rotated away — it requires an operator YAML change. (3) Silent detectability: no error is surfaced to the application layer; only audit log inspection reveals the fault.</a:t>
            </a:r>
            <a:endParaRPr lang="en-US" sz="1100" dirty="0"/>
          </a:p>
        </p:txBody>
      </p:sp>
      <p:sp>
        <p:nvSpPr>
          <p:cNvPr id="14" name="Shape 12"/>
          <p:cNvSpPr/>
          <p:nvPr/>
        </p:nvSpPr>
        <p:spPr>
          <a:xfrm>
            <a:off x="320040" y="3063240"/>
            <a:ext cx="4114800" cy="1508760"/>
          </a:xfrm>
          <a:prstGeom prst="rect">
            <a:avLst/>
          </a:prstGeom>
          <a:solidFill>
            <a:srgbClr val="0F243B"/>
          </a:solidFill>
          <a:ln/>
          <a:effectLst>
            <a:outerShdw sx="100000" sy="100000" kx="0" ky="0" algn="bl" rotWithShape="0" blurRad="101600" dist="38100" dir="8100000">
              <a:srgbClr val="000000">
                <a:alpha val="12000"/>
              </a:srgbClr>
            </a:outerShdw>
          </a:effectLst>
        </p:spPr>
      </p:sp>
      <p:sp>
        <p:nvSpPr>
          <p:cNvPr id="15" name="Shape 13"/>
          <p:cNvSpPr/>
          <p:nvPr/>
        </p:nvSpPr>
        <p:spPr>
          <a:xfrm>
            <a:off x="320040" y="3063240"/>
            <a:ext cx="502920" cy="1508760"/>
          </a:xfrm>
          <a:prstGeom prst="rect">
            <a:avLst/>
          </a:prstGeom>
          <a:solidFill>
            <a:srgbClr val="1C7293"/>
          </a:solidFill>
          <a:ln/>
        </p:spPr>
      </p:sp>
      <p:sp>
        <p:nvSpPr>
          <p:cNvPr id="16" name="Text 14"/>
          <p:cNvSpPr/>
          <p:nvPr/>
        </p:nvSpPr>
        <p:spPr>
          <a:xfrm>
            <a:off x="320040" y="35661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17" name="Text 15"/>
          <p:cNvSpPr/>
          <p:nvPr/>
        </p:nvSpPr>
        <p:spPr>
          <a:xfrm>
            <a:off x="914400" y="3136392"/>
            <a:ext cx="3383280" cy="41148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Simulation evidence</a:t>
            </a:r>
            <a:endParaRPr lang="en-US" sz="1300" dirty="0"/>
          </a:p>
        </p:txBody>
      </p:sp>
      <p:sp>
        <p:nvSpPr>
          <p:cNvPr id="18" name="Text 16"/>
          <p:cNvSpPr/>
          <p:nvPr/>
        </p:nvSpPr>
        <p:spPr>
          <a:xfrm>
            <a:off x="914400" y="3593592"/>
            <a:ext cx="3383280" cy="896112"/>
          </a:xfrm>
          <a:prstGeom prst="rect">
            <a:avLst/>
          </a:prstGeom>
          <a:noFill/>
          <a:ln/>
        </p:spPr>
        <p:txBody>
          <a:bodyPr wrap="square" lIns="0" tIns="0" rIns="0" bIns="0" rtlCol="0" anchor="ctr"/>
          <a:lstStyle/>
          <a:p>
            <a:pPr indent="0" marL="0">
              <a:buNone/>
            </a:pPr>
            <a:r>
              <a:rPr lang="en-US" sz="1100" dirty="0">
                <a:solidFill>
                  <a:srgbClr val="C0D0DC"/>
                </a:solidFill>
                <a:latin typeface="Calibri" pitchFamily="34" charset="0"/>
                <a:ea typeface="Calibri" pitchFamily="34" charset="-122"/>
                <a:cs typeface="Calibri" pitchFamily="34" charset="-120"/>
              </a:rPr>
              <a:t>The Docker-based simulation (3 containers, pure Python cryptography library) reproduces all three failure classes. Scenario 1 confirms correct identity flow. Scenario 2 demonstrates rotation gap as a timed outage. Scenario 3 demonstrates that sidecar bypass produces a 200 OK with null identity — the attacker's success is invisible to the application.</a:t>
            </a:r>
            <a:endParaRPr lang="en-US" sz="1100" dirty="0"/>
          </a:p>
        </p:txBody>
      </p:sp>
      <p:sp>
        <p:nvSpPr>
          <p:cNvPr id="19" name="Shape 17"/>
          <p:cNvSpPr/>
          <p:nvPr/>
        </p:nvSpPr>
        <p:spPr>
          <a:xfrm>
            <a:off x="4709160" y="3063240"/>
            <a:ext cx="4114800" cy="1508760"/>
          </a:xfrm>
          <a:prstGeom prst="rect">
            <a:avLst/>
          </a:prstGeom>
          <a:solidFill>
            <a:srgbClr val="0F243B"/>
          </a:solidFill>
          <a:ln/>
          <a:effectLst>
            <a:outerShdw sx="100000" sy="100000" kx="0" ky="0" algn="bl" rotWithShape="0" blurRad="101600" dist="38100" dir="8100000">
              <a:srgbClr val="000000">
                <a:alpha val="12000"/>
              </a:srgbClr>
            </a:outerShdw>
          </a:effectLst>
        </p:spPr>
      </p:sp>
      <p:sp>
        <p:nvSpPr>
          <p:cNvPr id="20" name="Shape 18"/>
          <p:cNvSpPr/>
          <p:nvPr/>
        </p:nvSpPr>
        <p:spPr>
          <a:xfrm>
            <a:off x="4709160" y="3063240"/>
            <a:ext cx="502920" cy="1508760"/>
          </a:xfrm>
          <a:prstGeom prst="rect">
            <a:avLst/>
          </a:prstGeom>
          <a:solidFill>
            <a:srgbClr val="0D9488"/>
          </a:solidFill>
          <a:ln/>
        </p:spPr>
      </p:sp>
      <p:sp>
        <p:nvSpPr>
          <p:cNvPr id="21" name="Text 19"/>
          <p:cNvSpPr/>
          <p:nvPr/>
        </p:nvSpPr>
        <p:spPr>
          <a:xfrm>
            <a:off x="4709160" y="35661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22" name="Text 20"/>
          <p:cNvSpPr/>
          <p:nvPr/>
        </p:nvSpPr>
        <p:spPr>
          <a:xfrm>
            <a:off x="5303520" y="3136392"/>
            <a:ext cx="3383280" cy="41148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Single defensible contribution</a:t>
            </a:r>
            <a:endParaRPr lang="en-US" sz="1300" dirty="0"/>
          </a:p>
        </p:txBody>
      </p:sp>
      <p:sp>
        <p:nvSpPr>
          <p:cNvPr id="23" name="Text 21"/>
          <p:cNvSpPr/>
          <p:nvPr/>
        </p:nvSpPr>
        <p:spPr>
          <a:xfrm>
            <a:off x="5303520" y="3593592"/>
            <a:ext cx="3383280" cy="896112"/>
          </a:xfrm>
          <a:prstGeom prst="rect">
            <a:avLst/>
          </a:prstGeom>
          <a:noFill/>
          <a:ln/>
        </p:spPr>
        <p:txBody>
          <a:bodyPr wrap="square" lIns="0" tIns="0" rIns="0" bIns="0" rtlCol="0" anchor="ctr"/>
          <a:lstStyle/>
          <a:p>
            <a:pPr indent="0" marL="0">
              <a:buNone/>
            </a:pPr>
            <a:r>
              <a:rPr lang="en-US" sz="1100" dirty="0">
                <a:solidFill>
                  <a:srgbClr val="C0D0DC"/>
                </a:solidFill>
                <a:latin typeface="Calibri" pitchFamily="34" charset="0"/>
                <a:ea typeface="Calibri" pitchFamily="34" charset="-122"/>
                <a:cs typeface="Calibri" pitchFamily="34" charset="-120"/>
              </a:rPr>
              <a:t>This work demonstrates, via controlled simulation, that trust domain naming errors are (a) silent, (b) non-self-healing, and (c) unaddressed by NIST SP 800-207A — and proposes CI-layer linting as the minimum viable mitigation. This is a falsifiable, bounded claim.</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indent="0" marL="0">
              <a:buNone/>
            </a:pPr>
            <a:r>
              <a:rPr lang="en-US" sz="2800" b="1" dirty="0">
                <a:solidFill>
                  <a:srgbClr val="0B1E3F"/>
                </a:solidFill>
                <a:latin typeface="Calibri" pitchFamily="34" charset="0"/>
                <a:ea typeface="Calibri" pitchFamily="34" charset="-122"/>
                <a:cs typeface="Calibri" pitchFamily="34" charset="-120"/>
              </a:rPr>
              <a:t>Open Questions &amp; Research Directions</a:t>
            </a:r>
            <a:endParaRPr lang="en-US" sz="2800" dirty="0"/>
          </a:p>
        </p:txBody>
      </p:sp>
      <p:sp>
        <p:nvSpPr>
          <p:cNvPr id="3" name="Shape 1"/>
          <p:cNvSpPr/>
          <p:nvPr/>
        </p:nvSpPr>
        <p:spPr>
          <a:xfrm>
            <a:off x="320040" y="1005840"/>
            <a:ext cx="8503920" cy="86868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4" name="Shape 2"/>
          <p:cNvSpPr/>
          <p:nvPr/>
        </p:nvSpPr>
        <p:spPr>
          <a:xfrm>
            <a:off x="320040" y="1005840"/>
            <a:ext cx="594360" cy="868680"/>
          </a:xfrm>
          <a:prstGeom prst="rect">
            <a:avLst/>
          </a:prstGeom>
          <a:solidFill>
            <a:srgbClr val="21295C"/>
          </a:solidFill>
          <a:ln/>
        </p:spPr>
      </p:sp>
      <p:pic>
        <p:nvPicPr>
          <p:cNvPr id="5" name="Image 0" descr="preencoded.png"/>
          <p:cNvPicPr>
            <a:picLocks noChangeAspect="1"/>
          </p:cNvPicPr>
          <p:nvPr/>
        </p:nvPicPr>
        <p:blipFill>
          <a:blip r:embed="rId1"/>
          <a:stretch>
            <a:fillRect/>
          </a:stretch>
        </p:blipFill>
        <p:spPr>
          <a:xfrm>
            <a:off x="411480" y="1207008"/>
            <a:ext cx="384048" cy="384048"/>
          </a:xfrm>
          <a:prstGeom prst="rect">
            <a:avLst/>
          </a:prstGeom>
        </p:spPr>
      </p:pic>
      <p:sp>
        <p:nvSpPr>
          <p:cNvPr id="6" name="Text 3"/>
          <p:cNvSpPr/>
          <p:nvPr/>
        </p:nvSpPr>
        <p:spPr>
          <a:xfrm>
            <a:off x="1005840" y="1060704"/>
            <a:ext cx="7680960" cy="292608"/>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Post-quantum SVID signatures</a:t>
            </a:r>
            <a:endParaRPr lang="en-US" sz="1400" dirty="0"/>
          </a:p>
        </p:txBody>
      </p:sp>
      <p:sp>
        <p:nvSpPr>
          <p:cNvPr id="7" name="Text 4"/>
          <p:cNvSpPr/>
          <p:nvPr/>
        </p:nvSpPr>
        <p:spPr>
          <a:xfrm>
            <a:off x="1005840" y="1389888"/>
            <a:ext cx="768096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SPIFFE specifies the identity format; the signature algorithm is separate. How should trust bundles transition when NIST finalises PQC standards (FIPS 203/204)?</a:t>
            </a:r>
            <a:endParaRPr lang="en-US" sz="1100" dirty="0"/>
          </a:p>
        </p:txBody>
      </p:sp>
      <p:sp>
        <p:nvSpPr>
          <p:cNvPr id="8" name="Shape 5"/>
          <p:cNvSpPr/>
          <p:nvPr/>
        </p:nvSpPr>
        <p:spPr>
          <a:xfrm>
            <a:off x="320040" y="2011680"/>
            <a:ext cx="8503920" cy="86868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9" name="Shape 6"/>
          <p:cNvSpPr/>
          <p:nvPr/>
        </p:nvSpPr>
        <p:spPr>
          <a:xfrm>
            <a:off x="320040" y="2011680"/>
            <a:ext cx="594360" cy="868680"/>
          </a:xfrm>
          <a:prstGeom prst="rect">
            <a:avLst/>
          </a:prstGeom>
          <a:solidFill>
            <a:srgbClr val="065A82"/>
          </a:solidFill>
          <a:ln/>
        </p:spPr>
      </p:sp>
      <p:pic>
        <p:nvPicPr>
          <p:cNvPr id="10" name="Image 1" descr="preencoded.png"/>
          <p:cNvPicPr>
            <a:picLocks noChangeAspect="1"/>
          </p:cNvPicPr>
          <p:nvPr/>
        </p:nvPicPr>
        <p:blipFill>
          <a:blip r:embed="rId2"/>
          <a:stretch>
            <a:fillRect/>
          </a:stretch>
        </p:blipFill>
        <p:spPr>
          <a:xfrm>
            <a:off x="411480" y="2212848"/>
            <a:ext cx="384048" cy="384048"/>
          </a:xfrm>
          <a:prstGeom prst="rect">
            <a:avLst/>
          </a:prstGeom>
        </p:spPr>
      </p:pic>
      <p:sp>
        <p:nvSpPr>
          <p:cNvPr id="11" name="Text 7"/>
          <p:cNvSpPr/>
          <p:nvPr/>
        </p:nvSpPr>
        <p:spPr>
          <a:xfrm>
            <a:off x="1005840" y="2066544"/>
            <a:ext cx="7680960" cy="292608"/>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Federated revocation</a:t>
            </a:r>
            <a:endParaRPr lang="en-US" sz="1400" dirty="0"/>
          </a:p>
        </p:txBody>
      </p:sp>
      <p:sp>
        <p:nvSpPr>
          <p:cNvPr id="12" name="Text 8"/>
          <p:cNvSpPr/>
          <p:nvPr/>
        </p:nvSpPr>
        <p:spPr>
          <a:xfrm>
            <a:off x="1005840" y="2395728"/>
            <a:ext cx="768096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SPIFFE SVIDs rely on TTL expiry for revocation. In a 50-domain federation, how do you propagate an emergency revocation across all trust domains before the 1-hour TTL expires?</a:t>
            </a:r>
            <a:endParaRPr lang="en-US" sz="1100" dirty="0"/>
          </a:p>
        </p:txBody>
      </p:sp>
      <p:sp>
        <p:nvSpPr>
          <p:cNvPr id="13" name="Shape 9"/>
          <p:cNvSpPr/>
          <p:nvPr/>
        </p:nvSpPr>
        <p:spPr>
          <a:xfrm>
            <a:off x="320040" y="3017520"/>
            <a:ext cx="8503920" cy="86868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14" name="Shape 10"/>
          <p:cNvSpPr/>
          <p:nvPr/>
        </p:nvSpPr>
        <p:spPr>
          <a:xfrm>
            <a:off x="320040" y="3017520"/>
            <a:ext cx="594360" cy="868680"/>
          </a:xfrm>
          <a:prstGeom prst="rect">
            <a:avLst/>
          </a:prstGeom>
          <a:solidFill>
            <a:srgbClr val="1C7293"/>
          </a:solidFill>
          <a:ln/>
        </p:spPr>
      </p:sp>
      <p:pic>
        <p:nvPicPr>
          <p:cNvPr id="15" name="Image 2" descr="preencoded.png"/>
          <p:cNvPicPr>
            <a:picLocks noChangeAspect="1"/>
          </p:cNvPicPr>
          <p:nvPr/>
        </p:nvPicPr>
        <p:blipFill>
          <a:blip r:embed="rId3"/>
          <a:stretch>
            <a:fillRect/>
          </a:stretch>
        </p:blipFill>
        <p:spPr>
          <a:xfrm>
            <a:off x="411480" y="3218688"/>
            <a:ext cx="384048" cy="384048"/>
          </a:xfrm>
          <a:prstGeom prst="rect">
            <a:avLst/>
          </a:prstGeom>
        </p:spPr>
      </p:pic>
      <p:sp>
        <p:nvSpPr>
          <p:cNvPr id="16" name="Text 11"/>
          <p:cNvSpPr/>
          <p:nvPr/>
        </p:nvSpPr>
        <p:spPr>
          <a:xfrm>
            <a:off x="1005840" y="3072384"/>
            <a:ext cx="7680960" cy="292608"/>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Policy-as-code for SPIFFE ID authZ</a:t>
            </a:r>
            <a:endParaRPr lang="en-US" sz="1400" dirty="0"/>
          </a:p>
        </p:txBody>
      </p:sp>
      <p:sp>
        <p:nvSpPr>
          <p:cNvPr id="17" name="Text 12"/>
          <p:cNvSpPr/>
          <p:nvPr/>
        </p:nvSpPr>
        <p:spPr>
          <a:xfrm>
            <a:off x="1005840" y="3401568"/>
            <a:ext cx="768096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OPA/Rego can enforce policy against SPIFFE IDs but cannot inspect attestation selectors. A richer policy interface that exposes the attestation chain would enable stronger guarantees.</a:t>
            </a:r>
            <a:endParaRPr lang="en-US" sz="1100" dirty="0"/>
          </a:p>
        </p:txBody>
      </p:sp>
      <p:sp>
        <p:nvSpPr>
          <p:cNvPr id="18" name="Shape 13"/>
          <p:cNvSpPr/>
          <p:nvPr/>
        </p:nvSpPr>
        <p:spPr>
          <a:xfrm>
            <a:off x="320040" y="4023360"/>
            <a:ext cx="8503920" cy="86868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19" name="Shape 14"/>
          <p:cNvSpPr/>
          <p:nvPr/>
        </p:nvSpPr>
        <p:spPr>
          <a:xfrm>
            <a:off x="320040" y="4023360"/>
            <a:ext cx="594360" cy="868680"/>
          </a:xfrm>
          <a:prstGeom prst="rect">
            <a:avLst/>
          </a:prstGeom>
          <a:solidFill>
            <a:srgbClr val="0D9488"/>
          </a:solidFill>
          <a:ln/>
        </p:spPr>
      </p:sp>
      <p:pic>
        <p:nvPicPr>
          <p:cNvPr id="20" name="Image 3" descr="preencoded.png"/>
          <p:cNvPicPr>
            <a:picLocks noChangeAspect="1"/>
          </p:cNvPicPr>
          <p:nvPr/>
        </p:nvPicPr>
        <p:blipFill>
          <a:blip r:embed="rId4"/>
          <a:stretch>
            <a:fillRect/>
          </a:stretch>
        </p:blipFill>
        <p:spPr>
          <a:xfrm>
            <a:off x="411480" y="4224528"/>
            <a:ext cx="384048" cy="384048"/>
          </a:xfrm>
          <a:prstGeom prst="rect">
            <a:avLst/>
          </a:prstGeom>
        </p:spPr>
      </p:pic>
      <p:sp>
        <p:nvSpPr>
          <p:cNvPr id="21" name="Text 15"/>
          <p:cNvSpPr/>
          <p:nvPr/>
        </p:nvSpPr>
        <p:spPr>
          <a:xfrm>
            <a:off x="1005840" y="4078224"/>
            <a:ext cx="7680960" cy="292608"/>
          </a:xfrm>
          <a:prstGeom prst="rect">
            <a:avLst/>
          </a:prstGeom>
          <a:noFill/>
          <a:ln/>
        </p:spPr>
        <p:txBody>
          <a:bodyPr wrap="square" lIns="0" tIns="0" rIns="0" bIns="0" rtlCol="0" anchor="ctr"/>
          <a:lstStyle/>
          <a:p>
            <a:pPr indent="0" marL="0">
              <a:buNone/>
            </a:pPr>
            <a:r>
              <a:rPr lang="en-US" sz="1400" b="1" dirty="0">
                <a:solidFill>
                  <a:srgbClr val="0D9488"/>
                </a:solidFill>
                <a:latin typeface="Calibri" pitchFamily="34" charset="0"/>
                <a:ea typeface="Calibri" pitchFamily="34" charset="-122"/>
                <a:cs typeface="Calibri" pitchFamily="34" charset="-120"/>
              </a:rPr>
              <a:t>Serverless &amp; eBPF attestation</a:t>
            </a:r>
            <a:endParaRPr lang="en-US" sz="1400" dirty="0"/>
          </a:p>
        </p:txBody>
      </p:sp>
      <p:sp>
        <p:nvSpPr>
          <p:cNvPr id="22" name="Text 16"/>
          <p:cNvSpPr/>
          <p:nvPr/>
        </p:nvSpPr>
        <p:spPr>
          <a:xfrm>
            <a:off x="1005840" y="4407408"/>
            <a:ext cx="768096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Function-as-a-service workloads have no long-lived process for the SPIRE agent to observe. eBPF-based attestation is an open research area — can it provide SPIFFE-compatible identities for ephemeral functions?</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E3F"/>
        </a:solidFill>
      </p:bgPr>
    </p:bg>
    <p:spTree>
      <p:nvGrpSpPr>
        <p:cNvPr id="1" name=""/>
        <p:cNvGrpSpPr/>
        <p:nvPr/>
      </p:nvGrpSpPr>
      <p:grpSpPr>
        <a:xfrm>
          <a:off x="0" y="0"/>
          <a:ext cx="0" cy="0"/>
          <a:chOff x="0" y="0"/>
          <a:chExt cx="0" cy="0"/>
        </a:xfrm>
      </p:grpSpPr>
      <p:sp>
        <p:nvSpPr>
          <p:cNvPr id="2" name="Shape 0"/>
          <p:cNvSpPr/>
          <p:nvPr/>
        </p:nvSpPr>
        <p:spPr>
          <a:xfrm>
            <a:off x="6858000" y="-731520"/>
            <a:ext cx="3200400" cy="3200400"/>
          </a:xfrm>
          <a:prstGeom prst="ellipse">
            <a:avLst/>
          </a:prstGeom>
          <a:solidFill>
            <a:srgbClr val="065A82">
              <a:alpha val="25000"/>
            </a:srgbClr>
          </a:solidFill>
          <a:ln/>
        </p:spPr>
      </p:sp>
      <p:sp>
        <p:nvSpPr>
          <p:cNvPr id="3" name="Shape 1"/>
          <p:cNvSpPr/>
          <p:nvPr/>
        </p:nvSpPr>
        <p:spPr>
          <a:xfrm>
            <a:off x="7498080" y="1371600"/>
            <a:ext cx="1828800" cy="1828800"/>
          </a:xfrm>
          <a:prstGeom prst="ellipse">
            <a:avLst/>
          </a:prstGeom>
          <a:solidFill>
            <a:srgbClr val="1C7293">
              <a:alpha val="35000"/>
            </a:srgbClr>
          </a:solidFill>
          <a:ln/>
        </p:spPr>
      </p:sp>
      <p:sp>
        <p:nvSpPr>
          <p:cNvPr id="4" name="Shape 2"/>
          <p:cNvSpPr/>
          <p:nvPr/>
        </p:nvSpPr>
        <p:spPr>
          <a:xfrm>
            <a:off x="0" y="0"/>
            <a:ext cx="164592" cy="5143500"/>
          </a:xfrm>
          <a:prstGeom prst="rect">
            <a:avLst/>
          </a:prstGeom>
          <a:solidFill>
            <a:srgbClr val="1C7293"/>
          </a:solidFill>
          <a:ln/>
        </p:spPr>
      </p:sp>
      <p:pic>
        <p:nvPicPr>
          <p:cNvPr id="5" name="Image 0" descr="preencoded.png"/>
          <p:cNvPicPr>
            <a:picLocks noChangeAspect="1"/>
          </p:cNvPicPr>
          <p:nvPr/>
        </p:nvPicPr>
        <p:blipFill>
          <a:blip r:embed="rId1"/>
          <a:stretch>
            <a:fillRect/>
          </a:stretch>
        </p:blipFill>
        <p:spPr>
          <a:xfrm>
            <a:off x="457200" y="320040"/>
            <a:ext cx="914400" cy="914400"/>
          </a:xfrm>
          <a:prstGeom prst="rect">
            <a:avLst/>
          </a:prstGeom>
        </p:spPr>
      </p:pic>
      <p:sp>
        <p:nvSpPr>
          <p:cNvPr id="6" name="Text 3"/>
          <p:cNvSpPr/>
          <p:nvPr/>
        </p:nvSpPr>
        <p:spPr>
          <a:xfrm>
            <a:off x="365760" y="1371600"/>
            <a:ext cx="5943600" cy="50292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Key Takeaways</a:t>
            </a:r>
            <a:endParaRPr lang="en-US" sz="3200" dirty="0"/>
          </a:p>
        </p:txBody>
      </p:sp>
      <p:sp>
        <p:nvSpPr>
          <p:cNvPr id="7" name="Shape 4"/>
          <p:cNvSpPr/>
          <p:nvPr/>
        </p:nvSpPr>
        <p:spPr>
          <a:xfrm>
            <a:off x="347472" y="2057400"/>
            <a:ext cx="8046720" cy="475488"/>
          </a:xfrm>
          <a:prstGeom prst="rect">
            <a:avLst/>
          </a:prstGeom>
          <a:solidFill>
            <a:srgbClr val="0F243B"/>
          </a:solidFill>
          <a:ln/>
        </p:spPr>
      </p:sp>
      <p:sp>
        <p:nvSpPr>
          <p:cNvPr id="8" name="Shape 5"/>
          <p:cNvSpPr/>
          <p:nvPr/>
        </p:nvSpPr>
        <p:spPr>
          <a:xfrm>
            <a:off x="347472" y="2057400"/>
            <a:ext cx="91440" cy="475488"/>
          </a:xfrm>
          <a:prstGeom prst="rect">
            <a:avLst/>
          </a:prstGeom>
          <a:solidFill>
            <a:srgbClr val="0D9488"/>
          </a:solidFill>
          <a:ln/>
        </p:spPr>
      </p:sp>
      <p:sp>
        <p:nvSpPr>
          <p:cNvPr id="9" name="Text 6"/>
          <p:cNvSpPr/>
          <p:nvPr/>
        </p:nvSpPr>
        <p:spPr>
          <a:xfrm>
            <a:off x="530352" y="2103120"/>
            <a:ext cx="777240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SPIFFE/SPIRE solves the identity gap BeyondCorp left open — workload-to-workload, at scale, across clouds.</a:t>
            </a:r>
            <a:endParaRPr lang="en-US" sz="1200" dirty="0"/>
          </a:p>
        </p:txBody>
      </p:sp>
      <p:sp>
        <p:nvSpPr>
          <p:cNvPr id="10" name="Shape 7"/>
          <p:cNvSpPr/>
          <p:nvPr/>
        </p:nvSpPr>
        <p:spPr>
          <a:xfrm>
            <a:off x="347472" y="2624328"/>
            <a:ext cx="8046720" cy="475488"/>
          </a:xfrm>
          <a:prstGeom prst="rect">
            <a:avLst/>
          </a:prstGeom>
          <a:solidFill>
            <a:srgbClr val="0F243B"/>
          </a:solidFill>
          <a:ln/>
        </p:spPr>
      </p:sp>
      <p:sp>
        <p:nvSpPr>
          <p:cNvPr id="11" name="Shape 8"/>
          <p:cNvSpPr/>
          <p:nvPr/>
        </p:nvSpPr>
        <p:spPr>
          <a:xfrm>
            <a:off x="347472" y="2624328"/>
            <a:ext cx="91440" cy="475488"/>
          </a:xfrm>
          <a:prstGeom prst="rect">
            <a:avLst/>
          </a:prstGeom>
          <a:solidFill>
            <a:srgbClr val="0D9488"/>
          </a:solidFill>
          <a:ln/>
        </p:spPr>
      </p:sp>
      <p:sp>
        <p:nvSpPr>
          <p:cNvPr id="12" name="Text 9"/>
          <p:cNvSpPr/>
          <p:nvPr/>
        </p:nvSpPr>
        <p:spPr>
          <a:xfrm>
            <a:off x="530352" y="2670048"/>
            <a:ext cx="777240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The dominant failure surface is naming, not cryptography. Trust domain hygiene must be enforced in CI.</a:t>
            </a:r>
            <a:endParaRPr lang="en-US" sz="1200" dirty="0"/>
          </a:p>
        </p:txBody>
      </p:sp>
      <p:sp>
        <p:nvSpPr>
          <p:cNvPr id="13" name="Shape 10"/>
          <p:cNvSpPr/>
          <p:nvPr/>
        </p:nvSpPr>
        <p:spPr>
          <a:xfrm>
            <a:off x="347472" y="3191256"/>
            <a:ext cx="8046720" cy="475488"/>
          </a:xfrm>
          <a:prstGeom prst="rect">
            <a:avLst/>
          </a:prstGeom>
          <a:solidFill>
            <a:srgbClr val="0F243B"/>
          </a:solidFill>
          <a:ln/>
        </p:spPr>
      </p:sp>
      <p:sp>
        <p:nvSpPr>
          <p:cNvPr id="14" name="Shape 11"/>
          <p:cNvSpPr/>
          <p:nvPr/>
        </p:nvSpPr>
        <p:spPr>
          <a:xfrm>
            <a:off x="347472" y="3191256"/>
            <a:ext cx="91440" cy="475488"/>
          </a:xfrm>
          <a:prstGeom prst="rect">
            <a:avLst/>
          </a:prstGeom>
          <a:solidFill>
            <a:srgbClr val="0D9488"/>
          </a:solidFill>
          <a:ln/>
        </p:spPr>
      </p:sp>
      <p:sp>
        <p:nvSpPr>
          <p:cNvPr id="15" name="Text 12"/>
          <p:cNvSpPr/>
          <p:nvPr/>
        </p:nvSpPr>
        <p:spPr>
          <a:xfrm>
            <a:off x="530352" y="3236976"/>
            <a:ext cx="777240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Short-lived credentials (1h TTL) shift the security model from perimeter to identity — but only if rotation is fault-tolerant.</a:t>
            </a:r>
            <a:endParaRPr lang="en-US" sz="1200" dirty="0"/>
          </a:p>
        </p:txBody>
      </p:sp>
      <p:sp>
        <p:nvSpPr>
          <p:cNvPr id="16" name="Shape 13"/>
          <p:cNvSpPr/>
          <p:nvPr/>
        </p:nvSpPr>
        <p:spPr>
          <a:xfrm>
            <a:off x="347472" y="3758184"/>
            <a:ext cx="8046720" cy="475488"/>
          </a:xfrm>
          <a:prstGeom prst="rect">
            <a:avLst/>
          </a:prstGeom>
          <a:solidFill>
            <a:srgbClr val="0F243B"/>
          </a:solidFill>
          <a:ln/>
        </p:spPr>
      </p:sp>
      <p:sp>
        <p:nvSpPr>
          <p:cNvPr id="17" name="Shape 14"/>
          <p:cNvSpPr/>
          <p:nvPr/>
        </p:nvSpPr>
        <p:spPr>
          <a:xfrm>
            <a:off x="347472" y="3758184"/>
            <a:ext cx="91440" cy="475488"/>
          </a:xfrm>
          <a:prstGeom prst="rect">
            <a:avLst/>
          </a:prstGeom>
          <a:solidFill>
            <a:srgbClr val="0D9488"/>
          </a:solidFill>
          <a:ln/>
        </p:spPr>
      </p:sp>
      <p:sp>
        <p:nvSpPr>
          <p:cNvPr id="18" name="Text 15"/>
          <p:cNvSpPr/>
          <p:nvPr/>
        </p:nvSpPr>
        <p:spPr>
          <a:xfrm>
            <a:off x="530352" y="3803904"/>
            <a:ext cx="777240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NIST SP 800-207A formally anchors SPIFFE in the standards landscape — giving industry a compliance pathway.</a:t>
            </a:r>
            <a:endParaRPr lang="en-US" sz="1200" dirty="0"/>
          </a:p>
        </p:txBody>
      </p:sp>
      <p:sp>
        <p:nvSpPr>
          <p:cNvPr id="19" name="Shape 16"/>
          <p:cNvSpPr/>
          <p:nvPr/>
        </p:nvSpPr>
        <p:spPr>
          <a:xfrm>
            <a:off x="347472" y="4325112"/>
            <a:ext cx="8046720" cy="475488"/>
          </a:xfrm>
          <a:prstGeom prst="rect">
            <a:avLst/>
          </a:prstGeom>
          <a:solidFill>
            <a:srgbClr val="0F243B"/>
          </a:solidFill>
          <a:ln/>
        </p:spPr>
      </p:sp>
      <p:sp>
        <p:nvSpPr>
          <p:cNvPr id="20" name="Shape 17"/>
          <p:cNvSpPr/>
          <p:nvPr/>
        </p:nvSpPr>
        <p:spPr>
          <a:xfrm>
            <a:off x="347472" y="4325112"/>
            <a:ext cx="91440" cy="475488"/>
          </a:xfrm>
          <a:prstGeom prst="rect">
            <a:avLst/>
          </a:prstGeom>
          <a:solidFill>
            <a:srgbClr val="0D9488"/>
          </a:solidFill>
          <a:ln/>
        </p:spPr>
      </p:sp>
      <p:sp>
        <p:nvSpPr>
          <p:cNvPr id="21" name="Text 18"/>
          <p:cNvSpPr/>
          <p:nvPr/>
        </p:nvSpPr>
        <p:spPr>
          <a:xfrm>
            <a:off x="530352" y="4370832"/>
            <a:ext cx="777240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Attestation evidence should be a first-class policy input, not an implementation detail hidden behind the SPIFFE ID.</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indent="0" marL="0">
              <a:buNone/>
            </a:pPr>
            <a:r>
              <a:rPr lang="en-US" sz="3000" b="1" dirty="0">
                <a:solidFill>
                  <a:srgbClr val="0B1E3F"/>
                </a:solidFill>
                <a:latin typeface="Calibri" pitchFamily="34" charset="0"/>
                <a:ea typeface="Calibri" pitchFamily="34" charset="-122"/>
                <a:cs typeface="Calibri" pitchFamily="34" charset="-120"/>
              </a:rPr>
              <a:t>Research Gap</a:t>
            </a:r>
            <a:endParaRPr lang="en-US" sz="3000" dirty="0"/>
          </a:p>
        </p:txBody>
      </p:sp>
      <p:sp>
        <p:nvSpPr>
          <p:cNvPr id="3" name="Text 1"/>
          <p:cNvSpPr/>
          <p:nvPr/>
        </p:nvSpPr>
        <p:spPr>
          <a:xfrm>
            <a:off x="457200" y="685800"/>
            <a:ext cx="8229600" cy="27432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What the existing literature leaves unanswered</a:t>
            </a:r>
            <a:endParaRPr lang="en-US" sz="1300" dirty="0"/>
          </a:p>
        </p:txBody>
      </p:sp>
      <p:sp>
        <p:nvSpPr>
          <p:cNvPr id="4" name="Shape 2"/>
          <p:cNvSpPr/>
          <p:nvPr/>
        </p:nvSpPr>
        <p:spPr>
          <a:xfrm>
            <a:off x="320040" y="1097280"/>
            <a:ext cx="8503920" cy="82296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5" name="Shape 3"/>
          <p:cNvSpPr/>
          <p:nvPr/>
        </p:nvSpPr>
        <p:spPr>
          <a:xfrm>
            <a:off x="320040" y="1097280"/>
            <a:ext cx="1280160" cy="822960"/>
          </a:xfrm>
          <a:prstGeom prst="rect">
            <a:avLst/>
          </a:prstGeom>
          <a:solidFill>
            <a:srgbClr val="21295C"/>
          </a:solidFill>
          <a:ln/>
        </p:spPr>
      </p:sp>
      <p:sp>
        <p:nvSpPr>
          <p:cNvPr id="6" name="Text 4"/>
          <p:cNvSpPr/>
          <p:nvPr/>
        </p:nvSpPr>
        <p:spPr>
          <a:xfrm>
            <a:off x="411480" y="1207008"/>
            <a:ext cx="109728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Gap 1</a:t>
            </a:r>
            <a:endParaRPr lang="en-US" sz="1000" dirty="0"/>
          </a:p>
        </p:txBody>
      </p:sp>
      <p:sp>
        <p:nvSpPr>
          <p:cNvPr id="7" name="Text 5"/>
          <p:cNvSpPr/>
          <p:nvPr/>
        </p:nvSpPr>
        <p:spPr>
          <a:xfrm>
            <a:off x="1691640" y="1143000"/>
            <a:ext cx="6995160" cy="29260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Naming correctness is assumed, never studied</a:t>
            </a:r>
            <a:endParaRPr lang="en-US" sz="1300" dirty="0"/>
          </a:p>
        </p:txBody>
      </p:sp>
      <p:sp>
        <p:nvSpPr>
          <p:cNvPr id="8" name="Text 6"/>
          <p:cNvSpPr/>
          <p:nvPr/>
        </p:nvSpPr>
        <p:spPr>
          <a:xfrm>
            <a:off x="1691640" y="1481328"/>
            <a:ext cx="699516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Every reviewed paper treats SPIFFE IDs as correct by construction. None analyze the failure mode where the trust domain string itself is wrong. The research question this work opens: is a naming error detectable without out-of-band tooling?</a:t>
            </a:r>
            <a:endParaRPr lang="en-US" sz="1100" dirty="0"/>
          </a:p>
        </p:txBody>
      </p:sp>
      <p:sp>
        <p:nvSpPr>
          <p:cNvPr id="9" name="Shape 7"/>
          <p:cNvSpPr/>
          <p:nvPr/>
        </p:nvSpPr>
        <p:spPr>
          <a:xfrm>
            <a:off x="320040" y="2057400"/>
            <a:ext cx="8503920" cy="82296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10" name="Shape 8"/>
          <p:cNvSpPr/>
          <p:nvPr/>
        </p:nvSpPr>
        <p:spPr>
          <a:xfrm>
            <a:off x="320040" y="2057400"/>
            <a:ext cx="1280160" cy="822960"/>
          </a:xfrm>
          <a:prstGeom prst="rect">
            <a:avLst/>
          </a:prstGeom>
          <a:solidFill>
            <a:srgbClr val="065A82"/>
          </a:solidFill>
          <a:ln/>
        </p:spPr>
      </p:sp>
      <p:sp>
        <p:nvSpPr>
          <p:cNvPr id="11" name="Text 9"/>
          <p:cNvSpPr/>
          <p:nvPr/>
        </p:nvSpPr>
        <p:spPr>
          <a:xfrm>
            <a:off x="411480" y="2167128"/>
            <a:ext cx="109728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Gap 2</a:t>
            </a:r>
            <a:endParaRPr lang="en-US" sz="1000" dirty="0"/>
          </a:p>
        </p:txBody>
      </p:sp>
      <p:sp>
        <p:nvSpPr>
          <p:cNvPr id="12" name="Text 10"/>
          <p:cNvSpPr/>
          <p:nvPr/>
        </p:nvSpPr>
        <p:spPr>
          <a:xfrm>
            <a:off x="1691640" y="2103120"/>
            <a:ext cx="6995160" cy="29260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No taxonomy of operator-induced identity failures</a:t>
            </a:r>
            <a:endParaRPr lang="en-US" sz="1300" dirty="0"/>
          </a:p>
        </p:txBody>
      </p:sp>
      <p:sp>
        <p:nvSpPr>
          <p:cNvPr id="13" name="Text 11"/>
          <p:cNvSpPr/>
          <p:nvPr/>
        </p:nvSpPr>
        <p:spPr>
          <a:xfrm>
            <a:off x="1691640" y="2441448"/>
            <a:ext cx="699516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Failure taxonomy literature (USENIX, ACM, IEEE) classifies failures by attacker capability, not by operator error class. Trust domain misconfiguration is an operator failure, not an attacker action — it produces the same outcome (missing identity verification) with no adversary required.</a:t>
            </a:r>
            <a:endParaRPr lang="en-US" sz="1100" dirty="0"/>
          </a:p>
        </p:txBody>
      </p:sp>
      <p:sp>
        <p:nvSpPr>
          <p:cNvPr id="14" name="Shape 12"/>
          <p:cNvSpPr/>
          <p:nvPr/>
        </p:nvSpPr>
        <p:spPr>
          <a:xfrm>
            <a:off x="320040" y="3017520"/>
            <a:ext cx="8503920" cy="82296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15" name="Shape 13"/>
          <p:cNvSpPr/>
          <p:nvPr/>
        </p:nvSpPr>
        <p:spPr>
          <a:xfrm>
            <a:off x="320040" y="3017520"/>
            <a:ext cx="1280160" cy="822960"/>
          </a:xfrm>
          <a:prstGeom prst="rect">
            <a:avLst/>
          </a:prstGeom>
          <a:solidFill>
            <a:srgbClr val="1C7293"/>
          </a:solidFill>
          <a:ln/>
        </p:spPr>
      </p:sp>
      <p:sp>
        <p:nvSpPr>
          <p:cNvPr id="16" name="Text 14"/>
          <p:cNvSpPr/>
          <p:nvPr/>
        </p:nvSpPr>
        <p:spPr>
          <a:xfrm>
            <a:off x="411480" y="3127248"/>
            <a:ext cx="109728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Gap 3</a:t>
            </a:r>
            <a:endParaRPr lang="en-US" sz="1000" dirty="0"/>
          </a:p>
        </p:txBody>
      </p:sp>
      <p:sp>
        <p:nvSpPr>
          <p:cNvPr id="17" name="Text 15"/>
          <p:cNvSpPr/>
          <p:nvPr/>
        </p:nvSpPr>
        <p:spPr>
          <a:xfrm>
            <a:off x="1691640" y="3063240"/>
            <a:ext cx="6995160" cy="29260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Standards leave operational naming hygiene undefined</a:t>
            </a:r>
            <a:endParaRPr lang="en-US" sz="1300" dirty="0"/>
          </a:p>
        </p:txBody>
      </p:sp>
      <p:sp>
        <p:nvSpPr>
          <p:cNvPr id="18" name="Text 16"/>
          <p:cNvSpPr/>
          <p:nvPr/>
        </p:nvSpPr>
        <p:spPr>
          <a:xfrm>
            <a:off x="1691640" y="3401568"/>
            <a:ext cx="699516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NIST SP 800-207A mandates SVID-based workload identity but provides no normative guidance on trust domain naming conventions, CI validation of registration YAMLs, or alerting on bundle endpoint failures. This gap is the direct motivation for the mitigations framework in this work.</a:t>
            </a:r>
            <a:endParaRPr lang="en-US" sz="1100" dirty="0"/>
          </a:p>
        </p:txBody>
      </p:sp>
      <p:sp>
        <p:nvSpPr>
          <p:cNvPr id="19" name="Shape 17"/>
          <p:cNvSpPr/>
          <p:nvPr/>
        </p:nvSpPr>
        <p:spPr>
          <a:xfrm>
            <a:off x="320040" y="3977640"/>
            <a:ext cx="8503920" cy="822960"/>
          </a:xfrm>
          <a:prstGeom prst="rect">
            <a:avLst/>
          </a:prstGeom>
          <a:solidFill>
            <a:srgbClr val="F1F5F9"/>
          </a:solidFill>
          <a:ln/>
          <a:effectLst>
            <a:outerShdw sx="100000" sy="100000" kx="0" ky="0" algn="bl" rotWithShape="0" blurRad="101600" dist="38100" dir="8100000">
              <a:srgbClr val="000000">
                <a:alpha val="12000"/>
              </a:srgbClr>
            </a:outerShdw>
          </a:effectLst>
        </p:spPr>
      </p:sp>
      <p:sp>
        <p:nvSpPr>
          <p:cNvPr id="20" name="Shape 18"/>
          <p:cNvSpPr/>
          <p:nvPr/>
        </p:nvSpPr>
        <p:spPr>
          <a:xfrm>
            <a:off x="320040" y="3977640"/>
            <a:ext cx="1280160" cy="822960"/>
          </a:xfrm>
          <a:prstGeom prst="rect">
            <a:avLst/>
          </a:prstGeom>
          <a:solidFill>
            <a:srgbClr val="0D9488"/>
          </a:solidFill>
          <a:ln/>
        </p:spPr>
      </p:sp>
      <p:sp>
        <p:nvSpPr>
          <p:cNvPr id="21" name="Text 19"/>
          <p:cNvSpPr/>
          <p:nvPr/>
        </p:nvSpPr>
        <p:spPr>
          <a:xfrm>
            <a:off x="411480" y="4087368"/>
            <a:ext cx="109728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Thesis Gap</a:t>
            </a:r>
            <a:endParaRPr lang="en-US" sz="1000" dirty="0"/>
          </a:p>
        </p:txBody>
      </p:sp>
      <p:sp>
        <p:nvSpPr>
          <p:cNvPr id="22" name="Text 20"/>
          <p:cNvSpPr/>
          <p:nvPr/>
        </p:nvSpPr>
        <p:spPr>
          <a:xfrm>
            <a:off x="1691640" y="4023360"/>
            <a:ext cx="6995160" cy="29260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Naming as an unexamined failure surface</a:t>
            </a:r>
            <a:endParaRPr lang="en-US" sz="1300" dirty="0"/>
          </a:p>
        </p:txBody>
      </p:sp>
      <p:sp>
        <p:nvSpPr>
          <p:cNvPr id="23" name="Text 21"/>
          <p:cNvSpPr/>
          <p:nvPr/>
        </p:nvSpPr>
        <p:spPr>
          <a:xfrm>
            <a:off x="1691640" y="4361688"/>
            <a:ext cx="699516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No prior work positions trust domain naming as a distinct, systematically analyzable failure surface. This work is the first to: (1) isolate naming from crypto failures, (2) demonstrate via simulation that naming errors are silent, and (3) propose CI-layer mitigations.</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bg>
      <p:bgPr>
        <a:solidFill>
          <a:srgbClr val="0B1E3F"/>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Research Methodology</a:t>
            </a:r>
            <a:endParaRPr lang="en-US" sz="3000" dirty="0"/>
          </a:p>
        </p:txBody>
      </p:sp>
      <p:sp>
        <p:nvSpPr>
          <p:cNvPr id="3" name="Text 1"/>
          <p:cNvSpPr/>
          <p:nvPr/>
        </p:nvSpPr>
        <p:spPr>
          <a:xfrm>
            <a:off x="457200" y="713232"/>
            <a:ext cx="8229600" cy="365760"/>
          </a:xfrm>
          <a:prstGeom prst="rect">
            <a:avLst/>
          </a:prstGeom>
          <a:noFill/>
          <a:ln/>
        </p:spPr>
        <p:txBody>
          <a:bodyPr wrap="square" lIns="0" tIns="0" rIns="0" bIns="0" rtlCol="0" anchor="ctr"/>
          <a:lstStyle/>
          <a:p>
            <a:pPr indent="0" marL="0">
              <a:buNone/>
            </a:pPr>
            <a:r>
              <a:rPr lang="en-US" sz="1600" i="1" dirty="0">
                <a:solidFill>
                  <a:srgbClr val="D4A017"/>
                </a:solidFill>
                <a:latin typeface="Calibri" pitchFamily="34" charset="0"/>
                <a:ea typeface="Calibri" pitchFamily="34" charset="-122"/>
                <a:cs typeface="Calibri" pitchFamily="34" charset="-120"/>
              </a:rPr>
              <a:t>Controlled Simulation of SPIFFE/SPIRE Failure Classes</a:t>
            </a:r>
            <a:endParaRPr lang="en-US" sz="1600" dirty="0"/>
          </a:p>
        </p:txBody>
      </p:sp>
      <p:sp>
        <p:nvSpPr>
          <p:cNvPr id="4" name="Shape 2"/>
          <p:cNvSpPr/>
          <p:nvPr/>
        </p:nvSpPr>
        <p:spPr>
          <a:xfrm>
            <a:off x="320040" y="1325880"/>
            <a:ext cx="4114800" cy="1508760"/>
          </a:xfrm>
          <a:prstGeom prst="rect">
            <a:avLst/>
          </a:prstGeom>
          <a:solidFill>
            <a:srgbClr val="0F243B"/>
          </a:solidFill>
          <a:ln/>
          <a:effectLst>
            <a:outerShdw sx="100000" sy="100000" kx="0" ky="0" algn="bl" rotWithShape="0" blurRad="101600" dist="38100" dir="8100000">
              <a:srgbClr val="000000">
                <a:alpha val="12000"/>
              </a:srgbClr>
            </a:outerShdw>
          </a:effectLst>
        </p:spPr>
      </p:sp>
      <p:sp>
        <p:nvSpPr>
          <p:cNvPr id="5" name="Shape 3"/>
          <p:cNvSpPr/>
          <p:nvPr/>
        </p:nvSpPr>
        <p:spPr>
          <a:xfrm>
            <a:off x="320040" y="1325880"/>
            <a:ext cx="502920" cy="1508760"/>
          </a:xfrm>
          <a:prstGeom prst="rect">
            <a:avLst/>
          </a:prstGeom>
          <a:solidFill>
            <a:srgbClr val="21295C"/>
          </a:solidFill>
          <a:ln/>
        </p:spPr>
      </p:sp>
      <p:sp>
        <p:nvSpPr>
          <p:cNvPr id="6" name="Text 4"/>
          <p:cNvSpPr/>
          <p:nvPr/>
        </p:nvSpPr>
        <p:spPr>
          <a:xfrm>
            <a:off x="320040"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7" name="Text 5"/>
          <p:cNvSpPr/>
          <p:nvPr/>
        </p:nvSpPr>
        <p:spPr>
          <a:xfrm>
            <a:off x="914400" y="1399032"/>
            <a:ext cx="3383280" cy="41148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Instrument</a:t>
            </a:r>
            <a:endParaRPr lang="en-US" sz="1300" dirty="0"/>
          </a:p>
        </p:txBody>
      </p:sp>
      <p:sp>
        <p:nvSpPr>
          <p:cNvPr id="8" name="Text 6"/>
          <p:cNvSpPr/>
          <p:nvPr/>
        </p:nvSpPr>
        <p:spPr>
          <a:xfrm>
            <a:off x="914400" y="1856232"/>
            <a:ext cx="3383280" cy="896112"/>
          </a:xfrm>
          <a:prstGeom prst="rect">
            <a:avLst/>
          </a:prstGeom>
          <a:noFill/>
          <a:ln/>
        </p:spPr>
        <p:txBody>
          <a:bodyPr wrap="square" lIns="0" tIns="0" rIns="0" bIns="0" rtlCol="0" anchor="ctr"/>
          <a:lstStyle/>
          <a:p>
            <a:pPr indent="0" marL="0">
              <a:buNone/>
            </a:pPr>
            <a:r>
              <a:rPr lang="en-US" sz="1100" dirty="0">
                <a:solidFill>
                  <a:srgbClr val="C0D0DC"/>
                </a:solidFill>
                <a:latin typeface="Calibri" pitchFamily="34" charset="0"/>
                <a:ea typeface="Calibri" pitchFamily="34" charset="-122"/>
                <a:cs typeface="Calibri" pitchFamily="34" charset="-120"/>
              </a:rPr>
              <a:t>3-container Docker environment (SPIFFE CA, Service A, Service B). Pure Python cryptography library — no SPIRE binaries. Reproducible on any Docker host. Source available for examiner review.</a:t>
            </a:r>
            <a:endParaRPr lang="en-US" sz="1100" dirty="0"/>
          </a:p>
        </p:txBody>
      </p:sp>
      <p:sp>
        <p:nvSpPr>
          <p:cNvPr id="9" name="Shape 7"/>
          <p:cNvSpPr/>
          <p:nvPr/>
        </p:nvSpPr>
        <p:spPr>
          <a:xfrm>
            <a:off x="4709160" y="1325880"/>
            <a:ext cx="4114800" cy="1508760"/>
          </a:xfrm>
          <a:prstGeom prst="rect">
            <a:avLst/>
          </a:prstGeom>
          <a:solidFill>
            <a:srgbClr val="0F243B"/>
          </a:solidFill>
          <a:ln/>
          <a:effectLst>
            <a:outerShdw sx="100000" sy="100000" kx="0" ky="0" algn="bl" rotWithShape="0" blurRad="101600" dist="38100" dir="8100000">
              <a:srgbClr val="000000">
                <a:alpha val="12000"/>
              </a:srgbClr>
            </a:outerShdw>
          </a:effectLst>
        </p:spPr>
      </p:sp>
      <p:sp>
        <p:nvSpPr>
          <p:cNvPr id="10" name="Shape 8"/>
          <p:cNvSpPr/>
          <p:nvPr/>
        </p:nvSpPr>
        <p:spPr>
          <a:xfrm>
            <a:off x="4709160" y="1325880"/>
            <a:ext cx="502920" cy="1508760"/>
          </a:xfrm>
          <a:prstGeom prst="rect">
            <a:avLst/>
          </a:prstGeom>
          <a:solidFill>
            <a:srgbClr val="065A82"/>
          </a:solidFill>
          <a:ln/>
        </p:spPr>
      </p:sp>
      <p:sp>
        <p:nvSpPr>
          <p:cNvPr id="11" name="Text 9"/>
          <p:cNvSpPr/>
          <p:nvPr/>
        </p:nvSpPr>
        <p:spPr>
          <a:xfrm>
            <a:off x="4709160"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2" name="Text 10"/>
          <p:cNvSpPr/>
          <p:nvPr/>
        </p:nvSpPr>
        <p:spPr>
          <a:xfrm>
            <a:off x="5303520" y="1399032"/>
            <a:ext cx="3383280" cy="41148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Experimental Design</a:t>
            </a:r>
            <a:endParaRPr lang="en-US" sz="1300" dirty="0"/>
          </a:p>
        </p:txBody>
      </p:sp>
      <p:sp>
        <p:nvSpPr>
          <p:cNvPr id="13" name="Text 11"/>
          <p:cNvSpPr/>
          <p:nvPr/>
        </p:nvSpPr>
        <p:spPr>
          <a:xfrm>
            <a:off x="5303520" y="1856232"/>
            <a:ext cx="3383280" cy="896112"/>
          </a:xfrm>
          <a:prstGeom prst="rect">
            <a:avLst/>
          </a:prstGeom>
          <a:noFill/>
          <a:ln/>
        </p:spPr>
        <p:txBody>
          <a:bodyPr wrap="square" lIns="0" tIns="0" rIns="0" bIns="0" rtlCol="0" anchor="ctr"/>
          <a:lstStyle/>
          <a:p>
            <a:pPr indent="0" marL="0">
              <a:buNone/>
            </a:pPr>
            <a:r>
              <a:rPr lang="en-US" sz="1100" dirty="0">
                <a:solidFill>
                  <a:srgbClr val="C0D0DC"/>
                </a:solidFill>
                <a:latin typeface="Calibri" pitchFamily="34" charset="0"/>
                <a:ea typeface="Calibri" pitchFamily="34" charset="-122"/>
                <a:cs typeface="Calibri" pitchFamily="34" charset="-120"/>
              </a:rPr>
              <a:t>Each scenario isolates a single variable: (S1) correct configuration baseline; (S2) CA availability loss with TTL expiry; (S3) sidecar suppression with direct HTTP access. All other variables held constant across scenarios.</a:t>
            </a:r>
            <a:endParaRPr lang="en-US" sz="1100" dirty="0"/>
          </a:p>
        </p:txBody>
      </p:sp>
      <p:sp>
        <p:nvSpPr>
          <p:cNvPr id="14" name="Shape 12"/>
          <p:cNvSpPr/>
          <p:nvPr/>
        </p:nvSpPr>
        <p:spPr>
          <a:xfrm>
            <a:off x="320040" y="3063240"/>
            <a:ext cx="4114800" cy="1508760"/>
          </a:xfrm>
          <a:prstGeom prst="rect">
            <a:avLst/>
          </a:prstGeom>
          <a:solidFill>
            <a:srgbClr val="0F243B"/>
          </a:solidFill>
          <a:ln/>
          <a:effectLst>
            <a:outerShdw sx="100000" sy="100000" kx="0" ky="0" algn="bl" rotWithShape="0" blurRad="101600" dist="38100" dir="8100000">
              <a:srgbClr val="000000">
                <a:alpha val="12000"/>
              </a:srgbClr>
            </a:outerShdw>
          </a:effectLst>
        </p:spPr>
      </p:sp>
      <p:sp>
        <p:nvSpPr>
          <p:cNvPr id="15" name="Shape 13"/>
          <p:cNvSpPr/>
          <p:nvPr/>
        </p:nvSpPr>
        <p:spPr>
          <a:xfrm>
            <a:off x="320040" y="3063240"/>
            <a:ext cx="502920" cy="1508760"/>
          </a:xfrm>
          <a:prstGeom prst="rect">
            <a:avLst/>
          </a:prstGeom>
          <a:solidFill>
            <a:srgbClr val="1C7293"/>
          </a:solidFill>
          <a:ln/>
        </p:spPr>
      </p:sp>
      <p:sp>
        <p:nvSpPr>
          <p:cNvPr id="16" name="Text 14"/>
          <p:cNvSpPr/>
          <p:nvPr/>
        </p:nvSpPr>
        <p:spPr>
          <a:xfrm>
            <a:off x="320040" y="35661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17" name="Text 15"/>
          <p:cNvSpPr/>
          <p:nvPr/>
        </p:nvSpPr>
        <p:spPr>
          <a:xfrm>
            <a:off x="914400" y="3136392"/>
            <a:ext cx="3383280" cy="41148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Observables</a:t>
            </a:r>
            <a:endParaRPr lang="en-US" sz="1300" dirty="0"/>
          </a:p>
        </p:txBody>
      </p:sp>
      <p:sp>
        <p:nvSpPr>
          <p:cNvPr id="18" name="Text 16"/>
          <p:cNvSpPr/>
          <p:nvPr/>
        </p:nvSpPr>
        <p:spPr>
          <a:xfrm>
            <a:off x="914400" y="3593592"/>
            <a:ext cx="3383280" cy="896112"/>
          </a:xfrm>
          <a:prstGeom prst="rect">
            <a:avLst/>
          </a:prstGeom>
          <a:noFill/>
          <a:ln/>
        </p:spPr>
        <p:txBody>
          <a:bodyPr wrap="square" lIns="0" tIns="0" rIns="0" bIns="0" rtlCol="0" anchor="ctr"/>
          <a:lstStyle/>
          <a:p>
            <a:pPr indent="0" marL="0">
              <a:buNone/>
            </a:pPr>
            <a:r>
              <a:rPr lang="en-US" sz="1100" dirty="0">
                <a:solidFill>
                  <a:srgbClr val="C0D0DC"/>
                </a:solidFill>
                <a:latin typeface="Calibri" pitchFamily="34" charset="0"/>
                <a:ea typeface="Calibri" pitchFamily="34" charset="-122"/>
                <a:cs typeface="Calibri" pitchFamily="34" charset="-120"/>
              </a:rPr>
              <a:t>Primary observable: caller_identity field in Service B access log. Secondary: HTTP status code, SVID TTL countdown, dashboard status indicator. Key finding: S3 bypass produces HTTP 200 with null identity — status code alone is insufficient for security auditing.</a:t>
            </a:r>
            <a:endParaRPr lang="en-US" sz="1100" dirty="0"/>
          </a:p>
        </p:txBody>
      </p:sp>
      <p:sp>
        <p:nvSpPr>
          <p:cNvPr id="19" name="Shape 17"/>
          <p:cNvSpPr/>
          <p:nvPr/>
        </p:nvSpPr>
        <p:spPr>
          <a:xfrm>
            <a:off x="4709160" y="3063240"/>
            <a:ext cx="4114800" cy="1508760"/>
          </a:xfrm>
          <a:prstGeom prst="rect">
            <a:avLst/>
          </a:prstGeom>
          <a:solidFill>
            <a:srgbClr val="0F243B"/>
          </a:solidFill>
          <a:ln/>
          <a:effectLst>
            <a:outerShdw sx="100000" sy="100000" kx="0" ky="0" algn="bl" rotWithShape="0" blurRad="101600" dist="38100" dir="8100000">
              <a:srgbClr val="000000">
                <a:alpha val="12000"/>
              </a:srgbClr>
            </a:outerShdw>
          </a:effectLst>
        </p:spPr>
      </p:sp>
      <p:sp>
        <p:nvSpPr>
          <p:cNvPr id="20" name="Shape 18"/>
          <p:cNvSpPr/>
          <p:nvPr/>
        </p:nvSpPr>
        <p:spPr>
          <a:xfrm>
            <a:off x="4709160" y="3063240"/>
            <a:ext cx="502920" cy="1508760"/>
          </a:xfrm>
          <a:prstGeom prst="rect">
            <a:avLst/>
          </a:prstGeom>
          <a:solidFill>
            <a:srgbClr val="0D9488"/>
          </a:solidFill>
          <a:ln/>
        </p:spPr>
      </p:sp>
      <p:sp>
        <p:nvSpPr>
          <p:cNvPr id="21" name="Text 19"/>
          <p:cNvSpPr/>
          <p:nvPr/>
        </p:nvSpPr>
        <p:spPr>
          <a:xfrm>
            <a:off x="4709160" y="35661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22" name="Text 20"/>
          <p:cNvSpPr/>
          <p:nvPr/>
        </p:nvSpPr>
        <p:spPr>
          <a:xfrm>
            <a:off x="5303520" y="3136392"/>
            <a:ext cx="3383280" cy="41148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Limitations</a:t>
            </a:r>
            <a:endParaRPr lang="en-US" sz="1300" dirty="0"/>
          </a:p>
        </p:txBody>
      </p:sp>
      <p:sp>
        <p:nvSpPr>
          <p:cNvPr id="23" name="Text 21"/>
          <p:cNvSpPr/>
          <p:nvPr/>
        </p:nvSpPr>
        <p:spPr>
          <a:xfrm>
            <a:off x="5303520" y="3593592"/>
            <a:ext cx="3383280" cy="896112"/>
          </a:xfrm>
          <a:prstGeom prst="rect">
            <a:avLst/>
          </a:prstGeom>
          <a:noFill/>
          <a:ln/>
        </p:spPr>
        <p:txBody>
          <a:bodyPr wrap="square" lIns="0" tIns="0" rIns="0" bIns="0" rtlCol="0" anchor="ctr"/>
          <a:lstStyle/>
          <a:p>
            <a:pPr indent="0" marL="0">
              <a:buNone/>
            </a:pPr>
            <a:r>
              <a:rPr lang="en-US" sz="1100" dirty="0">
                <a:solidFill>
                  <a:srgbClr val="C0D0DC"/>
                </a:solidFill>
                <a:latin typeface="Calibri" pitchFamily="34" charset="0"/>
                <a:ea typeface="Calibri" pitchFamily="34" charset="-122"/>
                <a:cs typeface="Calibri" pitchFamily="34" charset="-120"/>
              </a:rPr>
              <a:t>Simulation uses a simplified CA (no HSM, no HA). Trust domain misconfiguration is modeled as correct-domain vs. no-domain, not cross-domain confusion. Results are indicative, not production-scale. Extension to multi-node SPIRE cluster is a stated future direction.</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bg>
      <p:bgPr>
        <a:solidFill>
          <a:srgbClr val="0B1E3F"/>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NIST SP 800-207A: Gap Analysis</a:t>
            </a:r>
            <a:endParaRPr lang="en-US" sz="3000" dirty="0"/>
          </a:p>
        </p:txBody>
      </p:sp>
      <p:sp>
        <p:nvSpPr>
          <p:cNvPr id="3" name="Text 1"/>
          <p:cNvSpPr/>
          <p:nvPr/>
        </p:nvSpPr>
        <p:spPr>
          <a:xfrm>
            <a:off x="457200" y="713232"/>
            <a:ext cx="8229600" cy="365760"/>
          </a:xfrm>
          <a:prstGeom prst="rect">
            <a:avLst/>
          </a:prstGeom>
          <a:noFill/>
          <a:ln/>
        </p:spPr>
        <p:txBody>
          <a:bodyPr wrap="square" lIns="0" tIns="0" rIns="0" bIns="0" rtlCol="0" anchor="ctr"/>
          <a:lstStyle/>
          <a:p>
            <a:pPr indent="0" marL="0">
              <a:buNone/>
            </a:pPr>
            <a:r>
              <a:rPr lang="en-US" sz="1600" i="1" dirty="0">
                <a:solidFill>
                  <a:srgbClr val="D4A017"/>
                </a:solidFill>
                <a:latin typeface="Calibri" pitchFamily="34" charset="0"/>
                <a:ea typeface="Calibri" pitchFamily="34" charset="-122"/>
                <a:cs typeface="Calibri" pitchFamily="34" charset="-120"/>
              </a:rPr>
              <a:t>What the Standard Mandates vs. What It Leaves Unspecified</a:t>
            </a:r>
            <a:endParaRPr lang="en-US" sz="1600" dirty="0"/>
          </a:p>
        </p:txBody>
      </p:sp>
      <p:sp>
        <p:nvSpPr>
          <p:cNvPr id="4" name="Shape 2"/>
          <p:cNvSpPr/>
          <p:nvPr/>
        </p:nvSpPr>
        <p:spPr>
          <a:xfrm>
            <a:off x="320040" y="1325880"/>
            <a:ext cx="4114800" cy="1508760"/>
          </a:xfrm>
          <a:prstGeom prst="rect">
            <a:avLst/>
          </a:prstGeom>
          <a:solidFill>
            <a:srgbClr val="0F243B"/>
          </a:solidFill>
          <a:ln/>
          <a:effectLst>
            <a:outerShdw sx="100000" sy="100000" kx="0" ky="0" algn="bl" rotWithShape="0" blurRad="101600" dist="38100" dir="8100000">
              <a:srgbClr val="000000">
                <a:alpha val="12000"/>
              </a:srgbClr>
            </a:outerShdw>
          </a:effectLst>
        </p:spPr>
      </p:sp>
      <p:sp>
        <p:nvSpPr>
          <p:cNvPr id="5" name="Shape 3"/>
          <p:cNvSpPr/>
          <p:nvPr/>
        </p:nvSpPr>
        <p:spPr>
          <a:xfrm>
            <a:off x="320040" y="1325880"/>
            <a:ext cx="502920" cy="1508760"/>
          </a:xfrm>
          <a:prstGeom prst="rect">
            <a:avLst/>
          </a:prstGeom>
          <a:solidFill>
            <a:srgbClr val="21295C"/>
          </a:solidFill>
          <a:ln/>
        </p:spPr>
      </p:sp>
      <p:sp>
        <p:nvSpPr>
          <p:cNvPr id="6" name="Text 4"/>
          <p:cNvSpPr/>
          <p:nvPr/>
        </p:nvSpPr>
        <p:spPr>
          <a:xfrm>
            <a:off x="320040"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7" name="Text 5"/>
          <p:cNvSpPr/>
          <p:nvPr/>
        </p:nvSpPr>
        <p:spPr>
          <a:xfrm>
            <a:off x="914400" y="1399032"/>
            <a:ext cx="3383280" cy="41148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What 800-207A specifies</a:t>
            </a:r>
            <a:endParaRPr lang="en-US" sz="1300" dirty="0"/>
          </a:p>
        </p:txBody>
      </p:sp>
      <p:sp>
        <p:nvSpPr>
          <p:cNvPr id="8" name="Text 6"/>
          <p:cNvSpPr/>
          <p:nvPr/>
        </p:nvSpPr>
        <p:spPr>
          <a:xfrm>
            <a:off x="914400" y="1856232"/>
            <a:ext cx="3383280" cy="896112"/>
          </a:xfrm>
          <a:prstGeom prst="rect">
            <a:avLst/>
          </a:prstGeom>
          <a:noFill/>
          <a:ln/>
        </p:spPr>
        <p:txBody>
          <a:bodyPr wrap="square" lIns="0" tIns="0" rIns="0" bIns="0" rtlCol="0" anchor="ctr"/>
          <a:lstStyle/>
          <a:p>
            <a:pPr indent="0" marL="0">
              <a:buNone/>
            </a:pPr>
            <a:r>
              <a:rPr lang="en-US" sz="1100" dirty="0">
                <a:solidFill>
                  <a:srgbClr val="C0D0DC"/>
                </a:solidFill>
                <a:latin typeface="Calibri" pitchFamily="34" charset="0"/>
                <a:ea typeface="Calibri" pitchFamily="34" charset="-122"/>
                <a:cs typeface="Calibri" pitchFamily="34" charset="-120"/>
              </a:rPr>
              <a:t>Section 4.2: Workloads MUST be issued SVIDs. Section 4.3: SVIDs MUST embed the SPIFFE ID in the SAN URI. Section 5.1: Trust bundles MUST be exchanged via authenticated bundle endpoints. Cryptographic requirements are precise and normative.</a:t>
            </a:r>
            <a:endParaRPr lang="en-US" sz="1100" dirty="0"/>
          </a:p>
        </p:txBody>
      </p:sp>
      <p:sp>
        <p:nvSpPr>
          <p:cNvPr id="9" name="Shape 7"/>
          <p:cNvSpPr/>
          <p:nvPr/>
        </p:nvSpPr>
        <p:spPr>
          <a:xfrm>
            <a:off x="4709160" y="1325880"/>
            <a:ext cx="4114800" cy="1508760"/>
          </a:xfrm>
          <a:prstGeom prst="rect">
            <a:avLst/>
          </a:prstGeom>
          <a:solidFill>
            <a:srgbClr val="0F243B"/>
          </a:solidFill>
          <a:ln/>
          <a:effectLst>
            <a:outerShdw sx="100000" sy="100000" kx="0" ky="0" algn="bl" rotWithShape="0" blurRad="101600" dist="38100" dir="8100000">
              <a:srgbClr val="000000">
                <a:alpha val="12000"/>
              </a:srgbClr>
            </a:outerShdw>
          </a:effectLst>
        </p:spPr>
      </p:sp>
      <p:sp>
        <p:nvSpPr>
          <p:cNvPr id="10" name="Shape 8"/>
          <p:cNvSpPr/>
          <p:nvPr/>
        </p:nvSpPr>
        <p:spPr>
          <a:xfrm>
            <a:off x="4709160" y="1325880"/>
            <a:ext cx="502920" cy="1508760"/>
          </a:xfrm>
          <a:prstGeom prst="rect">
            <a:avLst/>
          </a:prstGeom>
          <a:solidFill>
            <a:srgbClr val="065A82"/>
          </a:solidFill>
          <a:ln/>
        </p:spPr>
      </p:sp>
      <p:sp>
        <p:nvSpPr>
          <p:cNvPr id="11" name="Text 9"/>
          <p:cNvSpPr/>
          <p:nvPr/>
        </p:nvSpPr>
        <p:spPr>
          <a:xfrm>
            <a:off x="4709160"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2" name="Text 10"/>
          <p:cNvSpPr/>
          <p:nvPr/>
        </p:nvSpPr>
        <p:spPr>
          <a:xfrm>
            <a:off x="5303520" y="1399032"/>
            <a:ext cx="3383280" cy="41148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What 800-207A does NOT specify</a:t>
            </a:r>
            <a:endParaRPr lang="en-US" sz="1300" dirty="0"/>
          </a:p>
        </p:txBody>
      </p:sp>
      <p:sp>
        <p:nvSpPr>
          <p:cNvPr id="13" name="Text 11"/>
          <p:cNvSpPr/>
          <p:nvPr/>
        </p:nvSpPr>
        <p:spPr>
          <a:xfrm>
            <a:off x="5303520" y="1856232"/>
            <a:ext cx="3383280" cy="896112"/>
          </a:xfrm>
          <a:prstGeom prst="rect">
            <a:avLst/>
          </a:prstGeom>
          <a:noFill/>
          <a:ln/>
        </p:spPr>
        <p:txBody>
          <a:bodyPr wrap="square" lIns="0" tIns="0" rIns="0" bIns="0" rtlCol="0" anchor="ctr"/>
          <a:lstStyle/>
          <a:p>
            <a:pPr indent="0" marL="0">
              <a:buNone/>
            </a:pPr>
            <a:r>
              <a:rPr lang="en-US" sz="1100" dirty="0">
                <a:solidFill>
                  <a:srgbClr val="C0D0DC"/>
                </a:solidFill>
                <a:latin typeface="Calibri" pitchFamily="34" charset="0"/>
                <a:ea typeface="Calibri" pitchFamily="34" charset="-122"/>
                <a:cs typeface="Calibri" pitchFamily="34" charset="-120"/>
              </a:rPr>
              <a:t>No normative guidance on: trust domain naming conventions (format, uniqueness scope, environment segregation). No requirement for CI-layer validation of registration entry YAMLs. No alerting requirement for bundle endpoint connectivity loss. No definition of 'correct' vs 'incorrect' trust domain assignment.</a:t>
            </a:r>
            <a:endParaRPr lang="en-US" sz="1100" dirty="0"/>
          </a:p>
        </p:txBody>
      </p:sp>
      <p:sp>
        <p:nvSpPr>
          <p:cNvPr id="14" name="Shape 12"/>
          <p:cNvSpPr/>
          <p:nvPr/>
        </p:nvSpPr>
        <p:spPr>
          <a:xfrm>
            <a:off x="320040" y="3063240"/>
            <a:ext cx="4114800" cy="1508760"/>
          </a:xfrm>
          <a:prstGeom prst="rect">
            <a:avLst/>
          </a:prstGeom>
          <a:solidFill>
            <a:srgbClr val="0F243B"/>
          </a:solidFill>
          <a:ln/>
          <a:effectLst>
            <a:outerShdw sx="100000" sy="100000" kx="0" ky="0" algn="bl" rotWithShape="0" blurRad="101600" dist="38100" dir="8100000">
              <a:srgbClr val="000000">
                <a:alpha val="12000"/>
              </a:srgbClr>
            </a:outerShdw>
          </a:effectLst>
        </p:spPr>
      </p:sp>
      <p:sp>
        <p:nvSpPr>
          <p:cNvPr id="15" name="Shape 13"/>
          <p:cNvSpPr/>
          <p:nvPr/>
        </p:nvSpPr>
        <p:spPr>
          <a:xfrm>
            <a:off x="320040" y="3063240"/>
            <a:ext cx="502920" cy="1508760"/>
          </a:xfrm>
          <a:prstGeom prst="rect">
            <a:avLst/>
          </a:prstGeom>
          <a:solidFill>
            <a:srgbClr val="1C7293"/>
          </a:solidFill>
          <a:ln/>
        </p:spPr>
      </p:sp>
      <p:sp>
        <p:nvSpPr>
          <p:cNvPr id="16" name="Text 14"/>
          <p:cNvSpPr/>
          <p:nvPr/>
        </p:nvSpPr>
        <p:spPr>
          <a:xfrm>
            <a:off x="320040" y="35661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17" name="Text 15"/>
          <p:cNvSpPr/>
          <p:nvPr/>
        </p:nvSpPr>
        <p:spPr>
          <a:xfrm>
            <a:off x="914400" y="3136392"/>
            <a:ext cx="3383280" cy="41148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The gap in plain terms</a:t>
            </a:r>
            <a:endParaRPr lang="en-US" sz="1300" dirty="0"/>
          </a:p>
        </p:txBody>
      </p:sp>
      <p:sp>
        <p:nvSpPr>
          <p:cNvPr id="18" name="Text 16"/>
          <p:cNvSpPr/>
          <p:nvPr/>
        </p:nvSpPr>
        <p:spPr>
          <a:xfrm>
            <a:off x="914400" y="3593592"/>
            <a:ext cx="3383280" cy="896112"/>
          </a:xfrm>
          <a:prstGeom prst="rect">
            <a:avLst/>
          </a:prstGeom>
          <a:noFill/>
          <a:ln/>
        </p:spPr>
        <p:txBody>
          <a:bodyPr wrap="square" lIns="0" tIns="0" rIns="0" bIns="0" rtlCol="0" anchor="ctr"/>
          <a:lstStyle/>
          <a:p>
            <a:pPr indent="0" marL="0">
              <a:buNone/>
            </a:pPr>
            <a:r>
              <a:rPr lang="en-US" sz="1100" dirty="0">
                <a:solidFill>
                  <a:srgbClr val="C0D0DC"/>
                </a:solidFill>
                <a:latin typeface="Calibri" pitchFamily="34" charset="0"/>
                <a:ea typeface="Calibri" pitchFamily="34" charset="-122"/>
                <a:cs typeface="Calibri" pitchFamily="34" charset="-120"/>
              </a:rPr>
              <a:t>800-207A tells you a workload must have a SPIFFE ID. It does not tell you how to verify that workload has the RIGHT SPIFFE ID for its deployment context. An operator can comply with every MUST in the standard and still deploy a critically misconfigured trust domain.</a:t>
            </a:r>
            <a:endParaRPr lang="en-US" sz="1100" dirty="0"/>
          </a:p>
        </p:txBody>
      </p:sp>
      <p:sp>
        <p:nvSpPr>
          <p:cNvPr id="19" name="Shape 17"/>
          <p:cNvSpPr/>
          <p:nvPr/>
        </p:nvSpPr>
        <p:spPr>
          <a:xfrm>
            <a:off x="4709160" y="3063240"/>
            <a:ext cx="4114800" cy="1508760"/>
          </a:xfrm>
          <a:prstGeom prst="rect">
            <a:avLst/>
          </a:prstGeom>
          <a:solidFill>
            <a:srgbClr val="0F243B"/>
          </a:solidFill>
          <a:ln/>
          <a:effectLst>
            <a:outerShdw sx="100000" sy="100000" kx="0" ky="0" algn="bl" rotWithShape="0" blurRad="101600" dist="38100" dir="8100000">
              <a:srgbClr val="000000">
                <a:alpha val="12000"/>
              </a:srgbClr>
            </a:outerShdw>
          </a:effectLst>
        </p:spPr>
      </p:sp>
      <p:sp>
        <p:nvSpPr>
          <p:cNvPr id="20" name="Shape 18"/>
          <p:cNvSpPr/>
          <p:nvPr/>
        </p:nvSpPr>
        <p:spPr>
          <a:xfrm>
            <a:off x="4709160" y="3063240"/>
            <a:ext cx="502920" cy="1508760"/>
          </a:xfrm>
          <a:prstGeom prst="rect">
            <a:avLst/>
          </a:prstGeom>
          <a:solidFill>
            <a:srgbClr val="0D9488"/>
          </a:solidFill>
          <a:ln/>
        </p:spPr>
      </p:sp>
      <p:sp>
        <p:nvSpPr>
          <p:cNvPr id="21" name="Text 19"/>
          <p:cNvSpPr/>
          <p:nvPr/>
        </p:nvSpPr>
        <p:spPr>
          <a:xfrm>
            <a:off x="4709160" y="35661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22" name="Text 20"/>
          <p:cNvSpPr/>
          <p:nvPr/>
        </p:nvSpPr>
        <p:spPr>
          <a:xfrm>
            <a:off x="5303520" y="3136392"/>
            <a:ext cx="3383280" cy="41148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Proposed standard extension</a:t>
            </a:r>
            <a:endParaRPr lang="en-US" sz="1300" dirty="0"/>
          </a:p>
        </p:txBody>
      </p:sp>
      <p:sp>
        <p:nvSpPr>
          <p:cNvPr id="23" name="Text 21"/>
          <p:cNvSpPr/>
          <p:nvPr/>
        </p:nvSpPr>
        <p:spPr>
          <a:xfrm>
            <a:off x="5303520" y="3593592"/>
            <a:ext cx="3383280" cy="896112"/>
          </a:xfrm>
          <a:prstGeom prst="rect">
            <a:avLst/>
          </a:prstGeom>
          <a:noFill/>
          <a:ln/>
        </p:spPr>
        <p:txBody>
          <a:bodyPr wrap="square" lIns="0" tIns="0" rIns="0" bIns="0" rtlCol="0" anchor="ctr"/>
          <a:lstStyle/>
          <a:p>
            <a:pPr indent="0" marL="0">
              <a:buNone/>
            </a:pPr>
            <a:r>
              <a:rPr lang="en-US" sz="1100" dirty="0">
                <a:solidFill>
                  <a:srgbClr val="C0D0DC"/>
                </a:solidFill>
                <a:latin typeface="Calibri" pitchFamily="34" charset="0"/>
                <a:ea typeface="Calibri" pitchFamily="34" charset="-122"/>
                <a:cs typeface="Calibri" pitchFamily="34" charset="-120"/>
              </a:rPr>
              <a:t>Future revision of 800-207A should add: (1) SHOULD-level requirement for trust domain naming conventions; (2) SHOULD-level requirement for CI lint of registration entries pre-deployment; (3) MUST-level alerting on bundle endpoint connectivity loss before SVID TTL expiry. These are operationally achievable and address the identified gap.</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 Trust Beyond BeyondCorp</dc:title>
  <dc:subject>PptxGenJS Presentation</dc:subject>
  <dc:creator>Master's Presentation</dc:creator>
  <cp:lastModifiedBy>Master's Presentation</cp:lastModifiedBy>
  <cp:revision>1</cp:revision>
  <dcterms:created xsi:type="dcterms:W3CDTF">2026-05-15T20:06:55Z</dcterms:created>
  <dcterms:modified xsi:type="dcterms:W3CDTF">2026-05-15T20:06:56Z</dcterms:modified>
</cp:coreProperties>
</file>